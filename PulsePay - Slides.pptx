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svg" ContentType="image/svg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theme/theme2.xml" ContentType="application/vnd.openxmlformats-officedocument.them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f540f95e26f4c3c" /><Relationship Type="http://schemas.openxmlformats.org/officeDocument/2006/relationships/extended-properties" Target="/docProps/app.xml" Id="R8fc3562463c14a02" /><Relationship Type="http://schemas.openxmlformats.org/officeDocument/2006/relationships/officeDocument" Target="/ppt/presentation.xml" Id="Red663a5cccbb4a9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aeb46683fec74ee3"/>
  </p:sldMasterIdLst>
  <p:notesMasterIdLst>
    <p:notesMasterId xmlns:r="http://schemas.openxmlformats.org/officeDocument/2006/relationships" r:id="R510dab2e10d14b66"/>
  </p:notesMasterIdLst>
  <p:sldIdLst>
    <p:sldId xmlns:r="http://schemas.openxmlformats.org/officeDocument/2006/relationships" id="256" r:id="Re0b813df7cee415c"/>
    <p:sldId xmlns:r="http://schemas.openxmlformats.org/officeDocument/2006/relationships" id="257" r:id="R43afc74eae1146fa"/>
    <p:sldId xmlns:r="http://schemas.openxmlformats.org/officeDocument/2006/relationships" id="258" r:id="Re905df70f8d642a3"/>
    <p:sldId xmlns:r="http://schemas.openxmlformats.org/officeDocument/2006/relationships" id="259" r:id="Rce1714c07bf84bbd"/>
    <p:sldId xmlns:r="http://schemas.openxmlformats.org/officeDocument/2006/relationships" id="260" r:id="R7a65d97c1f694977"/>
    <p:sldId xmlns:r="http://schemas.openxmlformats.org/officeDocument/2006/relationships" id="261" r:id="R4ff704438a9b48fe"/>
    <p:sldId xmlns:r="http://schemas.openxmlformats.org/officeDocument/2006/relationships" id="262" r:id="Re3af1dc377514eb3"/>
    <p:sldId xmlns:r="http://schemas.openxmlformats.org/officeDocument/2006/relationships" id="263" r:id="R330a0bd16dc24b66"/>
    <p:sldId xmlns:r="http://schemas.openxmlformats.org/officeDocument/2006/relationships" id="264" r:id="R3a76599f386647b0"/>
    <p:sldId xmlns:r="http://schemas.openxmlformats.org/officeDocument/2006/relationships" id="265" r:id="Ra5ce9432462a4113"/>
    <p:sldId xmlns:r="http://schemas.openxmlformats.org/officeDocument/2006/relationships" id="266" r:id="R5f414170326248c8"/>
    <p:sldId xmlns:r="http://schemas.openxmlformats.org/officeDocument/2006/relationships" id="267" r:id="R0391254ba4b24b52"/>
    <p:sldId xmlns:r="http://schemas.openxmlformats.org/officeDocument/2006/relationships" id="268" r:id="R85aff30ed3a8456b"/>
    <p:sldId xmlns:r="http://schemas.openxmlformats.org/officeDocument/2006/relationships" id="269" r:id="Ra61c5fce26104f32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cc1f8565794440" /><Relationship Type="http://schemas.openxmlformats.org/officeDocument/2006/relationships/slideMaster" Target="/ppt/slideMasters/slideMaster1.xml" Id="Raeb46683fec74ee3" /><Relationship Type="http://schemas.openxmlformats.org/officeDocument/2006/relationships/notesMaster" Target="/ppt/notesMasters/notesMaster1.xml" Id="R510dab2e10d14b66" /><Relationship Type="http://schemas.openxmlformats.org/officeDocument/2006/relationships/presProps" Target="/ppt/presProps.xml" Id="R86741fd72e79435b" /><Relationship Type="http://schemas.openxmlformats.org/officeDocument/2006/relationships/viewProps" Target="/ppt/viewProps.xml" Id="R31c125ea89bf4e18" /><Relationship Type="http://schemas.openxmlformats.org/officeDocument/2006/relationships/tableStyles" Target="/ppt/tableStyles.xml" Id="R9860a68ce48145a9" /><Relationship Type="http://schemas.openxmlformats.org/officeDocument/2006/relationships/slide" Target="/ppt/slides/slide1.xml" Id="Re0b813df7cee415c" /><Relationship Type="http://schemas.openxmlformats.org/officeDocument/2006/relationships/slide" Target="/ppt/slides/slide2.xml" Id="R43afc74eae1146fa" /><Relationship Type="http://schemas.openxmlformats.org/officeDocument/2006/relationships/slide" Target="/ppt/slides/slide3.xml" Id="Re905df70f8d642a3" /><Relationship Type="http://schemas.openxmlformats.org/officeDocument/2006/relationships/slide" Target="/ppt/slides/slide4.xml" Id="Rce1714c07bf84bbd" /><Relationship Type="http://schemas.openxmlformats.org/officeDocument/2006/relationships/slide" Target="/ppt/slides/slide5.xml" Id="R7a65d97c1f694977" /><Relationship Type="http://schemas.openxmlformats.org/officeDocument/2006/relationships/slide" Target="/ppt/slides/slide6.xml" Id="R4ff704438a9b48fe" /><Relationship Type="http://schemas.openxmlformats.org/officeDocument/2006/relationships/slide" Target="/ppt/slides/slide7.xml" Id="Re3af1dc377514eb3" /><Relationship Type="http://schemas.openxmlformats.org/officeDocument/2006/relationships/slide" Target="/ppt/slides/slide8.xml" Id="R330a0bd16dc24b66" /><Relationship Type="http://schemas.openxmlformats.org/officeDocument/2006/relationships/slide" Target="/ppt/slides/slide9.xml" Id="R3a76599f386647b0" /><Relationship Type="http://schemas.openxmlformats.org/officeDocument/2006/relationships/slide" Target="/ppt/slides/slide10.xml" Id="Ra5ce9432462a4113" /><Relationship Type="http://schemas.openxmlformats.org/officeDocument/2006/relationships/slide" Target="/ppt/slides/slide11.xml" Id="R5f414170326248c8" /><Relationship Type="http://schemas.openxmlformats.org/officeDocument/2006/relationships/slide" Target="/ppt/slides/slide12.xml" Id="R0391254ba4b24b52" /><Relationship Type="http://schemas.openxmlformats.org/officeDocument/2006/relationships/slide" Target="/ppt/slides/slide13.xml" Id="R85aff30ed3a8456b" /><Relationship Type="http://schemas.openxmlformats.org/officeDocument/2006/relationships/slide" Target="/ppt/slides/slide14.xml" Id="Ra61c5fce26104f3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5c73e879bbc488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717f0dff74b4898" /><Relationship Type="http://schemas.openxmlformats.org/officeDocument/2006/relationships/notesMaster" Target="/ppt/notesMasters/notesMaster1.xml" Id="R92e0a0bb10ad4a9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4d51641a0e5482d" /><Relationship Type="http://schemas.openxmlformats.org/officeDocument/2006/relationships/notesMaster" Target="/ppt/notesMasters/notesMaster1.xml" Id="R6a60889cb37f42b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b7e4d5f6aee4111" /><Relationship Type="http://schemas.openxmlformats.org/officeDocument/2006/relationships/notesMaster" Target="/ppt/notesMasters/notesMaster1.xml" Id="Rd229241df9a0416f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77aacd49a9742c1" /><Relationship Type="http://schemas.openxmlformats.org/officeDocument/2006/relationships/notesMaster" Target="/ppt/notesMasters/notesMaster1.xml" Id="R9c1783549a994e9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bcd25ed4cf34df4" /><Relationship Type="http://schemas.openxmlformats.org/officeDocument/2006/relationships/notesMaster" Target="/ppt/notesMasters/notesMaster1.xml" Id="R4896aa593f544113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228b391991244af" /><Relationship Type="http://schemas.openxmlformats.org/officeDocument/2006/relationships/notesMaster" Target="/ppt/notesMasters/notesMaster1.xml" Id="Rf041ba3e6aeb4b8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1b9389366eb4127" /><Relationship Type="http://schemas.openxmlformats.org/officeDocument/2006/relationships/notesMaster" Target="/ppt/notesMasters/notesMaster1.xml" Id="R6eb4d0c772374a7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1fa702a94bb4b95" /><Relationship Type="http://schemas.openxmlformats.org/officeDocument/2006/relationships/notesMaster" Target="/ppt/notesMasters/notesMaster1.xml" Id="Rbaaf35653b50428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4277b70b9064405" /><Relationship Type="http://schemas.openxmlformats.org/officeDocument/2006/relationships/notesMaster" Target="/ppt/notesMasters/notesMaster1.xml" Id="Rc5720fa0a48e425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95f9f0c8843c4726" /><Relationship Type="http://schemas.openxmlformats.org/officeDocument/2006/relationships/notesMaster" Target="/ppt/notesMasters/notesMaster1.xml" Id="Rd0073cc7580144f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cc233ea282184bf6" /><Relationship Type="http://schemas.openxmlformats.org/officeDocument/2006/relationships/notesMaster" Target="/ppt/notesMasters/notesMaster1.xml" Id="R84eb68a1b719430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24afe863a3314355" /><Relationship Type="http://schemas.openxmlformats.org/officeDocument/2006/relationships/notesMaster" Target="/ppt/notesMasters/notesMaster1.xml" Id="Rdfa25d5db7d24c78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d76b28b3712f4bf9" /><Relationship Type="http://schemas.openxmlformats.org/officeDocument/2006/relationships/notesMaster" Target="/ppt/notesMasters/notesMaster1.xml" Id="Re9d1e31db32345c4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54c24cb0bd944bb6" /><Relationship Type="http://schemas.openxmlformats.org/officeDocument/2006/relationships/notesMaster" Target="/ppt/notesMasters/notesMaster1.xml" Id="Rf685c0dae2bf487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Conteúdo e métricas: documento acadêmico ‘PulsePay — Pagamentos Instantâneos’, fornecido pelo usuário em 29/08/2026.</a:t>
            </a:r>
          </a:p>
          <a:p xmlns:a="http://schemas.openxmlformats.org/drawingml/2006/main">
            <a:r>
              <a:t>- Visual de capa: imagem gerada com OpenAI ImageGen para esta apresentação.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Conteúdo e métricas: documento acadêmico ‘PulsePay — Pagamentos Instantâneos’, fornecido pelo usuário em 29/08/2026.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Conteúdo e métricas: documento acadêmico ‘PulsePay — Pagamentos Instantâneos’, fornecido pelo usuário em 29/08/2026.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Conteúdo e relações arquiteturais fornecidos diretamente pelo usuário nesta tarefa.</a:t>
            </a:r>
          </a:p>
          <a:p xmlns:a="http://schemas.openxmlformats.org/drawingml/2006/main">
            <a:r>
              <a:t>- Diagrama vetorial gerado localmente com Graphviz a partir do fluxo fornecido pelo usuário.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Conteúdo e métricas: documento acadêmico ‘PulsePay — Pagamentos Instantâneos’, fornecido pelo usuário em 29/08/2026.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Conteúdo e métricas: documento acadêmico ‘PulsePay — Pagamentos Instantâneos’, fornecido pelo usuário em 29/08/2026.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Conteúdo e métricas: documento acadêmico ‘PulsePay — Pagamentos Instantâneos’, fornecido pelo usuário em 29/08/2026.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Conteúdo e métricas: documento acadêmico ‘PulsePay — Pagamentos Instantâneos’, fornecido pelo usuário em 29/08/2026.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Conteúdo e métricas: documento acadêmico ‘PulsePay — Pagamentos Instantâneos’, fornecido pelo usuário em 29/08/2026.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Conteúdo e métricas: documento acadêmico ‘PulsePay — Pagamentos Instantâneos’, fornecido pelo usuário em 29/08/2026.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Conteúdo e métricas: documento acadêmico ‘PulsePay — Pagamentos Instantâneos’, fornecido pelo usuário em 29/08/2026.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Lista de disciplinas e justificativa contextual fornecidas diretamente pelo usuário nesta tarefa.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Conteúdo e métricas: documento acadêmico ‘PulsePay — Pagamentos Instantâneos’, fornecido pelo usuário em 29/08/2026.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Conteúdo e métricas: documento acadêmico ‘PulsePay — Pagamentos Instantâneos’, fornecido pelo usuário em 29/08/2026.</a:t>
            </a:r>
          </a:p>
          <a:p xmlns:a="http://schemas.openxmlformats.org/drawingml/2006/main">
            <a:r>
              <a:t>- Visual de encerramento: imagem gerada com OpenAI ImageGen para esta apresentação.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356d5c1210b4f9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c423bb6ce104708" /><Relationship Type="http://schemas.openxmlformats.org/officeDocument/2006/relationships/slideLayout" Target="/ppt/slideLayouts/slideLayout1.xml" Id="Redda3abf1d6e4de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dda3abf1d6e4de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3f131aeef94560" /><Relationship Type="http://schemas.openxmlformats.org/officeDocument/2006/relationships/image" Target="/ppt/media/image.png" Id="Rc7506b761bd04bdd" /><Relationship Type="http://schemas.openxmlformats.org/officeDocument/2006/relationships/notesSlide" Target="/ppt/notesSlides/notesSlide1.xml" Id="R3835bf16d6794141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f3168b0a7b4b2f" /><Relationship Type="http://schemas.openxmlformats.org/officeDocument/2006/relationships/notesSlide" Target="/ppt/notesSlides/notesSlide2.xml" Id="R5783ed0d45f74f23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be4a32385d4944" /><Relationship Type="http://schemas.openxmlformats.org/officeDocument/2006/relationships/notesSlide" Target="/ppt/notesSlides/notesSlide3.xml" Id="Rb7f0363146c648a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c3adb80d7124f4e" /><Relationship Type="http://schemas.openxmlformats.org/officeDocument/2006/relationships/image" Target="/ppt/media/image.svg" Id="R624e59f0723d48d7" /><Relationship Type="http://schemas.openxmlformats.org/officeDocument/2006/relationships/image" Target="/ppt/media/image.png" Id="R5e472e17c1cf4059" /><Relationship Type="http://schemas.openxmlformats.org/officeDocument/2006/relationships/notesSlide" Target="/ppt/notesSlides/notesSlide4.xml" Id="Rf92bca6f27484ff4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89b505e69c4f78" /><Relationship Type="http://schemas.openxmlformats.org/officeDocument/2006/relationships/notesSlide" Target="/ppt/notesSlides/notesSlide5.xml" Id="Rd5d1e4614610402b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24bdd969d84d03" /><Relationship Type="http://schemas.openxmlformats.org/officeDocument/2006/relationships/notesSlide" Target="/ppt/notesSlides/notesSlide6.xml" Id="Rc4fdee61763c4ed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f1124b5bd84ccf" /><Relationship Type="http://schemas.openxmlformats.org/officeDocument/2006/relationships/notesSlide" Target="/ppt/notesSlides/notesSlide7.xml" Id="R9a000e373c45490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bd20b37e204e1a" /><Relationship Type="http://schemas.openxmlformats.org/officeDocument/2006/relationships/notesSlide" Target="/ppt/notesSlides/notesSlide8.xml" Id="R7bf0e8c076b443aa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23a22f6e164402" /><Relationship Type="http://schemas.openxmlformats.org/officeDocument/2006/relationships/notesSlide" Target="/ppt/notesSlides/notesSlide9.xml" Id="R8b481277cb1d4b87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0cc551a62524475" /><Relationship Type="http://schemas.openxmlformats.org/officeDocument/2006/relationships/notesSlide" Target="/ppt/notesSlides/notesSlide10.xml" Id="Ra66ba080a824481a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517f44a74640a3" /><Relationship Type="http://schemas.openxmlformats.org/officeDocument/2006/relationships/notesSlide" Target="/ppt/notesSlides/notesSlide11.xml" Id="R9cf274cffce543a3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86e10e865e4fda" /><Relationship Type="http://schemas.openxmlformats.org/officeDocument/2006/relationships/notesSlide" Target="/ppt/notesSlides/notesSlide12.xml" Id="R7d8e5b1dc29b445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a569126f1d4eed" /><Relationship Type="http://schemas.openxmlformats.org/officeDocument/2006/relationships/notesSlide" Target="/ppt/notesSlides/notesSlide13.xml" Id="R0e8a1d336e8b42b4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523757ada448ba" /><Relationship Type="http://schemas.openxmlformats.org/officeDocument/2006/relationships/image" Target="/ppt/media/image.png" Id="R55f83dbe978d4e37" /><Relationship Type="http://schemas.openxmlformats.org/officeDocument/2006/relationships/notesSlide" Target="/ppt/notesSlides/notesSlide14.xml" Id="R2f204537304443e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B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Imagem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7506b761bd04bd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tângulo 1">
            <a:extLst xmlns:a="http://schemas.openxmlformats.org/drawingml/2006/main">
              <a:ext uri="{FF2B5EF4-FFF2-40B4-BE49-F238E27FC236}">
                <a16:creationId xmlns:a16="http://schemas.microsoft.com/office/drawing/2014/main" id="{240C22E6-87FE-416E-BCFF-AC3AABA06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334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etângulo 2">
            <a:extLst xmlns:a="http://schemas.openxmlformats.org/drawingml/2006/main">
              <a:ext uri="{FF2B5EF4-FFF2-40B4-BE49-F238E27FC236}">
                <a16:creationId xmlns:a16="http://schemas.microsoft.com/office/drawing/2014/main" id="{4AC1BCC6-DEDD-4CCA-ACA8-A8D515C91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47700"/>
            <a:ext cx="3905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FE7FF"/>
                </a:solidFill>
              </a:defRPr>
            </a:pPr>
            <a:r>
              <a:rPr sz="975" b="1">
                <a:solidFill>
                  <a:srgbClr val="3FE7FF"/>
                </a:solidFill>
              </a:rPr>
              <a:t>PROJETO ACADÊMICO • DEVOPS</a:t>
            </a:r>
          </a:p>
        </p:txBody>
      </p:sp>
      <p:sp>
        <p:nvSpPr>
          <p:cNvPr id="4" name="deck-title">
            <a:extLst xmlns:a="http://schemas.openxmlformats.org/drawingml/2006/main">
              <a:ext uri="{FF2B5EF4-FFF2-40B4-BE49-F238E27FC236}">
                <a16:creationId xmlns:a16="http://schemas.microsoft.com/office/drawing/2014/main" id="{072B95A0-BF1B-4ABF-A0A7-FF13029C6B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85900"/>
            <a:ext cx="42862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5250" b="1">
                <a:solidFill>
                  <a:srgbClr val="FFFFFF"/>
                </a:solidFill>
              </a:defRPr>
            </a:pPr>
            <a:r>
              <a:rPr sz="5250" b="1">
                <a:solidFill>
                  <a:srgbClr val="FFFFFF"/>
                </a:solidFill>
              </a:rPr>
              <a:t>PulsePay</a:t>
            </a:r>
          </a:p>
        </p:txBody>
      </p:sp>
      <p:sp>
        <p:nvSpPr>
          <p:cNvPr id="5" name="deck-subtitle">
            <a:extLst xmlns:a="http://schemas.openxmlformats.org/drawingml/2006/main">
              <a:ext uri="{FF2B5EF4-FFF2-40B4-BE49-F238E27FC236}">
                <a16:creationId xmlns:a16="http://schemas.microsoft.com/office/drawing/2014/main" id="{3C801474-EB10-4257-825A-93CA1C75F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4953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5F8FF"/>
                </a:solidFill>
              </a:defRPr>
            </a:pPr>
            <a:r>
              <a:rPr sz="2700" b="1">
                <a:solidFill>
                  <a:srgbClr val="F5F8FF"/>
                </a:solidFill>
              </a:rPr>
              <a:t>Pagamentos instantâneos,</a:t>
            </a:r>
          </a:p>
          <a:p xmlns:a="http://schemas.openxmlformats.org/drawingml/2006/main">
            <a:pPr algn="l">
              <a:buNone/>
              <a:defRPr sz="2700" b="1">
                <a:solidFill>
                  <a:srgbClr val="F5F8FF"/>
                </a:solidFill>
              </a:defRPr>
            </a:pPr>
            <a:r>
              <a:rPr sz="2700" b="1">
                <a:solidFill>
                  <a:srgbClr val="F5F8FF"/>
                </a:solidFill>
              </a:rPr>
              <a:t>arquitetura confiável.</a:t>
            </a:r>
          </a:p>
        </p:txBody>
      </p:sp>
      <p:sp>
        <p:nvSpPr>
          <p:cNvPr id="6" name="Retângulo 5">
            <a:extLst xmlns:a="http://schemas.openxmlformats.org/drawingml/2006/main">
              <a:ext uri="{FF2B5EF4-FFF2-40B4-BE49-F238E27FC236}">
                <a16:creationId xmlns:a16="http://schemas.microsoft.com/office/drawing/2014/main" id="{7B701E7A-4A4C-4CFE-8C62-8F5CFECAC8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10000"/>
            <a:ext cx="447675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9EADC6"/>
                </a:solidFill>
              </a:defRPr>
            </a:pPr>
            <a:r>
              <a:rPr sz="1500" b="0">
                <a:solidFill>
                  <a:srgbClr val="9EADC6"/>
                </a:solidFill>
              </a:rPr>
              <a:t>Uma fintech </a:t>
            </a:r>
            <a:r>
              <a:rPr sz="1500" b="0">
                <a:solidFill>
                  <a:srgbClr val="9EADC6"/>
                </a:solidFill>
              </a:rPr>
              <a:t>fictícia</a:t>
            </a:r>
            <a:r>
              <a:rPr sz="1500" b="0">
                <a:solidFill>
                  <a:srgbClr val="9EADC6"/>
                </a:solidFill>
              </a:rPr>
              <a:t> para </a:t>
            </a:r>
            <a:r>
              <a:rPr sz="1500" b="0">
                <a:solidFill>
                  <a:srgbClr val="9EADC6"/>
                </a:solidFill>
              </a:rPr>
              <a:t>explorar</a:t>
            </a:r>
            <a:r>
              <a:rPr sz="1500" b="0">
                <a:solidFill>
                  <a:srgbClr val="9EADC6"/>
                </a:solidFill>
              </a:rPr>
              <a:t> </a:t>
            </a:r>
            <a:r>
              <a:rPr sz="1500" b="0">
                <a:solidFill>
                  <a:srgbClr val="9EADC6"/>
                </a:solidFill>
              </a:rPr>
              <a:t>processamento</a:t>
            </a:r>
            <a:r>
              <a:rPr sz="1500" b="0">
                <a:solidFill>
                  <a:srgbClr val="9EADC6"/>
                </a:solidFill>
              </a:rPr>
              <a:t> </a:t>
            </a:r>
            <a:r>
              <a:rPr sz="1500" b="0">
                <a:solidFill>
                  <a:srgbClr val="9EADC6"/>
                </a:solidFill>
              </a:rPr>
              <a:t>assíncrono</a:t>
            </a:r>
            <a:r>
              <a:rPr sz="1500" b="0">
                <a:solidFill>
                  <a:srgbClr val="9EADC6"/>
                </a:solidFill>
              </a:rPr>
              <a:t>, </a:t>
            </a:r>
            <a:r>
              <a:rPr sz="1500" b="0">
                <a:solidFill>
                  <a:srgbClr val="9EADC6"/>
                </a:solidFill>
              </a:rPr>
              <a:t>consistência</a:t>
            </a:r>
            <a:r>
              <a:rPr sz="1500" b="0">
                <a:solidFill>
                  <a:srgbClr val="9EADC6"/>
                </a:solidFill>
              </a:rPr>
              <a:t> e </a:t>
            </a:r>
            <a:r>
              <a:rPr sz="1500" b="0">
                <a:solidFill>
                  <a:srgbClr val="9EADC6"/>
                </a:solidFill>
              </a:rPr>
              <a:t>práticas</a:t>
            </a:r>
            <a:r>
              <a:rPr sz="1500" b="0">
                <a:solidFill>
                  <a:srgbClr val="9EADC6"/>
                </a:solidFill>
              </a:rPr>
              <a:t> de DevOps.</a:t>
            </a:r>
          </a:p>
        </p:txBody>
      </p:sp>
      <p:sp>
        <p:nvSpPr>
          <p:cNvPr id="7" name="Conector reto 6">
            <a:extLst xmlns:a="http://schemas.openxmlformats.org/drawingml/2006/main">
              <a:ext uri="{FF2B5EF4-FFF2-40B4-BE49-F238E27FC236}">
                <a16:creationId xmlns:a16="http://schemas.microsoft.com/office/drawing/2014/main" id="{F5CB76C9-E0B9-4807-868B-557E6B0F0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76875"/>
            <a:ext cx="3619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554"/>
            </a:solidFill>
            <a:prstDash val="solid"/>
          </a:ln>
        </p:spPr>
      </p:sp>
      <p:sp>
        <p:nvSpPr>
          <p:cNvPr id="8" name="Retângulo 7">
            <a:extLst xmlns:a="http://schemas.openxmlformats.org/drawingml/2006/main">
              <a:ext uri="{FF2B5EF4-FFF2-40B4-BE49-F238E27FC236}">
                <a16:creationId xmlns:a16="http://schemas.microsoft.com/office/drawing/2014/main" id="{3A5331C0-633A-4817-93A0-6DB652927C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476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5F8FF"/>
                </a:solidFill>
              </a:defRPr>
            </a:pPr>
            <a:r>
              <a:rPr sz="1125" b="0">
                <a:solidFill>
                  <a:srgbClr val="F5F8FF"/>
                </a:solidFill>
              </a:rPr>
              <a:t>Kayan </a:t>
            </a:r>
            <a:r>
              <a:rPr sz="1125" b="0">
                <a:solidFill>
                  <a:srgbClr val="F5F8FF"/>
                </a:solidFill>
              </a:rPr>
              <a:t>Kayser</a:t>
            </a:r>
            <a:r>
              <a:rPr sz="1125" b="0">
                <a:solidFill>
                  <a:srgbClr val="F5F8FF"/>
                </a:solidFill>
              </a:rPr>
              <a:t>  •  Mário Gonçalves  •  Vic</a:t>
            </a:r>
            <a:r>
              <a:rPr sz="1125" b="0">
                <a:solidFill>
                  <a:srgbClr val="F5F8FF"/>
                </a:solidFill>
              </a:rPr>
              <a:t>tor</a:t>
            </a:r>
            <a:r>
              <a:rPr sz="1125" b="0">
                <a:solidFill>
                  <a:srgbClr val="F5F8FF"/>
                </a:solidFill>
              </a:rPr>
              <a:t> Sabino</a:t>
            </a:r>
          </a:p>
        </p:txBody>
      </p:sp>
      <p:sp>
        <p:nvSpPr>
          <p:cNvPr id="9" name="Retângulo 8">
            <a:extLst xmlns:a="http://schemas.openxmlformats.org/drawingml/2006/main">
              <a:ext uri="{FF2B5EF4-FFF2-40B4-BE49-F238E27FC236}">
                <a16:creationId xmlns:a16="http://schemas.microsoft.com/office/drawing/2014/main" id="{05BC2B22-3992-4E5C-A910-1D8D075C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962650"/>
            <a:ext cx="4572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0718F"/>
                </a:solidFill>
              </a:defRPr>
            </a:pPr>
            <a:r>
              <a:rPr sz="975" b="0">
                <a:solidFill>
                  <a:srgbClr val="60718F"/>
                </a:solidFill>
              </a:rPr>
              <a:t>Projeto de Software com DevOps — Pós-graduação</a:t>
            </a:r>
          </a:p>
        </p:txBody>
      </p:sp>
      <p:sp>
        <p:nvSpPr>
          <p:cNvPr id="10" name="Retângulo 9">
            <a:extLst xmlns:a="http://schemas.openxmlformats.org/drawingml/2006/main">
              <a:ext uri="{FF2B5EF4-FFF2-40B4-BE49-F238E27FC236}">
                <a16:creationId xmlns:a16="http://schemas.microsoft.com/office/drawing/2014/main" id="{D5ED3CA4-0FE3-4C62-84A4-CB5648319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381750"/>
            <a:ext cx="4572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825" b="0">
                <a:solidFill>
                  <a:srgbClr val="60718F"/>
                </a:solidFill>
              </a:defRPr>
            </a:pPr>
            <a:r>
              <a:rPr sz="825" b="0">
                <a:solidFill>
                  <a:srgbClr val="60718F"/>
                </a:solidFill>
              </a:rPr>
              <a:t>Ambiente simulado • sem transações financeiras reais</a:t>
            </a:r>
          </a:p>
        </p:txBody>
      </p:sp>
    </p:spTree>
    <p:extLst>
      <p:ext uri="{BB962C8B-B14F-4D97-AF65-F5344CB8AC3E}">
        <p14:creationId xmlns:p14="http://schemas.microsoft.com/office/powerpoint/2010/main" val="51155808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0B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Elipse 31">
            <a:extLst xmlns:a="http://schemas.openxmlformats.org/drawingml/2006/main">
              <a:ext uri="{FF2B5EF4-FFF2-40B4-BE49-F238E27FC236}">
                <a16:creationId xmlns:a16="http://schemas.microsoft.com/office/drawing/2014/main" id="{C4881916-C334-4B7F-BECD-8D328E3F5E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-14287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lipse 1">
            <a:extLst xmlns:a="http://schemas.openxmlformats.org/drawingml/2006/main">
              <a:ext uri="{FF2B5EF4-FFF2-40B4-BE49-F238E27FC236}">
                <a16:creationId xmlns:a16="http://schemas.microsoft.com/office/drawing/2014/main" id="{9F761A99-210C-4494-AAA4-F365C11507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38250" y="571500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1E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5">
            <a:extLst xmlns:a="http://schemas.openxmlformats.org/drawingml/2006/main">
              <a:ext uri="{FF2B5EF4-FFF2-40B4-BE49-F238E27FC236}">
                <a16:creationId xmlns:a16="http://schemas.microsoft.com/office/drawing/2014/main" id="{E3773FFE-6C47-4EBD-9BC7-17C23E6DD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FE7FF"/>
                </a:solidFill>
              </a:defRPr>
            </a:pPr>
            <a:r>
              <a:rPr sz="900" b="1">
                <a:solidFill>
                  <a:srgbClr val="3FE7FF"/>
                </a:solidFill>
              </a:rPr>
              <a:t>ESCOPO</a:t>
            </a:r>
          </a:p>
        </p:txBody>
      </p:sp>
      <p:sp>
        <p:nvSpPr>
          <p:cNvPr id="4" name="Conector reto 3">
            <a:extLst xmlns:a="http://schemas.openxmlformats.org/drawingml/2006/main">
              <a:ext uri="{FF2B5EF4-FFF2-40B4-BE49-F238E27FC236}">
                <a16:creationId xmlns:a16="http://schemas.microsoft.com/office/drawing/2014/main" id="{375369E5-A3C7-42CB-934E-02E52811F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554"/>
            </a:solidFill>
            <a:prstDash val="solid"/>
          </a:ln>
        </p:spPr>
      </p:sp>
      <p:sp>
        <p:nvSpPr>
          <p:cNvPr id="5" name="page-5">
            <a:extLst xmlns:a="http://schemas.openxmlformats.org/drawingml/2006/main">
              <a:ext uri="{FF2B5EF4-FFF2-40B4-BE49-F238E27FC236}">
                <a16:creationId xmlns:a16="http://schemas.microsoft.com/office/drawing/2014/main" id="{24BA6CC3-F23A-4908-9F1D-E87AE1EE64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0718F"/>
                </a:solidFill>
              </a:defRPr>
            </a:pPr>
            <a:r>
              <a:rPr sz="900" b="1">
                <a:solidFill>
                  <a:srgbClr val="60718F"/>
                </a:solidFill>
              </a:rPr>
              <a:t>05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09DD1C4-B398-4FE2-ABD4-A231B7D96C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5F8FF"/>
                </a:solidFill>
              </a:defRPr>
            </a:pPr>
            <a:r>
              <a:rPr sz="2700" b="1">
                <a:solidFill>
                  <a:srgbClr val="F5F8FF"/>
                </a:solidFill>
              </a:rPr>
              <a:t>O escopo protege o núcleo transacional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BCE9710B-C5DF-4F6B-8967-D57245B058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EADC6"/>
                </a:solidFill>
              </a:defRPr>
            </a:pPr>
            <a:r>
              <a:rPr sz="1350" b="0">
                <a:solidFill>
                  <a:srgbClr val="9EADC6"/>
                </a:solidFill>
              </a:rPr>
              <a:t>Funcionalidades essenciais vêm antes de sofisticação bancária ou escala de produção.</a:t>
            </a:r>
          </a:p>
        </p:txBody>
      </p:sp>
      <p:sp>
        <p:nvSpPr>
          <p:cNvPr id="8" name="Conector reto 7">
            <a:extLst xmlns:a="http://schemas.openxmlformats.org/drawingml/2006/main">
              <a:ext uri="{FF2B5EF4-FFF2-40B4-BE49-F238E27FC236}">
                <a16:creationId xmlns:a16="http://schemas.microsoft.com/office/drawing/2014/main" id="{E674BDE4-2BF8-46C9-BF98-956950F4C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6CF3B5"/>
            </a:solidFill>
            <a:prstDash val="solid"/>
          </a:ln>
        </p:spPr>
      </p:sp>
      <p:sp>
        <p:nvSpPr>
          <p:cNvPr id="9" name="Retângulo 8">
            <a:extLst xmlns:a="http://schemas.openxmlformats.org/drawingml/2006/main">
              <a:ext uri="{FF2B5EF4-FFF2-40B4-BE49-F238E27FC236}">
                <a16:creationId xmlns:a16="http://schemas.microsoft.com/office/drawing/2014/main" id="{CB06EB7F-7F27-4F4E-8C36-53FF37001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57400"/>
            <a:ext cx="3543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CF3B5"/>
                </a:solidFill>
              </a:defRPr>
            </a:pPr>
            <a:r>
              <a:rPr sz="975" b="1">
                <a:solidFill>
                  <a:srgbClr val="6CF3B5"/>
                </a:solidFill>
              </a:rPr>
              <a:t>INCLUÍDO</a:t>
            </a:r>
          </a:p>
        </p:txBody>
      </p:sp>
      <p:sp>
        <p:nvSpPr>
          <p:cNvPr id="10" name="Conector reto 9">
            <a:extLst xmlns:a="http://schemas.openxmlformats.org/drawingml/2006/main">
              <a:ext uri="{FF2B5EF4-FFF2-40B4-BE49-F238E27FC236}">
                <a16:creationId xmlns:a16="http://schemas.microsoft.com/office/drawing/2014/main" id="{7B76406A-C94B-4D3D-9088-F38593EC8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554"/>
            </a:solidFill>
            <a:prstDash val="solid"/>
          </a:ln>
        </p:spPr>
      </p:sp>
      <p:sp>
        <p:nvSpPr>
          <p:cNvPr id="11" name="Retângulo 10">
            <a:extLst xmlns:a="http://schemas.openxmlformats.org/drawingml/2006/main">
              <a:ext uri="{FF2B5EF4-FFF2-40B4-BE49-F238E27FC236}">
                <a16:creationId xmlns:a16="http://schemas.microsoft.com/office/drawing/2014/main" id="{D081CEEF-8476-44EC-8036-D5602907A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FE7FF"/>
                </a:solidFill>
              </a:defRPr>
            </a:pPr>
            <a:r>
              <a:rPr sz="1350" b="1">
                <a:solidFill>
                  <a:srgbClr val="3FE7FF"/>
                </a:solidFill>
              </a:rPr>
              <a:t>Identidade</a:t>
            </a:r>
          </a:p>
        </p:txBody>
      </p:sp>
      <p:sp>
        <p:nvSpPr>
          <p:cNvPr id="12" name="Retângulo 11">
            <a:extLst xmlns:a="http://schemas.openxmlformats.org/drawingml/2006/main">
              <a:ext uri="{FF2B5EF4-FFF2-40B4-BE49-F238E27FC236}">
                <a16:creationId xmlns:a16="http://schemas.microsoft.com/office/drawing/2014/main" id="{95F04A5A-179B-4B2B-A230-F4F30CD1D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24765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5F8FF"/>
                </a:solidFill>
              </a:defRPr>
            </a:pPr>
            <a:r>
              <a:rPr sz="1350" b="0">
                <a:solidFill>
                  <a:srgbClr val="F5F8FF"/>
                </a:solidFill>
              </a:rPr>
              <a:t>Cadastro fictício, login, JWT e bcrypt</a:t>
            </a:r>
          </a:p>
        </p:txBody>
      </p:sp>
      <p:sp>
        <p:nvSpPr>
          <p:cNvPr id="13" name="Conector reto 12">
            <a:extLst xmlns:a="http://schemas.openxmlformats.org/drawingml/2006/main">
              <a:ext uri="{FF2B5EF4-FFF2-40B4-BE49-F238E27FC236}">
                <a16:creationId xmlns:a16="http://schemas.microsoft.com/office/drawing/2014/main" id="{A0AD5F64-CC84-4A48-BF60-58C5E5CF2B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554"/>
            </a:solidFill>
            <a:prstDash val="solid"/>
          </a:ln>
        </p:spPr>
      </p:sp>
      <p:sp>
        <p:nvSpPr>
          <p:cNvPr id="14" name="Retângulo 13">
            <a:extLst xmlns:a="http://schemas.openxmlformats.org/drawingml/2006/main">
              <a:ext uri="{FF2B5EF4-FFF2-40B4-BE49-F238E27FC236}">
                <a16:creationId xmlns:a16="http://schemas.microsoft.com/office/drawing/2014/main" id="{CD2EA1F3-0EE7-46D3-89EA-F7B7F1782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0515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FE7FF"/>
                </a:solidFill>
              </a:defRPr>
            </a:pPr>
            <a:r>
              <a:rPr sz="1350" b="1">
                <a:solidFill>
                  <a:srgbClr val="3FE7FF"/>
                </a:solidFill>
              </a:rPr>
              <a:t>Conta</a:t>
            </a:r>
          </a:p>
        </p:txBody>
      </p:sp>
      <p:sp>
        <p:nvSpPr>
          <p:cNvPr id="15" name="Retângulo 14">
            <a:extLst xmlns:a="http://schemas.openxmlformats.org/drawingml/2006/main">
              <a:ext uri="{FF2B5EF4-FFF2-40B4-BE49-F238E27FC236}">
                <a16:creationId xmlns:a16="http://schemas.microsoft.com/office/drawing/2014/main" id="{3646965C-8E55-41BF-9D61-0149FA4623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1051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5F8FF"/>
                </a:solidFill>
              </a:defRPr>
            </a:pPr>
            <a:r>
              <a:rPr sz="1350" b="0">
                <a:solidFill>
                  <a:srgbClr val="F5F8FF"/>
                </a:solidFill>
              </a:rPr>
              <a:t>Saldo e extrato de transações</a:t>
            </a:r>
          </a:p>
        </p:txBody>
      </p:sp>
      <p:sp>
        <p:nvSpPr>
          <p:cNvPr id="16" name="Conector reto 15">
            <a:extLst xmlns:a="http://schemas.openxmlformats.org/drawingml/2006/main">
              <a:ext uri="{FF2B5EF4-FFF2-40B4-BE49-F238E27FC236}">
                <a16:creationId xmlns:a16="http://schemas.microsoft.com/office/drawing/2014/main" id="{01C108AA-BC92-4087-847C-0F6DD23DB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76700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554"/>
            </a:solidFill>
            <a:prstDash val="solid"/>
          </a:ln>
        </p:spPr>
      </p:sp>
      <p:sp>
        <p:nvSpPr>
          <p:cNvPr id="17" name="Retângulo 16">
            <a:extLst xmlns:a="http://schemas.openxmlformats.org/drawingml/2006/main">
              <a:ext uri="{FF2B5EF4-FFF2-40B4-BE49-F238E27FC236}">
                <a16:creationId xmlns:a16="http://schemas.microsoft.com/office/drawing/2014/main" id="{D601F039-F0FE-4A9D-8288-38694F3A1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3380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FE7FF"/>
                </a:solidFill>
              </a:defRPr>
            </a:pPr>
            <a:r>
              <a:rPr sz="1350" b="1">
                <a:solidFill>
                  <a:srgbClr val="3FE7FF"/>
                </a:solidFill>
              </a:rPr>
              <a:t>Movimento</a:t>
            </a:r>
          </a:p>
        </p:txBody>
      </p:sp>
      <p:sp>
        <p:nvSpPr>
          <p:cNvPr id="18" name="Retângulo 17">
            <a:extLst xmlns:a="http://schemas.openxmlformats.org/drawingml/2006/main">
              <a:ext uri="{FF2B5EF4-FFF2-40B4-BE49-F238E27FC236}">
                <a16:creationId xmlns:a16="http://schemas.microsoft.com/office/drawing/2014/main" id="{37AA6CBD-09EC-44C2-8478-3E9BEE3BD6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37338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5F8FF"/>
                </a:solidFill>
              </a:defRPr>
            </a:pPr>
            <a:r>
              <a:rPr sz="1350" b="0">
                <a:solidFill>
                  <a:srgbClr val="F5F8FF"/>
                </a:solidFill>
              </a:rPr>
              <a:t>Transferência PENDENTE → CONCLUÍDA</a:t>
            </a:r>
          </a:p>
        </p:txBody>
      </p:sp>
      <p:sp>
        <p:nvSpPr>
          <p:cNvPr id="19" name="Conector reto 18">
            <a:extLst xmlns:a="http://schemas.openxmlformats.org/drawingml/2006/main">
              <a:ext uri="{FF2B5EF4-FFF2-40B4-BE49-F238E27FC236}">
                <a16:creationId xmlns:a16="http://schemas.microsoft.com/office/drawing/2014/main" id="{4AD34487-179D-4494-9D0D-0A05A54CA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705350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554"/>
            </a:solidFill>
            <a:prstDash val="solid"/>
          </a:ln>
        </p:spPr>
      </p:sp>
      <p:sp>
        <p:nvSpPr>
          <p:cNvPr id="20" name="Retângulo 19">
            <a:extLst xmlns:a="http://schemas.openxmlformats.org/drawingml/2006/main">
              <a:ext uri="{FF2B5EF4-FFF2-40B4-BE49-F238E27FC236}">
                <a16:creationId xmlns:a16="http://schemas.microsoft.com/office/drawing/2014/main" id="{18098620-1696-45FF-A024-2E69B8871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6245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FE7FF"/>
                </a:solidFill>
              </a:defRPr>
            </a:pPr>
            <a:r>
              <a:rPr sz="1350" b="1">
                <a:solidFill>
                  <a:srgbClr val="3FE7FF"/>
                </a:solidFill>
              </a:rPr>
              <a:t>Assíncrono</a:t>
            </a:r>
          </a:p>
        </p:txBody>
      </p:sp>
      <p:sp>
        <p:nvSpPr>
          <p:cNvPr id="21" name="Retângulo 20">
            <a:extLst xmlns:a="http://schemas.openxmlformats.org/drawingml/2006/main">
              <a:ext uri="{FF2B5EF4-FFF2-40B4-BE49-F238E27FC236}">
                <a16:creationId xmlns:a16="http://schemas.microsoft.com/office/drawing/2014/main" id="{62C9A831-AA65-4AEE-AEBB-9C52C04573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36245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5F8FF"/>
                </a:solidFill>
              </a:defRPr>
            </a:pPr>
            <a:r>
              <a:rPr sz="1350" b="0">
                <a:solidFill>
                  <a:srgbClr val="F5F8FF"/>
                </a:solidFill>
              </a:rPr>
              <a:t>RabbitMQ, Worker e WebSocket</a:t>
            </a:r>
          </a:p>
        </p:txBody>
      </p:sp>
      <p:sp>
        <p:nvSpPr>
          <p:cNvPr id="22" name="Conector reto 21">
            <a:extLst xmlns:a="http://schemas.openxmlformats.org/drawingml/2006/main">
              <a:ext uri="{FF2B5EF4-FFF2-40B4-BE49-F238E27FC236}">
                <a16:creationId xmlns:a16="http://schemas.microsoft.com/office/drawing/2014/main" id="{D440A4AB-ED0E-4F3B-8386-94FC62628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34000"/>
            <a:ext cx="61912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554"/>
            </a:solidFill>
            <a:prstDash val="solid"/>
          </a:ln>
        </p:spPr>
      </p:sp>
      <p:sp>
        <p:nvSpPr>
          <p:cNvPr id="23" name="Retângulo 22">
            <a:extLst xmlns:a="http://schemas.openxmlformats.org/drawingml/2006/main">
              <a:ext uri="{FF2B5EF4-FFF2-40B4-BE49-F238E27FC236}">
                <a16:creationId xmlns:a16="http://schemas.microsoft.com/office/drawing/2014/main" id="{897408DF-CBDF-422A-A434-9553CF5A5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91100"/>
            <a:ext cx="147637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3FE7FF"/>
                </a:solidFill>
              </a:defRPr>
            </a:pPr>
            <a:r>
              <a:rPr sz="1350" b="1">
                <a:solidFill>
                  <a:srgbClr val="3FE7FF"/>
                </a:solidFill>
              </a:rPr>
              <a:t>Operação</a:t>
            </a:r>
          </a:p>
        </p:txBody>
      </p:sp>
      <p:sp>
        <p:nvSpPr>
          <p:cNvPr id="24" name="Retângulo 23">
            <a:extLst xmlns:a="http://schemas.openxmlformats.org/drawingml/2006/main">
              <a:ext uri="{FF2B5EF4-FFF2-40B4-BE49-F238E27FC236}">
                <a16:creationId xmlns:a16="http://schemas.microsoft.com/office/drawing/2014/main" id="{9CA77E69-D500-4BA0-A8C9-4925405AF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0" y="4991100"/>
            <a:ext cx="4476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F5F8FF"/>
                </a:solidFill>
              </a:defRPr>
            </a:pPr>
            <a:r>
              <a:rPr sz="1350" b="0">
                <a:solidFill>
                  <a:srgbClr val="F5F8FF"/>
                </a:solidFill>
              </a:rPr>
              <a:t>CI/CD, métricas, dashboards e auditoria</a:t>
            </a:r>
          </a:p>
        </p:txBody>
      </p:sp>
      <p:sp>
        <p:nvSpPr>
          <p:cNvPr id="25" name="Retângulo: Cantos Arredondados 24">
            <a:extLst xmlns:a="http://schemas.openxmlformats.org/drawingml/2006/main">
              <a:ext uri="{FF2B5EF4-FFF2-40B4-BE49-F238E27FC236}">
                <a16:creationId xmlns:a16="http://schemas.microsoft.com/office/drawing/2014/main" id="{098C09A7-D6C3-48BE-8E91-EF7C18978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2057400"/>
            <a:ext cx="3714750" cy="3486150"/>
          </a:xfrm>
          <a:prstGeom xmlns:a="http://schemas.openxmlformats.org/drawingml/2006/main" prst="roundRect">
            <a:avLst>
              <a:gd name="adj" fmla="val 6011"/>
            </a:avLst>
          </a:prstGeom>
          <a:solidFill xmlns:a="http://schemas.openxmlformats.org/drawingml/2006/main">
            <a:srgbClr val="111B34"/>
          </a:solidFill>
          <a:ln xmlns:a="http://schemas.openxmlformats.org/drawingml/2006/main" w="9525">
            <a:solidFill>
              <a:srgbClr val="263554"/>
            </a:solidFill>
            <a:prstDash val="solid"/>
          </a:ln>
        </p:spPr>
      </p:sp>
      <p:sp>
        <p:nvSpPr>
          <p:cNvPr id="26" name="Retângulo 25">
            <a:extLst xmlns:a="http://schemas.openxmlformats.org/drawingml/2006/main">
              <a:ext uri="{FF2B5EF4-FFF2-40B4-BE49-F238E27FC236}">
                <a16:creationId xmlns:a16="http://schemas.microsoft.com/office/drawing/2014/main" id="{1B66973C-2BCB-4338-8604-F658E2740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3622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CA6A"/>
                </a:solidFill>
              </a:defRPr>
            </a:pPr>
            <a:r>
              <a:rPr sz="975" b="1">
                <a:solidFill>
                  <a:srgbClr val="FFCA6A"/>
                </a:solidFill>
              </a:rPr>
              <a:t>FORA DO ESCOPO</a:t>
            </a:r>
          </a:p>
        </p:txBody>
      </p:sp>
      <p:sp>
        <p:nvSpPr>
          <p:cNvPr id="27" name="Retângulo 26">
            <a:extLst xmlns:a="http://schemas.openxmlformats.org/drawingml/2006/main">
              <a:ext uri="{FF2B5EF4-FFF2-40B4-BE49-F238E27FC236}">
                <a16:creationId xmlns:a16="http://schemas.microsoft.com/office/drawing/2014/main" id="{A1EF2C4E-60D4-43C3-96AB-D3E690F4A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857500"/>
            <a:ext cx="2952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8FF"/>
                </a:solidFill>
              </a:defRPr>
            </a:pPr>
            <a:r>
              <a:rPr sz="1500" b="1">
                <a:solidFill>
                  <a:srgbClr val="F5F8FF"/>
                </a:solidFill>
              </a:rPr>
              <a:t>Integração bancária real</a:t>
            </a:r>
          </a:p>
        </p:txBody>
      </p:sp>
      <p:sp>
        <p:nvSpPr>
          <p:cNvPr id="28" name="Retângulo 27">
            <a:extLst xmlns:a="http://schemas.openxmlformats.org/drawingml/2006/main">
              <a:ext uri="{FF2B5EF4-FFF2-40B4-BE49-F238E27FC236}">
                <a16:creationId xmlns:a16="http://schemas.microsoft.com/office/drawing/2014/main" id="{FAE6FABD-EC38-445B-83CF-7C095AA5D5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3718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8FF"/>
                </a:solidFill>
              </a:defRPr>
            </a:pPr>
            <a:r>
              <a:rPr sz="1500" b="1">
                <a:solidFill>
                  <a:srgbClr val="F5F8FF"/>
                </a:solidFill>
              </a:rPr>
              <a:t>Dados financeiros pessoais reais</a:t>
            </a:r>
          </a:p>
        </p:txBody>
      </p:sp>
      <p:sp>
        <p:nvSpPr>
          <p:cNvPr id="29" name="Retângulo 28">
            <a:extLst xmlns:a="http://schemas.openxmlformats.org/drawingml/2006/main">
              <a:ext uri="{FF2B5EF4-FFF2-40B4-BE49-F238E27FC236}">
                <a16:creationId xmlns:a16="http://schemas.microsoft.com/office/drawing/2014/main" id="{4DAD8C89-8BC2-4CF5-84A5-ED7B36E8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03860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8FF"/>
                </a:solidFill>
              </a:defRPr>
            </a:pPr>
            <a:r>
              <a:rPr sz="1500" b="1">
                <a:solidFill>
                  <a:srgbClr val="F5F8FF"/>
                </a:solidFill>
              </a:rPr>
              <a:t>MFA, WAF e compliance regulatório</a:t>
            </a:r>
          </a:p>
        </p:txBody>
      </p:sp>
      <p:sp>
        <p:nvSpPr>
          <p:cNvPr id="30" name="Retângulo 29">
            <a:extLst xmlns:a="http://schemas.openxmlformats.org/drawingml/2006/main">
              <a:ext uri="{FF2B5EF4-FFF2-40B4-BE49-F238E27FC236}">
                <a16:creationId xmlns:a16="http://schemas.microsoft.com/office/drawing/2014/main" id="{0080A6B6-DF5F-435C-9726-22CDF47230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4705350"/>
            <a:ext cx="304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8FF"/>
                </a:solidFill>
              </a:defRPr>
            </a:pPr>
            <a:r>
              <a:rPr sz="1500" b="1">
                <a:solidFill>
                  <a:srgbClr val="F5F8FF"/>
                </a:solidFill>
              </a:rPr>
              <a:t>Alta disponibilidade multi-região</a:t>
            </a:r>
          </a:p>
        </p:txBody>
      </p:sp>
      <p:sp>
        <p:nvSpPr>
          <p:cNvPr id="31" name="Retângulo 30">
            <a:extLst xmlns:a="http://schemas.openxmlformats.org/drawingml/2006/main">
              <a:ext uri="{FF2B5EF4-FFF2-40B4-BE49-F238E27FC236}">
                <a16:creationId xmlns:a16="http://schemas.microsoft.com/office/drawing/2014/main" id="{418B7BFB-C12D-43F5-8502-84ED557BD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21970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CF3B5"/>
                </a:solidFill>
              </a:defRPr>
            </a:pPr>
            <a:r>
              <a:rPr sz="1200" b="1">
                <a:solidFill>
                  <a:srgbClr val="6CF3B5"/>
                </a:solidFill>
              </a:rPr>
              <a:t>Foco: aprofundar o núcleo transacional.</a:t>
            </a:r>
          </a:p>
        </p:txBody>
      </p:sp>
    </p:spTree>
    <p:extLst>
      <p:ext uri="{BB962C8B-B14F-4D97-AF65-F5344CB8AC3E}">
        <p14:creationId xmlns:p14="http://schemas.microsoft.com/office/powerpoint/2010/main" val="89267393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B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Elipse 40">
            <a:extLst xmlns:a="http://schemas.openxmlformats.org/drawingml/2006/main">
              <a:ext uri="{FF2B5EF4-FFF2-40B4-BE49-F238E27FC236}">
                <a16:creationId xmlns:a16="http://schemas.microsoft.com/office/drawing/2014/main" id="{9FC44C9C-3879-48E6-9DD2-488385F85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-14287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lipse 1">
            <a:extLst xmlns:a="http://schemas.openxmlformats.org/drawingml/2006/main">
              <a:ext uri="{FF2B5EF4-FFF2-40B4-BE49-F238E27FC236}">
                <a16:creationId xmlns:a16="http://schemas.microsoft.com/office/drawing/2014/main" id="{E0FC68EF-8C10-4209-B1F6-A9064A673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38250" y="571500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1E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3">
            <a:extLst xmlns:a="http://schemas.openxmlformats.org/drawingml/2006/main">
              <a:ext uri="{FF2B5EF4-FFF2-40B4-BE49-F238E27FC236}">
                <a16:creationId xmlns:a16="http://schemas.microsoft.com/office/drawing/2014/main" id="{8A6D7297-4402-47EF-8CCE-5F725367C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FE7FF"/>
                </a:solidFill>
              </a:defRPr>
            </a:pPr>
            <a:r>
              <a:rPr sz="900" b="1">
                <a:solidFill>
                  <a:srgbClr val="3FE7FF"/>
                </a:solidFill>
              </a:rPr>
              <a:t>ARQUITETURA</a:t>
            </a:r>
          </a:p>
        </p:txBody>
      </p:sp>
      <p:sp>
        <p:nvSpPr>
          <p:cNvPr id="4" name="Conector reto 3">
            <a:extLst xmlns:a="http://schemas.openxmlformats.org/drawingml/2006/main">
              <a:ext uri="{FF2B5EF4-FFF2-40B4-BE49-F238E27FC236}">
                <a16:creationId xmlns:a16="http://schemas.microsoft.com/office/drawing/2014/main" id="{59EBAED4-0A83-461C-A7B3-2874700C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554"/>
            </a:solidFill>
            <a:prstDash val="solid"/>
          </a:ln>
        </p:spPr>
      </p:sp>
      <p:sp>
        <p:nvSpPr>
          <p:cNvPr id="5" name="page-3">
            <a:extLst xmlns:a="http://schemas.openxmlformats.org/drawingml/2006/main">
              <a:ext uri="{FF2B5EF4-FFF2-40B4-BE49-F238E27FC236}">
                <a16:creationId xmlns:a16="http://schemas.microsoft.com/office/drawing/2014/main" id="{604D09EB-2AD3-4C0A-858D-EC7FF139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0718F"/>
                </a:solidFill>
              </a:defRPr>
            </a:pPr>
            <a:r>
              <a:rPr sz="900" b="1">
                <a:solidFill>
                  <a:srgbClr val="60718F"/>
                </a:solidFill>
              </a:rPr>
              <a:t>03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55B391F-6194-4460-B4F4-6FCF2611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5F8FF"/>
                </a:solidFill>
              </a:defRPr>
            </a:pPr>
            <a:r>
              <a:rPr sz="2700" b="1">
                <a:solidFill>
                  <a:srgbClr val="F5F8FF"/>
                </a:solidFill>
              </a:rPr>
              <a:t>A fila separa rapidez de efetivação segura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37A0BBD-300F-4D83-8E43-DF37EDC8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EADC6"/>
                </a:solidFill>
              </a:defRPr>
            </a:pPr>
            <a:r>
              <a:rPr sz="1350" b="0">
                <a:solidFill>
                  <a:srgbClr val="9EADC6"/>
                </a:solidFill>
              </a:rPr>
              <a:t>Monolito modular + RabbitMQ entrega um desenho executável no contexto acadêmico.</a:t>
            </a:r>
          </a:p>
        </p:txBody>
      </p:sp>
      <p:sp>
        <p:nvSpPr>
          <p:cNvPr id="8" name="Seta: para a Direita 7">
            <a:extLst xmlns:a="http://schemas.openxmlformats.org/drawingml/2006/main">
              <a:ext uri="{FF2B5EF4-FFF2-40B4-BE49-F238E27FC236}">
                <a16:creationId xmlns:a16="http://schemas.microsoft.com/office/drawing/2014/main" id="{14A57E42-FF4B-4049-B313-3CA4704D9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819400"/>
            <a:ext cx="647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FE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eta: para a Direita 8">
            <a:extLst xmlns:a="http://schemas.openxmlformats.org/drawingml/2006/main">
              <a:ext uri="{FF2B5EF4-FFF2-40B4-BE49-F238E27FC236}">
                <a16:creationId xmlns:a16="http://schemas.microsoft.com/office/drawing/2014/main" id="{6C52283E-05DE-4B34-8DF9-FEDDB43FA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19400"/>
            <a:ext cx="647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ta: para a Direita 9">
            <a:extLst xmlns:a="http://schemas.openxmlformats.org/drawingml/2006/main">
              <a:ext uri="{FF2B5EF4-FFF2-40B4-BE49-F238E27FC236}">
                <a16:creationId xmlns:a16="http://schemas.microsoft.com/office/drawing/2014/main" id="{81190AF0-8D69-4B75-87EC-4C24CEA22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2819400"/>
            <a:ext cx="647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eta: para a Direita 10">
            <a:extLst xmlns:a="http://schemas.openxmlformats.org/drawingml/2006/main">
              <a:ext uri="{FF2B5EF4-FFF2-40B4-BE49-F238E27FC236}">
                <a16:creationId xmlns:a16="http://schemas.microsoft.com/office/drawing/2014/main" id="{2D3C1F64-60E2-450F-ACAD-F118D45C6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2819400"/>
            <a:ext cx="647700" cy="2095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CF3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3" name="Conector reto 12">
            <a:extLst xmlns:a="http://schemas.openxmlformats.org/drawingml/2006/main">
              <a:ext uri="{FF2B5EF4-FFF2-40B4-BE49-F238E27FC236}">
                <a16:creationId xmlns:a16="http://schemas.microsoft.com/office/drawing/2014/main" id="{E6EB3AEC-70D4-4FB7-8FEB-BB65FA470D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57625" y="4248150"/>
            <a:ext cx="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718F"/>
            </a:solidFill>
            <a:prstDash val="dash"/>
          </a:ln>
        </p:spPr>
      </p:sp>
      <p:sp>
        <p:nvSpPr>
          <p:cNvPr id="14" name="Conector reto 13">
            <a:extLst xmlns:a="http://schemas.openxmlformats.org/drawingml/2006/main">
              <a:ext uri="{FF2B5EF4-FFF2-40B4-BE49-F238E27FC236}">
                <a16:creationId xmlns:a16="http://schemas.microsoft.com/office/drawing/2014/main" id="{E6EA0AF3-9D80-40AD-B2B9-3470C86E81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9125" y="4248150"/>
            <a:ext cx="0" cy="685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60718F"/>
            </a:solidFill>
            <a:prstDash val="dash"/>
          </a:ln>
        </p:spPr>
      </p:sp>
      <p:sp>
        <p:nvSpPr>
          <p:cNvPr id="15" name="node-frontend">
            <a:extLst xmlns:a="http://schemas.openxmlformats.org/drawingml/2006/main">
              <a:ext uri="{FF2B5EF4-FFF2-40B4-BE49-F238E27FC236}">
                <a16:creationId xmlns:a16="http://schemas.microsoft.com/office/drawing/2014/main" id="{E6BA059A-6F03-4ACD-B7DE-EDC31332B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15240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11B34"/>
          </a:solidFill>
          <a:ln xmlns:a="http://schemas.openxmlformats.org/drawingml/2006/main" w="9525">
            <a:solidFill>
              <a:srgbClr val="263554"/>
            </a:solidFill>
            <a:prstDash val="solid"/>
          </a:ln>
        </p:spPr>
      </p:sp>
      <p:sp>
        <p:nvSpPr>
          <p:cNvPr id="16" name="Retângulo: Cantos Arredondados 15">
            <a:extLst xmlns:a="http://schemas.openxmlformats.org/drawingml/2006/main">
              <a:ext uri="{FF2B5EF4-FFF2-40B4-BE49-F238E27FC236}">
                <a16:creationId xmlns:a16="http://schemas.microsoft.com/office/drawing/2014/main" id="{94AB2CA9-4296-4271-804B-90B29707F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43150"/>
            <a:ext cx="571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FE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7" name="Retângulo 16">
            <a:extLst xmlns:a="http://schemas.openxmlformats.org/drawingml/2006/main">
              <a:ext uri="{FF2B5EF4-FFF2-40B4-BE49-F238E27FC236}">
                <a16:creationId xmlns:a16="http://schemas.microsoft.com/office/drawing/2014/main" id="{16D39CA0-5776-4EC6-A89F-71E78E381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514600"/>
            <a:ext cx="11620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8FF"/>
                </a:solidFill>
              </a:defRPr>
            </a:pPr>
            <a:r>
              <a:rPr sz="1500" b="1">
                <a:solidFill>
                  <a:srgbClr val="F5F8FF"/>
                </a:solidFill>
              </a:rPr>
              <a:t>Frontend</a:t>
            </a:r>
          </a:p>
        </p:txBody>
      </p:sp>
      <p:sp>
        <p:nvSpPr>
          <p:cNvPr id="18" name="Retângulo 17">
            <a:extLst xmlns:a="http://schemas.openxmlformats.org/drawingml/2006/main">
              <a:ext uri="{FF2B5EF4-FFF2-40B4-BE49-F238E27FC236}">
                <a16:creationId xmlns:a16="http://schemas.microsoft.com/office/drawing/2014/main" id="{D4F51088-4324-4D19-8D49-3733F3884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57500"/>
            <a:ext cx="11620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EADC6"/>
                </a:solidFill>
              </a:defRPr>
            </a:pPr>
            <a:r>
              <a:rPr sz="1200" b="0">
                <a:solidFill>
                  <a:srgbClr val="9EADC6"/>
                </a:solidFill>
              </a:rPr>
              <a:t>React + Vite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9EADC6"/>
                </a:solidFill>
              </a:defRPr>
            </a:pPr>
            <a:r>
              <a:rPr sz="1200" b="0">
                <a:solidFill>
                  <a:srgbClr val="9EADC6"/>
                </a:solidFill>
              </a:rPr>
              <a:t>pedido + status</a:t>
            </a:r>
          </a:p>
        </p:txBody>
      </p:sp>
      <p:sp>
        <p:nvSpPr>
          <p:cNvPr id="19" name="node-api">
            <a:extLst xmlns:a="http://schemas.openxmlformats.org/drawingml/2006/main">
              <a:ext uri="{FF2B5EF4-FFF2-40B4-BE49-F238E27FC236}">
                <a16:creationId xmlns:a16="http://schemas.microsoft.com/office/drawing/2014/main" id="{C13CAF9A-B950-4363-A9DF-82D8753809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343150"/>
            <a:ext cx="163830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11B34"/>
          </a:solidFill>
          <a:ln xmlns:a="http://schemas.openxmlformats.org/drawingml/2006/main" w="9525">
            <a:solidFill>
              <a:srgbClr val="263554"/>
            </a:solidFill>
            <a:prstDash val="solid"/>
          </a:ln>
        </p:spPr>
      </p:sp>
      <p:sp>
        <p:nvSpPr>
          <p:cNvPr id="20" name="Retângulo: Cantos Arredondados 19">
            <a:extLst xmlns:a="http://schemas.openxmlformats.org/drawingml/2006/main">
              <a:ext uri="{FF2B5EF4-FFF2-40B4-BE49-F238E27FC236}">
                <a16:creationId xmlns:a16="http://schemas.microsoft.com/office/drawing/2014/main" id="{A910C022-5376-48CF-BF69-25DBAEEF8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2343150"/>
            <a:ext cx="571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FE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1" name="Retângulo 20">
            <a:extLst xmlns:a="http://schemas.openxmlformats.org/drawingml/2006/main">
              <a:ext uri="{FF2B5EF4-FFF2-40B4-BE49-F238E27FC236}">
                <a16:creationId xmlns:a16="http://schemas.microsoft.com/office/drawing/2014/main" id="{30C9A942-B054-4568-9FC7-C1D1554EF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514600"/>
            <a:ext cx="1276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8FF"/>
                </a:solidFill>
              </a:defRPr>
            </a:pPr>
            <a:r>
              <a:rPr sz="1500" b="1">
                <a:solidFill>
                  <a:srgbClr val="F5F8FF"/>
                </a:solidFill>
              </a:rPr>
              <a:t>API</a:t>
            </a:r>
          </a:p>
        </p:txBody>
      </p:sp>
      <p:sp>
        <p:nvSpPr>
          <p:cNvPr id="22" name="Retângulo 21">
            <a:extLst xmlns:a="http://schemas.openxmlformats.org/drawingml/2006/main">
              <a:ext uri="{FF2B5EF4-FFF2-40B4-BE49-F238E27FC236}">
                <a16:creationId xmlns:a16="http://schemas.microsoft.com/office/drawing/2014/main" id="{44CBE76C-EEEA-49B2-B67B-77B21D944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857500"/>
            <a:ext cx="12763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EADC6"/>
                </a:solidFill>
              </a:defRPr>
            </a:pPr>
            <a:r>
              <a:rPr sz="1200" b="0">
                <a:solidFill>
                  <a:srgbClr val="9EADC6"/>
                </a:solidFill>
              </a:rPr>
              <a:t>Node.js + Express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9EADC6"/>
                </a:solidFill>
              </a:defRPr>
            </a:pPr>
            <a:r>
              <a:rPr sz="1200" b="0">
                <a:solidFill>
                  <a:srgbClr val="9EADC6"/>
                </a:solidFill>
              </a:rPr>
              <a:t>JWT + módulos</a:t>
            </a:r>
          </a:p>
        </p:txBody>
      </p:sp>
      <p:sp>
        <p:nvSpPr>
          <p:cNvPr id="23" name="node-queue">
            <a:extLst xmlns:a="http://schemas.openxmlformats.org/drawingml/2006/main">
              <a:ext uri="{FF2B5EF4-FFF2-40B4-BE49-F238E27FC236}">
                <a16:creationId xmlns:a16="http://schemas.microsoft.com/office/drawing/2014/main" id="{0AD9FB36-E95D-4880-93F2-CA4240084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343150"/>
            <a:ext cx="15430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11B34"/>
          </a:solidFill>
          <a:ln xmlns:a="http://schemas.openxmlformats.org/drawingml/2006/main" w="9525">
            <a:solidFill>
              <a:srgbClr val="263554"/>
            </a:solidFill>
            <a:prstDash val="solid"/>
          </a:ln>
        </p:spPr>
      </p:sp>
      <p:sp>
        <p:nvSpPr>
          <p:cNvPr id="24" name="Retângulo: Cantos Arredondados 23">
            <a:extLst xmlns:a="http://schemas.openxmlformats.org/drawingml/2006/main">
              <a:ext uri="{FF2B5EF4-FFF2-40B4-BE49-F238E27FC236}">
                <a16:creationId xmlns:a16="http://schemas.microsoft.com/office/drawing/2014/main" id="{1738FE11-3DDE-47AF-90F8-4FD30D60B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2343150"/>
            <a:ext cx="571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C6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5" name="Retângulo 24">
            <a:extLst xmlns:a="http://schemas.openxmlformats.org/drawingml/2006/main">
              <a:ext uri="{FF2B5EF4-FFF2-40B4-BE49-F238E27FC236}">
                <a16:creationId xmlns:a16="http://schemas.microsoft.com/office/drawing/2014/main" id="{F15D826B-E8BC-4D1A-AC6E-D11A5C7F2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51460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8FF"/>
                </a:solidFill>
              </a:defRPr>
            </a:pPr>
            <a:r>
              <a:rPr sz="1500" b="1">
                <a:solidFill>
                  <a:srgbClr val="F5F8FF"/>
                </a:solidFill>
              </a:rPr>
              <a:t>RabbitMQ</a:t>
            </a:r>
          </a:p>
        </p:txBody>
      </p:sp>
      <p:sp>
        <p:nvSpPr>
          <p:cNvPr id="26" name="Retângulo 25">
            <a:extLst xmlns:a="http://schemas.openxmlformats.org/drawingml/2006/main">
              <a:ext uri="{FF2B5EF4-FFF2-40B4-BE49-F238E27FC236}">
                <a16:creationId xmlns:a16="http://schemas.microsoft.com/office/drawing/2014/main" id="{AB977A5D-E49A-4654-BDA0-1DA3D1C37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0" y="2857500"/>
            <a:ext cx="1181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EADC6"/>
                </a:solidFill>
              </a:defRPr>
            </a:pPr>
            <a:r>
              <a:rPr sz="1200" b="0">
                <a:solidFill>
                  <a:srgbClr val="9EADC6"/>
                </a:solidFill>
              </a:rPr>
              <a:t>fila desacopla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9EADC6"/>
                </a:solidFill>
              </a:defRPr>
            </a:pPr>
            <a:r>
              <a:rPr sz="1200" b="0">
                <a:solidFill>
                  <a:srgbClr val="9EADC6"/>
                </a:solidFill>
              </a:rPr>
              <a:t>e absorve picos</a:t>
            </a:r>
          </a:p>
        </p:txBody>
      </p:sp>
      <p:sp>
        <p:nvSpPr>
          <p:cNvPr id="27" name="node-worker">
            <a:extLst xmlns:a="http://schemas.openxmlformats.org/drawingml/2006/main">
              <a:ext uri="{FF2B5EF4-FFF2-40B4-BE49-F238E27FC236}">
                <a16:creationId xmlns:a16="http://schemas.microsoft.com/office/drawing/2014/main" id="{2EF5F2FB-CC3B-436D-A5DC-230646D3A1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343150"/>
            <a:ext cx="15430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11B34"/>
          </a:solidFill>
          <a:ln xmlns:a="http://schemas.openxmlformats.org/drawingml/2006/main" w="9525">
            <a:solidFill>
              <a:srgbClr val="263554"/>
            </a:solidFill>
            <a:prstDash val="solid"/>
          </a:ln>
        </p:spPr>
      </p:sp>
      <p:sp>
        <p:nvSpPr>
          <p:cNvPr id="28" name="Retângulo: Cantos Arredondados 27">
            <a:extLst xmlns:a="http://schemas.openxmlformats.org/drawingml/2006/main">
              <a:ext uri="{FF2B5EF4-FFF2-40B4-BE49-F238E27FC236}">
                <a16:creationId xmlns:a16="http://schemas.microsoft.com/office/drawing/2014/main" id="{BB3E55DC-F779-4E22-AD45-19BD1FEE0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2343150"/>
            <a:ext cx="571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C6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Retângulo 28">
            <a:extLst xmlns:a="http://schemas.openxmlformats.org/drawingml/2006/main">
              <a:ext uri="{FF2B5EF4-FFF2-40B4-BE49-F238E27FC236}">
                <a16:creationId xmlns:a16="http://schemas.microsoft.com/office/drawing/2014/main" id="{395EFA6C-6339-403E-94B2-4DAD8199F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514600"/>
            <a:ext cx="11811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8FF"/>
                </a:solidFill>
              </a:defRPr>
            </a:pPr>
            <a:r>
              <a:rPr sz="1500" b="1">
                <a:solidFill>
                  <a:srgbClr val="F5F8FF"/>
                </a:solidFill>
              </a:rPr>
              <a:t>Worker</a:t>
            </a:r>
          </a:p>
        </p:txBody>
      </p:sp>
      <p:sp>
        <p:nvSpPr>
          <p:cNvPr id="30" name="Retângulo 29">
            <a:extLst xmlns:a="http://schemas.openxmlformats.org/drawingml/2006/main">
              <a:ext uri="{FF2B5EF4-FFF2-40B4-BE49-F238E27FC236}">
                <a16:creationId xmlns:a16="http://schemas.microsoft.com/office/drawing/2014/main" id="{F599E378-647D-4397-A8A9-7D6820899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857500"/>
            <a:ext cx="11811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EADC6"/>
                </a:solidFill>
              </a:defRPr>
            </a:pPr>
            <a:r>
              <a:rPr sz="1200" b="0">
                <a:solidFill>
                  <a:srgbClr val="9EADC6"/>
                </a:solidFill>
              </a:rPr>
              <a:t>idempotência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9EADC6"/>
                </a:solidFill>
              </a:defRPr>
            </a:pPr>
            <a:r>
              <a:rPr sz="1200" b="0">
                <a:solidFill>
                  <a:srgbClr val="9EADC6"/>
                </a:solidFill>
              </a:rPr>
              <a:t>transação ACID</a:t>
            </a:r>
          </a:p>
        </p:txBody>
      </p:sp>
      <p:sp>
        <p:nvSpPr>
          <p:cNvPr id="31" name="node-db">
            <a:extLst xmlns:a="http://schemas.openxmlformats.org/drawingml/2006/main">
              <a:ext uri="{FF2B5EF4-FFF2-40B4-BE49-F238E27FC236}">
                <a16:creationId xmlns:a16="http://schemas.microsoft.com/office/drawing/2014/main" id="{82BFE4D9-3F96-4F88-A055-954B89633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343150"/>
            <a:ext cx="1809750" cy="120015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111B34"/>
          </a:solidFill>
          <a:ln xmlns:a="http://schemas.openxmlformats.org/drawingml/2006/main" w="9525">
            <a:solidFill>
              <a:srgbClr val="263554"/>
            </a:solidFill>
            <a:prstDash val="solid"/>
          </a:ln>
        </p:spPr>
      </p:sp>
      <p:sp>
        <p:nvSpPr>
          <p:cNvPr id="32" name="Retângulo: Cantos Arredondados 31">
            <a:extLst xmlns:a="http://schemas.openxmlformats.org/drawingml/2006/main">
              <a:ext uri="{FF2B5EF4-FFF2-40B4-BE49-F238E27FC236}">
                <a16:creationId xmlns:a16="http://schemas.microsoft.com/office/drawing/2014/main" id="{61128575-61C7-46BB-8E51-A71693C59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343150"/>
            <a:ext cx="57150" cy="1200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CF3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3" name="Retângulo 32">
            <a:extLst xmlns:a="http://schemas.openxmlformats.org/drawingml/2006/main">
              <a:ext uri="{FF2B5EF4-FFF2-40B4-BE49-F238E27FC236}">
                <a16:creationId xmlns:a16="http://schemas.microsoft.com/office/drawing/2014/main" id="{74D58985-B6E1-4392-BE13-8A74B55F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514600"/>
            <a:ext cx="14478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8FF"/>
                </a:solidFill>
              </a:defRPr>
            </a:pPr>
            <a:r>
              <a:rPr sz="1500" b="1">
                <a:solidFill>
                  <a:srgbClr val="F5F8FF"/>
                </a:solidFill>
              </a:rPr>
              <a:t>PostgreSQL</a:t>
            </a:r>
          </a:p>
        </p:txBody>
      </p:sp>
      <p:sp>
        <p:nvSpPr>
          <p:cNvPr id="34" name="Retângulo 33">
            <a:extLst xmlns:a="http://schemas.openxmlformats.org/drawingml/2006/main">
              <a:ext uri="{FF2B5EF4-FFF2-40B4-BE49-F238E27FC236}">
                <a16:creationId xmlns:a16="http://schemas.microsoft.com/office/drawing/2014/main" id="{0E6E7753-ABA7-4DE3-876A-7B547451D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857500"/>
            <a:ext cx="14478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EADC6"/>
                </a:solidFill>
              </a:defRPr>
            </a:pPr>
            <a:r>
              <a:rPr sz="1200" b="0">
                <a:solidFill>
                  <a:srgbClr val="9EADC6"/>
                </a:solidFill>
              </a:rPr>
              <a:t>contas, transações</a:t>
            </a:r>
          </a:p>
          <a:p xmlns:a="http://schemas.openxmlformats.org/drawingml/2006/main">
            <a:pPr algn="l">
              <a:buNone/>
              <a:defRPr sz="1200" b="0">
                <a:solidFill>
                  <a:srgbClr val="9EADC6"/>
                </a:solidFill>
              </a:defRPr>
            </a:pPr>
            <a:r>
              <a:rPr sz="1200" b="0">
                <a:solidFill>
                  <a:srgbClr val="9EADC6"/>
                </a:solidFill>
              </a:rPr>
              <a:t>e auditoria</a:t>
            </a:r>
          </a:p>
        </p:txBody>
      </p:sp>
      <p:sp>
        <p:nvSpPr>
          <p:cNvPr id="35" name="Retângulo 34">
            <a:extLst xmlns:a="http://schemas.openxmlformats.org/drawingml/2006/main">
              <a:ext uri="{FF2B5EF4-FFF2-40B4-BE49-F238E27FC236}">
                <a16:creationId xmlns:a16="http://schemas.microsoft.com/office/drawing/2014/main" id="{7A8824A6-5DBE-42EF-A2A8-E9AA4FCB2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195262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FE7FF"/>
                </a:solidFill>
              </a:defRPr>
            </a:pPr>
            <a:r>
              <a:rPr sz="975" b="1">
                <a:solidFill>
                  <a:srgbClr val="3FE7FF"/>
                </a:solidFill>
              </a:rPr>
              <a:t>pedido síncrono</a:t>
            </a:r>
          </a:p>
        </p:txBody>
      </p:sp>
      <p:sp>
        <p:nvSpPr>
          <p:cNvPr id="36" name="Retângulo 35">
            <a:extLst xmlns:a="http://schemas.openxmlformats.org/drawingml/2006/main">
              <a:ext uri="{FF2B5EF4-FFF2-40B4-BE49-F238E27FC236}">
                <a16:creationId xmlns:a16="http://schemas.microsoft.com/office/drawing/2014/main" id="{A62E34BA-B8A5-4343-8D0D-3C2D540B0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91100" y="1952625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C6CFF"/>
                </a:solidFill>
              </a:defRPr>
            </a:pPr>
            <a:r>
              <a:rPr sz="975" b="1">
                <a:solidFill>
                  <a:srgbClr val="8C6CFF"/>
                </a:solidFill>
              </a:rPr>
              <a:t>processamento assíncrono</a:t>
            </a:r>
          </a:p>
        </p:txBody>
      </p:sp>
      <p:sp>
        <p:nvSpPr>
          <p:cNvPr id="37" name="Retângulo 36">
            <a:extLst xmlns:a="http://schemas.openxmlformats.org/drawingml/2006/main">
              <a:ext uri="{FF2B5EF4-FFF2-40B4-BE49-F238E27FC236}">
                <a16:creationId xmlns:a16="http://schemas.microsoft.com/office/drawing/2014/main" id="{39CE758A-750D-4826-A5F5-FA9E3BA4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3676650"/>
            <a:ext cx="2400300" cy="2857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11B34"/>
          </a:solidFill>
          <a:ln xmlns:a="http://schemas.openxmlformats.org/drawingml/2006/main" w="9525">
            <a:solidFill>
              <a:srgbClr val="18B7E5"/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3FE7FF"/>
                </a:solidFill>
              </a:defRPr>
            </a:pPr>
            <a:r>
              <a:rPr sz="900" b="1">
                <a:solidFill>
                  <a:srgbClr val="3FE7FF"/>
                </a:solidFill>
              </a:rPr>
              <a:t>confirmação via WebSocket</a:t>
            </a:r>
          </a:p>
        </p:txBody>
      </p:sp>
      <p:sp>
        <p:nvSpPr>
          <p:cNvPr id="38" name="observability-node">
            <a:extLst xmlns:a="http://schemas.openxmlformats.org/drawingml/2006/main">
              <a:ext uri="{FF2B5EF4-FFF2-40B4-BE49-F238E27FC236}">
                <a16:creationId xmlns:a16="http://schemas.microsoft.com/office/drawing/2014/main" id="{E60BF508-22C5-402E-A466-12139C3C00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4972050"/>
            <a:ext cx="6534150" cy="819150"/>
          </a:xfrm>
          <a:prstGeom xmlns:a="http://schemas.openxmlformats.org/drawingml/2006/main" prst="roundRect">
            <a:avLst>
              <a:gd name="adj" fmla="val 20930"/>
            </a:avLst>
          </a:prstGeom>
          <a:solidFill xmlns:a="http://schemas.openxmlformats.org/drawingml/2006/main">
            <a:srgbClr val="111B34"/>
          </a:solidFill>
          <a:ln xmlns:a="http://schemas.openxmlformats.org/drawingml/2006/main" w="9525">
            <a:solidFill>
              <a:srgbClr val="263554"/>
            </a:solidFill>
            <a:prstDash val="solid"/>
          </a:ln>
        </p:spPr>
      </p:sp>
      <p:sp>
        <p:nvSpPr>
          <p:cNvPr id="39" name="Retângulo 38">
            <a:extLst xmlns:a="http://schemas.openxmlformats.org/drawingml/2006/main">
              <a:ext uri="{FF2B5EF4-FFF2-40B4-BE49-F238E27FC236}">
                <a16:creationId xmlns:a16="http://schemas.microsoft.com/office/drawing/2014/main" id="{9DE1241E-D3F9-447A-9FC9-BF1F18696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1625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5F8FF"/>
                </a:solidFill>
              </a:defRPr>
            </a:pPr>
            <a:r>
              <a:rPr sz="1650" b="1">
                <a:solidFill>
                  <a:srgbClr val="F5F8FF"/>
                </a:solidFill>
              </a:rPr>
              <a:t>Prometheus + Grafana</a:t>
            </a:r>
          </a:p>
        </p:txBody>
      </p:sp>
      <p:sp>
        <p:nvSpPr>
          <p:cNvPr id="40" name="Retângulo 39">
            <a:extLst xmlns:a="http://schemas.openxmlformats.org/drawingml/2006/main">
              <a:ext uri="{FF2B5EF4-FFF2-40B4-BE49-F238E27FC236}">
                <a16:creationId xmlns:a16="http://schemas.microsoft.com/office/drawing/2014/main" id="{496A66DA-11E9-466A-B5AE-8E4EDE0C3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5457825"/>
            <a:ext cx="5715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EADC6"/>
                </a:solidFill>
              </a:defRPr>
            </a:pPr>
            <a:r>
              <a:rPr sz="1200" b="0">
                <a:solidFill>
                  <a:srgbClr val="9EADC6"/>
                </a:solidFill>
              </a:rPr>
              <a:t>latência  •  throughput  •  taxa de erro  •  tamanho da fila</a:t>
            </a:r>
          </a:p>
        </p:txBody>
      </p:sp>
      <p:sp>
        <p:nvSpPr>
          <p:cNvPr id="42" name="websocket-static-worker-leg">
            <a:extLst xmlns:a="http://schemas.openxmlformats.org/drawingml/2006/main">
              <a:ext uri="{FF2B5EF4-FFF2-40B4-BE49-F238E27FC236}">
                <a16:creationId xmlns:a16="http://schemas.microsoft.com/office/drawing/2014/main" id="{005D712B-0223-48C5-AF84-BCF6C7FFD6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86725" y="3543300"/>
            <a:ext cx="0" cy="5524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8B7E5"/>
            </a:solidFill>
            <a:prstDash val="solid"/>
          </a:ln>
        </p:spPr>
      </p:sp>
      <p:sp>
        <p:nvSpPr>
          <p:cNvPr id="43" name="websocket-static-return-base">
            <a:extLst xmlns:a="http://schemas.openxmlformats.org/drawingml/2006/main">
              <a:ext uri="{FF2B5EF4-FFF2-40B4-BE49-F238E27FC236}">
                <a16:creationId xmlns:a16="http://schemas.microsoft.com/office/drawing/2014/main" id="{3F58458C-EEEC-4ECD-81A6-11C0737F5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95750"/>
            <a:ext cx="663892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8B7E5"/>
            </a:solidFill>
            <a:prstDash val="solid"/>
          </a:ln>
        </p:spPr>
      </p:sp>
      <p:sp>
        <p:nvSpPr>
          <p:cNvPr id="44" name="websocket-static-frontend-leg">
            <a:extLst xmlns:a="http://schemas.openxmlformats.org/drawingml/2006/main">
              <a:ext uri="{FF2B5EF4-FFF2-40B4-BE49-F238E27FC236}">
                <a16:creationId xmlns:a16="http://schemas.microsoft.com/office/drawing/2014/main" id="{B3A15910-8B77-4CA8-A99E-198A1D272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657600"/>
            <a:ext cx="0" cy="4381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18B7E5"/>
            </a:solidFill>
            <a:prstDash val="solid"/>
          </a:ln>
        </p:spPr>
      </p:sp>
      <p:sp>
        <p:nvSpPr>
          <p:cNvPr id="45" name="websocket-static-arrowhead">
            <a:extLst xmlns:a="http://schemas.openxmlformats.org/drawingml/2006/main">
              <a:ext uri="{FF2B5EF4-FFF2-40B4-BE49-F238E27FC236}">
                <a16:creationId xmlns:a16="http://schemas.microsoft.com/office/drawing/2014/main" id="{02CC0168-A4EC-4A97-942C-0140B1A42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543300"/>
            <a:ext cx="15240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18B7E5"/>
          </a:solidFill>
          <a:ln xmlns:a="http://schemas.openxmlformats.org/drawingml/2006/main" w="0">
            <a:noFill/>
            <a:prstDash val="solid"/>
          </a:ln>
        </p:spPr>
      </p:sp>
    </p:spTree>
    <p:extLst>
      <p:ext uri="{BB962C8B-B14F-4D97-AF65-F5344CB8AC3E}">
        <p14:creationId xmlns:p14="http://schemas.microsoft.com/office/powerpoint/2010/main" val="190044849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0B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1" name="Elipse 40">
            <a:extLst xmlns:a="http://schemas.openxmlformats.org/drawingml/2006/main">
              <a:ext uri="{FF2B5EF4-FFF2-40B4-BE49-F238E27FC236}">
                <a16:creationId xmlns:a16="http://schemas.microsoft.com/office/drawing/2014/main" id="{9FC44C9C-3879-48E6-9DD2-488385F85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-14287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lipse 1">
            <a:extLst xmlns:a="http://schemas.openxmlformats.org/drawingml/2006/main">
              <a:ext uri="{FF2B5EF4-FFF2-40B4-BE49-F238E27FC236}">
                <a16:creationId xmlns:a16="http://schemas.microsoft.com/office/drawing/2014/main" id="{E0FC68EF-8C10-4209-B1F6-A9064A6735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38250" y="571500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1E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3">
            <a:extLst xmlns:a="http://schemas.openxmlformats.org/drawingml/2006/main">
              <a:ext uri="{FF2B5EF4-FFF2-40B4-BE49-F238E27FC236}">
                <a16:creationId xmlns:a16="http://schemas.microsoft.com/office/drawing/2014/main" id="{8A6D7297-4402-47EF-8CCE-5F725367CA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FE7FF"/>
                </a:solidFill>
              </a:defRPr>
            </a:pPr>
            <a:r>
              <a:rPr sz="900" b="1">
                <a:solidFill>
                  <a:srgbClr val="3FE7FF"/>
                </a:solidFill>
              </a:rPr>
              <a:t>ARQUITETURA</a:t>
            </a:r>
          </a:p>
        </p:txBody>
      </p:sp>
      <p:sp>
        <p:nvSpPr>
          <p:cNvPr id="4" name="Conector reto 3">
            <a:extLst xmlns:a="http://schemas.openxmlformats.org/drawingml/2006/main">
              <a:ext uri="{FF2B5EF4-FFF2-40B4-BE49-F238E27FC236}">
                <a16:creationId xmlns:a16="http://schemas.microsoft.com/office/drawing/2014/main" id="{59EBAED4-0A83-461C-A7B3-2874700CE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554"/>
            </a:solidFill>
            <a:prstDash val="solid"/>
          </a:ln>
        </p:spPr>
      </p:sp>
      <p:sp>
        <p:nvSpPr>
          <p:cNvPr id="5" name="page-3">
            <a:extLst xmlns:a="http://schemas.openxmlformats.org/drawingml/2006/main">
              <a:ext uri="{FF2B5EF4-FFF2-40B4-BE49-F238E27FC236}">
                <a16:creationId xmlns:a16="http://schemas.microsoft.com/office/drawing/2014/main" id="{604D09EB-2AD3-4C0A-858D-EC7FF139C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0718F"/>
                </a:solidFill>
              </a:defRPr>
            </a:pPr>
            <a:r>
              <a:rPr sz="900" b="1">
                <a:solidFill>
                  <a:srgbClr val="60718F"/>
                </a:solidFill>
              </a:rPr>
              <a:t>03A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55B391F-6194-4460-B4F4-6FCF26119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5F8FF"/>
                </a:solidFill>
              </a:defRPr>
            </a:pPr>
            <a:r>
              <a:rPr sz="2700" b="1">
                <a:solidFill>
                  <a:srgbClr val="F5F8FF"/>
                </a:solidFill>
              </a:rPr>
              <a:t>Diagrama de arquitetura do PulsePay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37A0BBD-300F-4D83-8E43-DF37EDC8F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EADC6"/>
                </a:solidFill>
              </a:defRPr>
            </a:pPr>
            <a:r>
              <a:rPr sz="1350" b="0">
                <a:solidFill>
                  <a:srgbClr val="9EADC6"/>
                </a:solidFill>
              </a:rPr>
              <a:t>Visão integrada do fluxo transacional, persistência e observabilidade.</a:t>
            </a:r>
          </a:p>
        </p:txBody>
      </p:sp>
      <p:pic>
        <p:nvPicPr>
          <p:cNvPr id="50" name="architecture-diagram-image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e472e17c1cf4059">
            <a:extLst>
              <a:ext uri="{96DAC541-7B7A-43D3-8B79-37D633B846F1}">
                <asvg:svgBlip xmlns:asvg="http://schemas.microsoft.com/office/drawing/2016/SVG/main" r:embed="R624e59f0723d48d7"/>
              </a:ext>
            </a:extLst>
          </a:blip>
          <a:stretch xmlns:a="http://schemas.openxmlformats.org/drawingml/2006/main"/>
        </p:blipFill>
        <p:spPr>
          <a:xfrm xmlns:a="http://schemas.openxmlformats.org/drawingml/2006/main">
            <a:off x="685800" y="1857375"/>
            <a:ext cx="10820400" cy="4238625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044849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B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Elipse 30">
            <a:extLst xmlns:a="http://schemas.openxmlformats.org/drawingml/2006/main">
              <a:ext uri="{FF2B5EF4-FFF2-40B4-BE49-F238E27FC236}">
                <a16:creationId xmlns:a16="http://schemas.microsoft.com/office/drawing/2014/main" id="{27AB7A14-D328-4295-952B-152DB87ED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-14287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lipse 1">
            <a:extLst xmlns:a="http://schemas.openxmlformats.org/drawingml/2006/main">
              <a:ext uri="{FF2B5EF4-FFF2-40B4-BE49-F238E27FC236}">
                <a16:creationId xmlns:a16="http://schemas.microsoft.com/office/drawing/2014/main" id="{B5399D69-6DDE-464A-98D3-17CD5EE7E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38250" y="571500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1E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4">
            <a:extLst xmlns:a="http://schemas.openxmlformats.org/drawingml/2006/main">
              <a:ext uri="{FF2B5EF4-FFF2-40B4-BE49-F238E27FC236}">
                <a16:creationId xmlns:a16="http://schemas.microsoft.com/office/drawing/2014/main" id="{E3D2FECC-470D-4734-9560-6124500DF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FE7FF"/>
                </a:solidFill>
              </a:defRPr>
            </a:pPr>
            <a:r>
              <a:rPr sz="900" b="1">
                <a:solidFill>
                  <a:srgbClr val="3FE7FF"/>
                </a:solidFill>
              </a:rPr>
              <a:t>FLUXO</a:t>
            </a:r>
          </a:p>
        </p:txBody>
      </p:sp>
      <p:sp>
        <p:nvSpPr>
          <p:cNvPr id="4" name="Conector reto 3">
            <a:extLst xmlns:a="http://schemas.openxmlformats.org/drawingml/2006/main">
              <a:ext uri="{FF2B5EF4-FFF2-40B4-BE49-F238E27FC236}">
                <a16:creationId xmlns:a16="http://schemas.microsoft.com/office/drawing/2014/main" id="{05521005-A1A7-4A3D-B9CE-AE448E8E8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554"/>
            </a:solidFill>
            <a:prstDash val="solid"/>
          </a:ln>
        </p:spPr>
      </p:sp>
      <p:sp>
        <p:nvSpPr>
          <p:cNvPr id="5" name="page-4">
            <a:extLst xmlns:a="http://schemas.openxmlformats.org/drawingml/2006/main">
              <a:ext uri="{FF2B5EF4-FFF2-40B4-BE49-F238E27FC236}">
                <a16:creationId xmlns:a16="http://schemas.microsoft.com/office/drawing/2014/main" id="{8B834002-0FB9-418B-88FB-EE85BF5A2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0718F"/>
                </a:solidFill>
              </a:defRPr>
            </a:pPr>
            <a:r>
              <a:rPr sz="900" b="1">
                <a:solidFill>
                  <a:srgbClr val="60718F"/>
                </a:solidFill>
              </a:rPr>
              <a:t>04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3831A602-45BF-4C10-9E9E-3F6A5C472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5F8FF"/>
                </a:solidFill>
              </a:defRPr>
            </a:pPr>
            <a:r>
              <a:rPr sz="2700" b="1">
                <a:solidFill>
                  <a:srgbClr val="F5F8FF"/>
                </a:solidFill>
              </a:rPr>
              <a:t>A confirmação nasce de um fluxo em cinco etapas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414F34B-1670-4712-8B69-43AAC25CD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EADC6"/>
                </a:solidFill>
              </a:defRPr>
            </a:pPr>
            <a:r>
              <a:rPr sz="1350" b="0">
                <a:solidFill>
                  <a:srgbClr val="9EADC6"/>
                </a:solidFill>
              </a:rPr>
              <a:t>Cada transição deixa estado explícito e evidência para auditoria.</a:t>
            </a:r>
          </a:p>
        </p:txBody>
      </p:sp>
      <p:sp>
        <p:nvSpPr>
          <p:cNvPr id="8" name="transaction-line">
            <a:extLst xmlns:a="http://schemas.openxmlformats.org/drawingml/2006/main">
              <a:ext uri="{FF2B5EF4-FFF2-40B4-BE49-F238E27FC236}">
                <a16:creationId xmlns:a16="http://schemas.microsoft.com/office/drawing/2014/main" id="{A7E931C8-04EF-49CF-A0AE-39D89D355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257550"/>
            <a:ext cx="9334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47625">
            <a:solidFill>
              <a:srgbClr val="263554"/>
            </a:solidFill>
            <a:prstDash val="solid"/>
          </a:ln>
        </p:spPr>
      </p:sp>
      <p:sp>
        <p:nvSpPr>
          <p:cNvPr id="9" name="step-01">
            <a:extLst xmlns:a="http://schemas.openxmlformats.org/drawingml/2006/main">
              <a:ext uri="{FF2B5EF4-FFF2-40B4-BE49-F238E27FC236}">
                <a16:creationId xmlns:a16="http://schemas.microsoft.com/office/drawing/2014/main" id="{12B4957A-5772-404B-8954-B33C7F615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" y="30003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228"/>
          </a:solidFill>
          <a:ln xmlns:a="http://schemas.openxmlformats.org/drawingml/2006/main" w="9525">
            <a:solidFill>
              <a:srgbClr val="3FE7FF"/>
            </a:solidFill>
            <a:prstDash val="solid"/>
          </a:ln>
        </p:spPr>
      </p:sp>
      <p:sp>
        <p:nvSpPr>
          <p:cNvPr id="10" name="Retângulo 9">
            <a:extLst xmlns:a="http://schemas.openxmlformats.org/drawingml/2006/main">
              <a:ext uri="{FF2B5EF4-FFF2-40B4-BE49-F238E27FC236}">
                <a16:creationId xmlns:a16="http://schemas.microsoft.com/office/drawing/2014/main" id="{33C38ABD-459F-4090-93F4-BA6561561E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28725" y="31242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3FE7FF"/>
                </a:solidFill>
              </a:defRPr>
            </a:pPr>
            <a:r>
              <a:rPr sz="1125" b="1">
                <a:solidFill>
                  <a:srgbClr val="3FE7FF"/>
                </a:solidFill>
              </a:rPr>
              <a:t>01</a:t>
            </a:r>
          </a:p>
        </p:txBody>
      </p:sp>
      <p:sp>
        <p:nvSpPr>
          <p:cNvPr id="11" name="Retângulo 10">
            <a:extLst xmlns:a="http://schemas.openxmlformats.org/drawingml/2006/main">
              <a:ext uri="{FF2B5EF4-FFF2-40B4-BE49-F238E27FC236}">
                <a16:creationId xmlns:a16="http://schemas.microsoft.com/office/drawing/2014/main" id="{1DF3C292-9083-4779-A164-AD6818C60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7645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5F8FF"/>
                </a:solidFill>
              </a:defRPr>
            </a:pPr>
            <a:r>
              <a:rPr sz="1650" b="1">
                <a:solidFill>
                  <a:srgbClr val="F5F8FF"/>
                </a:solidFill>
              </a:rPr>
              <a:t>Receber</a:t>
            </a:r>
          </a:p>
        </p:txBody>
      </p:sp>
      <p:sp>
        <p:nvSpPr>
          <p:cNvPr id="12" name="Retângulo 11">
            <a:extLst xmlns:a="http://schemas.openxmlformats.org/drawingml/2006/main">
              <a:ext uri="{FF2B5EF4-FFF2-40B4-BE49-F238E27FC236}">
                <a16:creationId xmlns:a16="http://schemas.microsoft.com/office/drawing/2014/main" id="{2A972AB6-D3DB-45A4-82BF-A439D1D7E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43840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9EADC6"/>
                </a:solidFill>
              </a:defRPr>
            </a:pPr>
            <a:r>
              <a:rPr sz="1200" b="0">
                <a:solidFill>
                  <a:srgbClr val="9EADC6"/>
                </a:solidFill>
              </a:rPr>
              <a:t>JWT e payload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9EADC6"/>
                </a:solidFill>
              </a:defRPr>
            </a:pPr>
            <a:r>
              <a:rPr sz="1200" b="0">
                <a:solidFill>
                  <a:srgbClr val="9EADC6"/>
                </a:solidFill>
              </a:rPr>
              <a:t>validados pela API</a:t>
            </a:r>
          </a:p>
        </p:txBody>
      </p:sp>
      <p:sp>
        <p:nvSpPr>
          <p:cNvPr id="13" name="step-02">
            <a:extLst xmlns:a="http://schemas.openxmlformats.org/drawingml/2006/main">
              <a:ext uri="{FF2B5EF4-FFF2-40B4-BE49-F238E27FC236}">
                <a16:creationId xmlns:a16="http://schemas.microsoft.com/office/drawing/2014/main" id="{1E329A75-3668-4713-9229-E08A392D8D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0003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228"/>
          </a:solidFill>
          <a:ln xmlns:a="http://schemas.openxmlformats.org/drawingml/2006/main" w="9525">
            <a:solidFill>
              <a:srgbClr val="3FE7FF"/>
            </a:solidFill>
            <a:prstDash val="solid"/>
          </a:ln>
        </p:spPr>
      </p:sp>
      <p:sp>
        <p:nvSpPr>
          <p:cNvPr id="14" name="Retângulo 13">
            <a:extLst xmlns:a="http://schemas.openxmlformats.org/drawingml/2006/main">
              <a:ext uri="{FF2B5EF4-FFF2-40B4-BE49-F238E27FC236}">
                <a16:creationId xmlns:a16="http://schemas.microsoft.com/office/drawing/2014/main" id="{D036422F-DAFC-44A7-9F3B-1AAF7268D2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1242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3FE7FF"/>
                </a:solidFill>
              </a:defRPr>
            </a:pPr>
            <a:r>
              <a:rPr sz="1125" b="1">
                <a:solidFill>
                  <a:srgbClr val="3FE7FF"/>
                </a:solidFill>
              </a:rPr>
              <a:t>02</a:t>
            </a:r>
          </a:p>
        </p:txBody>
      </p:sp>
      <p:sp>
        <p:nvSpPr>
          <p:cNvPr id="15" name="Retângulo 14">
            <a:extLst xmlns:a="http://schemas.openxmlformats.org/drawingml/2006/main">
              <a:ext uri="{FF2B5EF4-FFF2-40B4-BE49-F238E27FC236}">
                <a16:creationId xmlns:a16="http://schemas.microsoft.com/office/drawing/2014/main" id="{BED914CA-F720-4F49-B5A6-E45420405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3225" y="382905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5F8FF"/>
                </a:solidFill>
              </a:defRPr>
            </a:pPr>
            <a:r>
              <a:rPr sz="1650" b="1">
                <a:solidFill>
                  <a:srgbClr val="F5F8FF"/>
                </a:solidFill>
              </a:rPr>
              <a:t>Persistir</a:t>
            </a:r>
          </a:p>
        </p:txBody>
      </p:sp>
      <p:sp>
        <p:nvSpPr>
          <p:cNvPr id="16" name="Retângulo 15">
            <a:extLst xmlns:a="http://schemas.openxmlformats.org/drawingml/2006/main">
              <a:ext uri="{FF2B5EF4-FFF2-40B4-BE49-F238E27FC236}">
                <a16:creationId xmlns:a16="http://schemas.microsoft.com/office/drawing/2014/main" id="{9D7A708C-F5BF-47DB-A0AD-EC37CCBBE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19100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9EADC6"/>
                </a:solidFill>
              </a:defRPr>
            </a:pPr>
            <a:r>
              <a:rPr sz="1200" b="0">
                <a:solidFill>
                  <a:srgbClr val="9EADC6"/>
                </a:solidFill>
              </a:rPr>
              <a:t>transação nasce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9EADC6"/>
                </a:solidFill>
              </a:defRPr>
            </a:pPr>
            <a:r>
              <a:rPr sz="1200" b="0">
                <a:solidFill>
                  <a:srgbClr val="9EADC6"/>
                </a:solidFill>
              </a:rPr>
              <a:t>como PENDENTE</a:t>
            </a:r>
          </a:p>
        </p:txBody>
      </p:sp>
      <p:sp>
        <p:nvSpPr>
          <p:cNvPr id="17" name="step-03">
            <a:extLst xmlns:a="http://schemas.openxmlformats.org/drawingml/2006/main">
              <a:ext uri="{FF2B5EF4-FFF2-40B4-BE49-F238E27FC236}">
                <a16:creationId xmlns:a16="http://schemas.microsoft.com/office/drawing/2014/main" id="{001CA9E6-D8FC-433F-87F1-F18E22F8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825" y="30003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228"/>
          </a:solidFill>
          <a:ln xmlns:a="http://schemas.openxmlformats.org/drawingml/2006/main" w="9525">
            <a:solidFill>
              <a:srgbClr val="8C6CFF"/>
            </a:solidFill>
            <a:prstDash val="solid"/>
          </a:ln>
        </p:spPr>
      </p:sp>
      <p:sp>
        <p:nvSpPr>
          <p:cNvPr id="18" name="Retângulo 17">
            <a:extLst xmlns:a="http://schemas.openxmlformats.org/drawingml/2006/main">
              <a:ext uri="{FF2B5EF4-FFF2-40B4-BE49-F238E27FC236}">
                <a16:creationId xmlns:a16="http://schemas.microsoft.com/office/drawing/2014/main" id="{686324A7-EE10-43B5-A5CE-6C06A8F48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5975" y="31242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8C6CFF"/>
                </a:solidFill>
              </a:defRPr>
            </a:pPr>
            <a:r>
              <a:rPr sz="1125" b="1">
                <a:solidFill>
                  <a:srgbClr val="8C6CFF"/>
                </a:solidFill>
              </a:rPr>
              <a:t>03</a:t>
            </a:r>
          </a:p>
        </p:txBody>
      </p:sp>
      <p:sp>
        <p:nvSpPr>
          <p:cNvPr id="19" name="Retângulo 18">
            <a:extLst xmlns:a="http://schemas.openxmlformats.org/drawingml/2006/main">
              <a:ext uri="{FF2B5EF4-FFF2-40B4-BE49-F238E27FC236}">
                <a16:creationId xmlns:a16="http://schemas.microsoft.com/office/drawing/2014/main" id="{9B8FFA51-CEDD-4AEC-9E3D-7A73301F2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76850" y="207645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5F8FF"/>
                </a:solidFill>
              </a:defRPr>
            </a:pPr>
            <a:r>
              <a:rPr sz="1650" b="1">
                <a:solidFill>
                  <a:srgbClr val="F5F8FF"/>
                </a:solidFill>
              </a:rPr>
              <a:t>Enfileirar</a:t>
            </a:r>
          </a:p>
        </p:txBody>
      </p:sp>
      <p:sp>
        <p:nvSpPr>
          <p:cNvPr id="20" name="Retângulo 19">
            <a:extLst xmlns:a="http://schemas.openxmlformats.org/drawingml/2006/main">
              <a:ext uri="{FF2B5EF4-FFF2-40B4-BE49-F238E27FC236}">
                <a16:creationId xmlns:a16="http://schemas.microsoft.com/office/drawing/2014/main" id="{5D6A3F0D-49AB-4DEE-84BD-F9B63AB68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43840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9EADC6"/>
                </a:solidFill>
              </a:defRPr>
            </a:pPr>
            <a:r>
              <a:rPr sz="1200" b="0">
                <a:solidFill>
                  <a:srgbClr val="9EADC6"/>
                </a:solidFill>
              </a:rPr>
              <a:t>RabbitMQ recebe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9EADC6"/>
                </a:solidFill>
              </a:defRPr>
            </a:pPr>
            <a:r>
              <a:rPr sz="1200" b="0">
                <a:solidFill>
                  <a:srgbClr val="9EADC6"/>
                </a:solidFill>
              </a:rPr>
              <a:t>o pedido</a:t>
            </a:r>
          </a:p>
        </p:txBody>
      </p:sp>
      <p:sp>
        <p:nvSpPr>
          <p:cNvPr id="21" name="step-04">
            <a:extLst xmlns:a="http://schemas.openxmlformats.org/drawingml/2006/main">
              <a:ext uri="{FF2B5EF4-FFF2-40B4-BE49-F238E27FC236}">
                <a16:creationId xmlns:a16="http://schemas.microsoft.com/office/drawing/2014/main" id="{E9BDA299-EFA8-4F63-92C8-24B20EFB0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2450" y="30003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228"/>
          </a:solidFill>
          <a:ln xmlns:a="http://schemas.openxmlformats.org/drawingml/2006/main" w="9525">
            <a:solidFill>
              <a:srgbClr val="8C6CFF"/>
            </a:solidFill>
            <a:prstDash val="solid"/>
          </a:ln>
        </p:spPr>
      </p:sp>
      <p:sp>
        <p:nvSpPr>
          <p:cNvPr id="22" name="Retângulo 21">
            <a:extLst xmlns:a="http://schemas.openxmlformats.org/drawingml/2006/main">
              <a:ext uri="{FF2B5EF4-FFF2-40B4-BE49-F238E27FC236}">
                <a16:creationId xmlns:a16="http://schemas.microsoft.com/office/drawing/2014/main" id="{85B2A687-05BD-4C5E-91DF-013CAFF64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31242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8C6CFF"/>
                </a:solidFill>
              </a:defRPr>
            </a:pPr>
            <a:r>
              <a:rPr sz="1125" b="1">
                <a:solidFill>
                  <a:srgbClr val="8C6CFF"/>
                </a:solidFill>
              </a:rPr>
              <a:t>04</a:t>
            </a:r>
          </a:p>
        </p:txBody>
      </p:sp>
      <p:sp>
        <p:nvSpPr>
          <p:cNvPr id="23" name="Retângulo 22">
            <a:extLst xmlns:a="http://schemas.openxmlformats.org/drawingml/2006/main">
              <a:ext uri="{FF2B5EF4-FFF2-40B4-BE49-F238E27FC236}">
                <a16:creationId xmlns:a16="http://schemas.microsoft.com/office/drawing/2014/main" id="{AB512029-8B54-40B0-8CC7-C41E7DF4A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10475" y="382905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5F8FF"/>
                </a:solidFill>
              </a:defRPr>
            </a:pPr>
            <a:r>
              <a:rPr sz="1650" b="1">
                <a:solidFill>
                  <a:srgbClr val="F5F8FF"/>
                </a:solidFill>
              </a:rPr>
              <a:t>Efetivar</a:t>
            </a:r>
          </a:p>
        </p:txBody>
      </p:sp>
      <p:sp>
        <p:nvSpPr>
          <p:cNvPr id="24" name="Retângulo 23">
            <a:extLst xmlns:a="http://schemas.openxmlformats.org/drawingml/2006/main">
              <a:ext uri="{FF2B5EF4-FFF2-40B4-BE49-F238E27FC236}">
                <a16:creationId xmlns:a16="http://schemas.microsoft.com/office/drawing/2014/main" id="{E2512A53-B28A-4071-BA3B-8CCB128FB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419100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9EADC6"/>
                </a:solidFill>
              </a:defRPr>
            </a:pPr>
            <a:r>
              <a:rPr sz="1200" b="0">
                <a:solidFill>
                  <a:srgbClr val="9EADC6"/>
                </a:solidFill>
              </a:rPr>
              <a:t>Worker aplica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9EADC6"/>
                </a:solidFill>
              </a:defRPr>
            </a:pPr>
            <a:r>
              <a:rPr sz="1200" b="0">
                <a:solidFill>
                  <a:srgbClr val="9EADC6"/>
                </a:solidFill>
              </a:rPr>
              <a:t>débito + crédito</a:t>
            </a:r>
          </a:p>
        </p:txBody>
      </p:sp>
      <p:sp>
        <p:nvSpPr>
          <p:cNvPr id="25" name="step-05">
            <a:extLst xmlns:a="http://schemas.openxmlformats.org/drawingml/2006/main">
              <a:ext uri="{FF2B5EF4-FFF2-40B4-BE49-F238E27FC236}">
                <a16:creationId xmlns:a16="http://schemas.microsoft.com/office/drawing/2014/main" id="{A361133E-AD43-48F5-8D9A-F18ED7081A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3000375"/>
            <a:ext cx="514350" cy="5143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228"/>
          </a:solidFill>
          <a:ln xmlns:a="http://schemas.openxmlformats.org/drawingml/2006/main" w="9525">
            <a:solidFill>
              <a:srgbClr val="6CF3B5"/>
            </a:solidFill>
            <a:prstDash val="solid"/>
          </a:ln>
        </p:spPr>
      </p:sp>
      <p:sp>
        <p:nvSpPr>
          <p:cNvPr id="26" name="Retângulo 25">
            <a:extLst xmlns:a="http://schemas.openxmlformats.org/drawingml/2006/main">
              <a:ext uri="{FF2B5EF4-FFF2-40B4-BE49-F238E27FC236}">
                <a16:creationId xmlns:a16="http://schemas.microsoft.com/office/drawing/2014/main" id="{2FFFD828-A811-4890-81F7-728DD89C78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63225" y="31242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6CF3B5"/>
                </a:solidFill>
              </a:defRPr>
            </a:pPr>
            <a:r>
              <a:rPr sz="1125" b="1">
                <a:solidFill>
                  <a:srgbClr val="6CF3B5"/>
                </a:solidFill>
              </a:rPr>
              <a:t>05</a:t>
            </a:r>
          </a:p>
        </p:txBody>
      </p:sp>
      <p:sp>
        <p:nvSpPr>
          <p:cNvPr id="27" name="Retângulo 26">
            <a:extLst xmlns:a="http://schemas.openxmlformats.org/drawingml/2006/main">
              <a:ext uri="{FF2B5EF4-FFF2-40B4-BE49-F238E27FC236}">
                <a16:creationId xmlns:a16="http://schemas.microsoft.com/office/drawing/2014/main" id="{C41D8827-C7B7-4204-9E24-0619CA99E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076450"/>
            <a:ext cx="16383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5F8FF"/>
                </a:solidFill>
              </a:defRPr>
            </a:pPr>
            <a:r>
              <a:rPr sz="1650" b="1">
                <a:solidFill>
                  <a:srgbClr val="F5F8FF"/>
                </a:solidFill>
              </a:rPr>
              <a:t>Confirmar</a:t>
            </a:r>
          </a:p>
        </p:txBody>
      </p:sp>
      <p:sp>
        <p:nvSpPr>
          <p:cNvPr id="28" name="Retângulo 27">
            <a:extLst xmlns:a="http://schemas.openxmlformats.org/drawingml/2006/main">
              <a:ext uri="{FF2B5EF4-FFF2-40B4-BE49-F238E27FC236}">
                <a16:creationId xmlns:a16="http://schemas.microsoft.com/office/drawing/2014/main" id="{C8DC2D55-305F-431C-96DF-8A1B7FBF2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58375" y="2438400"/>
            <a:ext cx="1809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0">
                <a:solidFill>
                  <a:srgbClr val="9EADC6"/>
                </a:solidFill>
              </a:defRPr>
            </a:pPr>
            <a:r>
              <a:rPr sz="1200" b="0">
                <a:solidFill>
                  <a:srgbClr val="9EADC6"/>
                </a:solidFill>
              </a:rPr>
              <a:t>CONCLUÍDO +</a:t>
            </a:r>
          </a:p>
          <a:p xmlns:a="http://schemas.openxmlformats.org/drawingml/2006/main">
            <a:pPr algn="ctr">
              <a:buNone/>
              <a:defRPr sz="1200" b="0">
                <a:solidFill>
                  <a:srgbClr val="9EADC6"/>
                </a:solidFill>
              </a:defRPr>
            </a:pPr>
            <a:r>
              <a:rPr sz="1200" b="0">
                <a:solidFill>
                  <a:srgbClr val="9EADC6"/>
                </a:solidFill>
              </a:rPr>
              <a:t>WebSocket + log</a:t>
            </a:r>
          </a:p>
        </p:txBody>
      </p:sp>
      <p:sp>
        <p:nvSpPr>
          <p:cNvPr id="29" name="Retângulo: Cantos Arredondados 28">
            <a:extLst xmlns:a="http://schemas.openxmlformats.org/drawingml/2006/main">
              <a:ext uri="{FF2B5EF4-FFF2-40B4-BE49-F238E27FC236}">
                <a16:creationId xmlns:a16="http://schemas.microsoft.com/office/drawing/2014/main" id="{E93E18B4-77E1-47B4-91D1-D5407BF3B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5238750"/>
            <a:ext cx="7658100" cy="590550"/>
          </a:xfrm>
          <a:prstGeom xmlns:a="http://schemas.openxmlformats.org/drawingml/2006/main" prst="roundRect">
            <a:avLst>
              <a:gd name="adj" fmla="val 25806"/>
            </a:avLst>
          </a:prstGeom>
          <a:solidFill xmlns:a="http://schemas.openxmlformats.org/drawingml/2006/main">
            <a:srgbClr val="111B34"/>
          </a:solidFill>
          <a:ln xmlns:a="http://schemas.openxmlformats.org/drawingml/2006/main" w="9525">
            <a:solidFill>
              <a:srgbClr val="263554"/>
            </a:solidFill>
            <a:prstDash val="solid"/>
          </a:ln>
        </p:spPr>
      </p:sp>
      <p:sp>
        <p:nvSpPr>
          <p:cNvPr id="30" name="Retângulo 29">
            <a:extLst xmlns:a="http://schemas.openxmlformats.org/drawingml/2006/main">
              <a:ext uri="{FF2B5EF4-FFF2-40B4-BE49-F238E27FC236}">
                <a16:creationId xmlns:a16="http://schemas.microsoft.com/office/drawing/2014/main" id="{71E594D4-F98B-4164-8A09-16877B1A2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10200"/>
            <a:ext cx="723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6CF3B5"/>
                </a:solidFill>
              </a:defRPr>
            </a:pPr>
            <a:r>
              <a:rPr sz="1350" b="1">
                <a:solidFill>
                  <a:srgbClr val="6CF3B5"/>
                </a:solidFill>
              </a:rPr>
              <a:t>Princípio de integridade: nenhuma etapa aplica saldo duas vezes.</a:t>
            </a:r>
          </a:p>
        </p:txBody>
      </p:sp>
    </p:spTree>
    <p:extLst>
      <p:ext uri="{BB962C8B-B14F-4D97-AF65-F5344CB8AC3E}">
        <p14:creationId xmlns:p14="http://schemas.microsoft.com/office/powerpoint/2010/main" val="212682952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0B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Elipse 27">
            <a:extLst xmlns:a="http://schemas.openxmlformats.org/drawingml/2006/main">
              <a:ext uri="{FF2B5EF4-FFF2-40B4-BE49-F238E27FC236}">
                <a16:creationId xmlns:a16="http://schemas.microsoft.com/office/drawing/2014/main" id="{876BBEF4-6FED-4059-BFB0-FCCE46B1E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-14287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lipse 1">
            <a:extLst xmlns:a="http://schemas.openxmlformats.org/drawingml/2006/main">
              <a:ext uri="{FF2B5EF4-FFF2-40B4-BE49-F238E27FC236}">
                <a16:creationId xmlns:a16="http://schemas.microsoft.com/office/drawing/2014/main" id="{CF196AFD-954B-46C5-87D0-7C50EDBC54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38250" y="571500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1E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6">
            <a:extLst xmlns:a="http://schemas.openxmlformats.org/drawingml/2006/main">
              <a:ext uri="{FF2B5EF4-FFF2-40B4-BE49-F238E27FC236}">
                <a16:creationId xmlns:a16="http://schemas.microsoft.com/office/drawing/2014/main" id="{F75747D1-A69C-498B-BB11-DC30B200AC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FE7FF"/>
                </a:solidFill>
              </a:defRPr>
            </a:pPr>
            <a:r>
              <a:rPr sz="900" b="1">
                <a:solidFill>
                  <a:srgbClr val="3FE7FF"/>
                </a:solidFill>
              </a:rPr>
              <a:t>SEGURANÇA</a:t>
            </a:r>
          </a:p>
        </p:txBody>
      </p:sp>
      <p:sp>
        <p:nvSpPr>
          <p:cNvPr id="4" name="Conector reto 3">
            <a:extLst xmlns:a="http://schemas.openxmlformats.org/drawingml/2006/main">
              <a:ext uri="{FF2B5EF4-FFF2-40B4-BE49-F238E27FC236}">
                <a16:creationId xmlns:a16="http://schemas.microsoft.com/office/drawing/2014/main" id="{1CA645E5-C463-49D3-8031-8D4A33F84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554"/>
            </a:solidFill>
            <a:prstDash val="solid"/>
          </a:ln>
        </p:spPr>
      </p:sp>
      <p:sp>
        <p:nvSpPr>
          <p:cNvPr id="5" name="page-6">
            <a:extLst xmlns:a="http://schemas.openxmlformats.org/drawingml/2006/main">
              <a:ext uri="{FF2B5EF4-FFF2-40B4-BE49-F238E27FC236}">
                <a16:creationId xmlns:a16="http://schemas.microsoft.com/office/drawing/2014/main" id="{ECDE2CA4-AE1A-4511-8BA1-86B2302C3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0718F"/>
                </a:solidFill>
              </a:defRPr>
            </a:pPr>
            <a:r>
              <a:rPr sz="900" b="1">
                <a:solidFill>
                  <a:srgbClr val="60718F"/>
                </a:solidFill>
              </a:rPr>
              <a:t>06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4B187045-0547-492D-A5A5-7C3DB1395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5F8FF"/>
                </a:solidFill>
              </a:defRPr>
            </a:pPr>
            <a:r>
              <a:rPr sz="2700" b="1">
                <a:solidFill>
                  <a:srgbClr val="F5F8FF"/>
                </a:solidFill>
              </a:rPr>
              <a:t>Segurança e auditoria entram no desenho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0305EFCE-09EB-417A-8BCB-3E770354E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EADC6"/>
                </a:solidFill>
              </a:defRPr>
            </a:pPr>
            <a:r>
              <a:rPr sz="1350" b="0">
                <a:solidFill>
                  <a:srgbClr val="9EADC6"/>
                </a:solidFill>
              </a:rPr>
              <a:t>Controles didáticos reduzem risco sem fingir maturidade bancária.</a:t>
            </a:r>
          </a:p>
        </p:txBody>
      </p:sp>
      <p:sp>
        <p:nvSpPr>
          <p:cNvPr id="8" name="Retângulo: Cantos Arredondados 7">
            <a:extLst xmlns:a="http://schemas.openxmlformats.org/drawingml/2006/main">
              <a:ext uri="{FF2B5EF4-FFF2-40B4-BE49-F238E27FC236}">
                <a16:creationId xmlns:a16="http://schemas.microsoft.com/office/drawing/2014/main" id="{F5F022DE-8AA0-4CBE-A0BC-D2BC034C2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895350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111B34"/>
          </a:solidFill>
          <a:ln xmlns:a="http://schemas.openxmlformats.org/drawingml/2006/main" w="9525">
            <a:solidFill>
              <a:srgbClr val="263554"/>
            </a:solidFill>
            <a:prstDash val="solid"/>
          </a:ln>
        </p:spPr>
      </p:sp>
      <p:sp>
        <p:nvSpPr>
          <p:cNvPr id="9" name="Retângulo 8">
            <a:extLst xmlns:a="http://schemas.openxmlformats.org/drawingml/2006/main">
              <a:ext uri="{FF2B5EF4-FFF2-40B4-BE49-F238E27FC236}">
                <a16:creationId xmlns:a16="http://schemas.microsoft.com/office/drawing/2014/main" id="{3A048BC1-DACF-4AD9-BE30-0FC8563FD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1717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FE7FF"/>
                </a:solidFill>
              </a:defRPr>
            </a:pPr>
            <a:r>
              <a:rPr sz="1500" b="1">
                <a:solidFill>
                  <a:srgbClr val="3FE7FF"/>
                </a:solidFill>
              </a:rPr>
              <a:t>01</a:t>
            </a:r>
          </a:p>
        </p:txBody>
      </p:sp>
      <p:sp>
        <p:nvSpPr>
          <p:cNvPr id="10" name="Retângulo 9">
            <a:extLst xmlns:a="http://schemas.openxmlformats.org/drawingml/2006/main">
              <a:ext uri="{FF2B5EF4-FFF2-40B4-BE49-F238E27FC236}">
                <a16:creationId xmlns:a16="http://schemas.microsoft.com/office/drawing/2014/main" id="{F44651CE-8592-4186-A738-B72578827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1145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8FF"/>
                </a:solidFill>
              </a:defRPr>
            </a:pPr>
            <a:r>
              <a:rPr sz="1500" b="1">
                <a:solidFill>
                  <a:srgbClr val="F5F8FF"/>
                </a:solidFill>
              </a:rPr>
              <a:t>Acesso autenticado</a:t>
            </a:r>
          </a:p>
        </p:txBody>
      </p:sp>
      <p:sp>
        <p:nvSpPr>
          <p:cNvPr id="11" name="Retângulo 10">
            <a:extLst xmlns:a="http://schemas.openxmlformats.org/drawingml/2006/main">
              <a:ext uri="{FF2B5EF4-FFF2-40B4-BE49-F238E27FC236}">
                <a16:creationId xmlns:a16="http://schemas.microsoft.com/office/drawing/2014/main" id="{372FADB0-6BBB-4F45-93D6-66AC901E9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381250"/>
            <a:ext cx="7000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EADC6"/>
                </a:solidFill>
              </a:defRPr>
            </a:pPr>
            <a:r>
              <a:rPr sz="1200" b="0">
                <a:solidFill>
                  <a:srgbClr val="9EADC6"/>
                </a:solidFill>
              </a:rPr>
              <a:t>JWT protege rotas de conta e transferência; token expira.</a:t>
            </a:r>
          </a:p>
        </p:txBody>
      </p:sp>
      <p:sp>
        <p:nvSpPr>
          <p:cNvPr id="12" name="Retângulo: Cantos Arredondados 11">
            <a:extLst xmlns:a="http://schemas.openxmlformats.org/drawingml/2006/main">
              <a:ext uri="{FF2B5EF4-FFF2-40B4-BE49-F238E27FC236}">
                <a16:creationId xmlns:a16="http://schemas.microsoft.com/office/drawing/2014/main" id="{A8415A58-AFF0-4D18-99DA-7BA1F0CF7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819150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111B34"/>
          </a:solidFill>
          <a:ln xmlns:a="http://schemas.openxmlformats.org/drawingml/2006/main" w="9525">
            <a:solidFill>
              <a:srgbClr val="263554"/>
            </a:solidFill>
            <a:prstDash val="solid"/>
          </a:ln>
        </p:spPr>
      </p:sp>
      <p:sp>
        <p:nvSpPr>
          <p:cNvPr id="13" name="Retângulo 12">
            <a:extLst xmlns:a="http://schemas.openxmlformats.org/drawingml/2006/main">
              <a:ext uri="{FF2B5EF4-FFF2-40B4-BE49-F238E27FC236}">
                <a16:creationId xmlns:a16="http://schemas.microsoft.com/office/drawing/2014/main" id="{83FF1739-B188-4FBC-975B-10B67C169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99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CF3B5"/>
                </a:solidFill>
              </a:defRPr>
            </a:pPr>
            <a:r>
              <a:rPr sz="1500" b="1">
                <a:solidFill>
                  <a:srgbClr val="6CF3B5"/>
                </a:solidFill>
              </a:rPr>
              <a:t>02</a:t>
            </a:r>
          </a:p>
        </p:txBody>
      </p:sp>
      <p:sp>
        <p:nvSpPr>
          <p:cNvPr id="14" name="Retângulo 13">
            <a:extLst xmlns:a="http://schemas.openxmlformats.org/drawingml/2006/main">
              <a:ext uri="{FF2B5EF4-FFF2-40B4-BE49-F238E27FC236}">
                <a16:creationId xmlns:a16="http://schemas.microsoft.com/office/drawing/2014/main" id="{58DFE4DB-0481-46DC-B703-A77C235B7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29527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8FF"/>
                </a:solidFill>
              </a:defRPr>
            </a:pPr>
            <a:r>
              <a:rPr sz="1500" b="1">
                <a:solidFill>
                  <a:srgbClr val="F5F8FF"/>
                </a:solidFill>
              </a:rPr>
              <a:t>Credenciais e entrada</a:t>
            </a:r>
          </a:p>
        </p:txBody>
      </p:sp>
      <p:sp>
        <p:nvSpPr>
          <p:cNvPr id="15" name="Retângulo 14">
            <a:extLst xmlns:a="http://schemas.openxmlformats.org/drawingml/2006/main">
              <a:ext uri="{FF2B5EF4-FFF2-40B4-BE49-F238E27FC236}">
                <a16:creationId xmlns:a16="http://schemas.microsoft.com/office/drawing/2014/main" id="{32CBD866-A5C3-49AB-B5CD-BB4E50DE6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219450"/>
            <a:ext cx="6238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EADC6"/>
                </a:solidFill>
              </a:defRPr>
            </a:pPr>
            <a:r>
              <a:rPr sz="1200" b="0">
                <a:solidFill>
                  <a:srgbClr val="9EADC6"/>
                </a:solidFill>
              </a:rPr>
              <a:t>bcrypt para senha; zod/joi para payloads bem formados.</a:t>
            </a:r>
          </a:p>
        </p:txBody>
      </p:sp>
      <p:sp>
        <p:nvSpPr>
          <p:cNvPr id="16" name="Retângulo: Cantos Arredondados 15">
            <a:extLst xmlns:a="http://schemas.openxmlformats.org/drawingml/2006/main">
              <a:ext uri="{FF2B5EF4-FFF2-40B4-BE49-F238E27FC236}">
                <a16:creationId xmlns:a16="http://schemas.microsoft.com/office/drawing/2014/main" id="{268E1020-B913-47FA-A685-280B32B10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57600"/>
            <a:ext cx="742950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111B34"/>
          </a:solidFill>
          <a:ln xmlns:a="http://schemas.openxmlformats.org/drawingml/2006/main" w="9525">
            <a:solidFill>
              <a:srgbClr val="263554"/>
            </a:solidFill>
            <a:prstDash val="solid"/>
          </a:ln>
        </p:spPr>
      </p:sp>
      <p:sp>
        <p:nvSpPr>
          <p:cNvPr id="17" name="Retângulo 16">
            <a:extLst xmlns:a="http://schemas.openxmlformats.org/drawingml/2006/main">
              <a:ext uri="{FF2B5EF4-FFF2-40B4-BE49-F238E27FC236}">
                <a16:creationId xmlns:a16="http://schemas.microsoft.com/office/drawing/2014/main" id="{F1674CAA-FD77-4311-B635-DFFAACAF6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8481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8C6CFF"/>
                </a:solidFill>
              </a:defRPr>
            </a:pPr>
            <a:r>
              <a:rPr sz="1500" b="1">
                <a:solidFill>
                  <a:srgbClr val="8C6CFF"/>
                </a:solidFill>
              </a:rPr>
              <a:t>03</a:t>
            </a:r>
          </a:p>
        </p:txBody>
      </p:sp>
      <p:sp>
        <p:nvSpPr>
          <p:cNvPr id="18" name="Retângulo 17">
            <a:extLst xmlns:a="http://schemas.openxmlformats.org/drawingml/2006/main">
              <a:ext uri="{FF2B5EF4-FFF2-40B4-BE49-F238E27FC236}">
                <a16:creationId xmlns:a16="http://schemas.microsoft.com/office/drawing/2014/main" id="{E899E9D9-03EA-4FF8-9CB5-DFEC8EED5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37909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8FF"/>
                </a:solidFill>
              </a:defRPr>
            </a:pPr>
            <a:r>
              <a:rPr sz="1500" b="1">
                <a:solidFill>
                  <a:srgbClr val="F5F8FF"/>
                </a:solidFill>
              </a:rPr>
              <a:t>Segredos e rede</a:t>
            </a:r>
          </a:p>
        </p:txBody>
      </p:sp>
      <p:sp>
        <p:nvSpPr>
          <p:cNvPr id="19" name="Retângulo 18">
            <a:extLst xmlns:a="http://schemas.openxmlformats.org/drawingml/2006/main">
              <a:ext uri="{FF2B5EF4-FFF2-40B4-BE49-F238E27FC236}">
                <a16:creationId xmlns:a16="http://schemas.microsoft.com/office/drawing/2014/main" id="{2D5305D5-471C-40FA-90F9-753EE59CD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057650"/>
            <a:ext cx="5476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EADC6"/>
                </a:solidFill>
              </a:defRPr>
            </a:pPr>
            <a:r>
              <a:rPr sz="1200" b="0">
                <a:solidFill>
                  <a:srgbClr val="9EADC6"/>
                </a:solidFill>
              </a:rPr>
              <a:t>.env não versionado; containers em rede interna com portas mínimas.</a:t>
            </a:r>
          </a:p>
        </p:txBody>
      </p:sp>
      <p:sp>
        <p:nvSpPr>
          <p:cNvPr id="20" name="Retângulo: Cantos Arredondados 19">
            <a:extLst xmlns:a="http://schemas.openxmlformats.org/drawingml/2006/main">
              <a:ext uri="{FF2B5EF4-FFF2-40B4-BE49-F238E27FC236}">
                <a16:creationId xmlns:a16="http://schemas.microsoft.com/office/drawing/2014/main" id="{FB315D15-A9A0-43AD-961D-2017D0FE6F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6667500" cy="723900"/>
          </a:xfrm>
          <a:prstGeom xmlns:a="http://schemas.openxmlformats.org/drawingml/2006/main" prst="roundRect">
            <a:avLst>
              <a:gd name="adj" fmla="val 23684"/>
            </a:avLst>
          </a:prstGeom>
          <a:solidFill xmlns:a="http://schemas.openxmlformats.org/drawingml/2006/main">
            <a:srgbClr val="111B34"/>
          </a:solidFill>
          <a:ln xmlns:a="http://schemas.openxmlformats.org/drawingml/2006/main" w="9525">
            <a:solidFill>
              <a:srgbClr val="263554"/>
            </a:solidFill>
            <a:prstDash val="solid"/>
          </a:ln>
        </p:spPr>
      </p:sp>
      <p:sp>
        <p:nvSpPr>
          <p:cNvPr id="21" name="Retângulo 20">
            <a:extLst xmlns:a="http://schemas.openxmlformats.org/drawingml/2006/main">
              <a:ext uri="{FF2B5EF4-FFF2-40B4-BE49-F238E27FC236}">
                <a16:creationId xmlns:a16="http://schemas.microsoft.com/office/drawing/2014/main" id="{A7DB67BA-9A40-4C76-8B89-9D9100349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686300"/>
            <a:ext cx="457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5CB8"/>
                </a:solidFill>
              </a:defRPr>
            </a:pPr>
            <a:r>
              <a:rPr sz="1500" b="1">
                <a:solidFill>
                  <a:srgbClr val="FF5CB8"/>
                </a:solidFill>
              </a:rPr>
              <a:t>04</a:t>
            </a:r>
          </a:p>
        </p:txBody>
      </p:sp>
      <p:sp>
        <p:nvSpPr>
          <p:cNvPr id="22" name="Retângulo 21">
            <a:extLst xmlns:a="http://schemas.openxmlformats.org/drawingml/2006/main">
              <a:ext uri="{FF2B5EF4-FFF2-40B4-BE49-F238E27FC236}">
                <a16:creationId xmlns:a16="http://schemas.microsoft.com/office/drawing/2014/main" id="{16B909CD-13F2-4C80-8B74-C6A23BA11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629150"/>
            <a:ext cx="3048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8FF"/>
                </a:solidFill>
              </a:defRPr>
            </a:pPr>
            <a:r>
              <a:rPr sz="1500" b="1">
                <a:solidFill>
                  <a:srgbClr val="F5F8FF"/>
                </a:solidFill>
              </a:rPr>
              <a:t>Auditoria imutável</a:t>
            </a:r>
          </a:p>
        </p:txBody>
      </p:sp>
      <p:sp>
        <p:nvSpPr>
          <p:cNvPr id="23" name="Retângulo 22">
            <a:extLst xmlns:a="http://schemas.openxmlformats.org/drawingml/2006/main">
              <a:ext uri="{FF2B5EF4-FFF2-40B4-BE49-F238E27FC236}">
                <a16:creationId xmlns:a16="http://schemas.microsoft.com/office/drawing/2014/main" id="{8B1B8EAC-DFF2-452B-ACB3-423355794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24000" y="4895850"/>
            <a:ext cx="471487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EADC6"/>
                </a:solidFill>
              </a:defRPr>
            </a:pPr>
            <a:r>
              <a:rPr sz="1200" b="0">
                <a:solidFill>
                  <a:srgbClr val="9EADC6"/>
                </a:solidFill>
              </a:rPr>
              <a:t>Tabela append-only; trigger bloqueia UPDATE e DELETE.</a:t>
            </a:r>
          </a:p>
        </p:txBody>
      </p:sp>
      <p:sp>
        <p:nvSpPr>
          <p:cNvPr id="24" name="Retângulo 23">
            <a:extLst xmlns:a="http://schemas.openxmlformats.org/drawingml/2006/main">
              <a:ext uri="{FF2B5EF4-FFF2-40B4-BE49-F238E27FC236}">
                <a16:creationId xmlns:a16="http://schemas.microsoft.com/office/drawing/2014/main" id="{1C720637-51B8-4B0C-9860-91A2676EF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2305050"/>
            <a:ext cx="1809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CA6A"/>
                </a:solidFill>
              </a:defRPr>
            </a:pPr>
            <a:r>
              <a:rPr sz="1350" b="1">
                <a:solidFill>
                  <a:srgbClr val="FFCA6A"/>
                </a:solidFill>
              </a:rPr>
              <a:t>O que permanece como evolução</a:t>
            </a:r>
          </a:p>
        </p:txBody>
      </p:sp>
      <p:sp>
        <p:nvSpPr>
          <p:cNvPr id="25" name="Retângulo 24">
            <a:extLst xmlns:a="http://schemas.openxmlformats.org/drawingml/2006/main">
              <a:ext uri="{FF2B5EF4-FFF2-40B4-BE49-F238E27FC236}">
                <a16:creationId xmlns:a16="http://schemas.microsoft.com/office/drawing/2014/main" id="{C553D40B-AB0F-4AF9-AE96-4C6641A7F5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3067050"/>
            <a:ext cx="19050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EADC6"/>
                </a:solidFill>
              </a:defRPr>
            </a:pPr>
            <a:r>
              <a:rPr sz="1350" b="0">
                <a:solidFill>
                  <a:srgbClr val="9EADC6"/>
                </a:solidFill>
              </a:rPr>
              <a:t>MFA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9EADC6"/>
                </a:solidFill>
              </a:defRPr>
            </a:pPr>
            <a:r>
              <a:rPr sz="1350" b="0">
                <a:solidFill>
                  <a:srgbClr val="9EADC6"/>
                </a:solidFill>
              </a:rPr>
              <a:t>Criptografia em repouso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9EADC6"/>
                </a:solidFill>
              </a:defRPr>
            </a:pPr>
            <a:r>
              <a:rPr sz="1350" b="0">
                <a:solidFill>
                  <a:srgbClr val="9EADC6"/>
                </a:solidFill>
              </a:rPr>
              <a:t>WAF e pentest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9EADC6"/>
                </a:solidFill>
              </a:defRPr>
            </a:pPr>
            <a:r>
              <a:rPr sz="1350" b="0">
                <a:solidFill>
                  <a:srgbClr val="9EADC6"/>
                </a:solidFill>
              </a:rPr>
              <a:t>LGPD / PCI-DSS</a:t>
            </a:r>
          </a:p>
        </p:txBody>
      </p:sp>
      <p:sp>
        <p:nvSpPr>
          <p:cNvPr id="26" name="Conector reto 25">
            <a:extLst xmlns:a="http://schemas.openxmlformats.org/drawingml/2006/main">
              <a:ext uri="{FF2B5EF4-FFF2-40B4-BE49-F238E27FC236}">
                <a16:creationId xmlns:a16="http://schemas.microsoft.com/office/drawing/2014/main" id="{886ADAA6-A599-4508-A87D-FAF697C7CE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4819650"/>
            <a:ext cx="15240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554"/>
            </a:solidFill>
            <a:prstDash val="solid"/>
          </a:ln>
        </p:spPr>
      </p:sp>
      <p:sp>
        <p:nvSpPr>
          <p:cNvPr id="27" name="Retângulo 26">
            <a:extLst xmlns:a="http://schemas.openxmlformats.org/drawingml/2006/main">
              <a:ext uri="{FF2B5EF4-FFF2-40B4-BE49-F238E27FC236}">
                <a16:creationId xmlns:a16="http://schemas.microsoft.com/office/drawing/2014/main" id="{EEDB8E4B-B7BB-43A6-B982-1771BBD90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7875" y="5010150"/>
            <a:ext cx="180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5F8FF"/>
                </a:solidFill>
              </a:defRPr>
            </a:pPr>
            <a:r>
              <a:rPr sz="1200" b="1">
                <a:solidFill>
                  <a:srgbClr val="F5F8FF"/>
                </a:solidFill>
              </a:rPr>
              <a:t>Limites declarados também são uma prática de segurança.</a:t>
            </a:r>
          </a:p>
        </p:txBody>
      </p:sp>
    </p:spTree>
    <p:extLst>
      <p:ext uri="{BB962C8B-B14F-4D97-AF65-F5344CB8AC3E}">
        <p14:creationId xmlns:p14="http://schemas.microsoft.com/office/powerpoint/2010/main" val="54159160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0B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Elipse 37">
            <a:extLst xmlns:a="http://schemas.openxmlformats.org/drawingml/2006/main">
              <a:ext uri="{FF2B5EF4-FFF2-40B4-BE49-F238E27FC236}">
                <a16:creationId xmlns:a16="http://schemas.microsoft.com/office/drawing/2014/main" id="{ADFB22E3-2B20-43D2-AA6E-F861EAE61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-14287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lipse 1">
            <a:extLst xmlns:a="http://schemas.openxmlformats.org/drawingml/2006/main">
              <a:ext uri="{FF2B5EF4-FFF2-40B4-BE49-F238E27FC236}">
                <a16:creationId xmlns:a16="http://schemas.microsoft.com/office/drawing/2014/main" id="{DCD16CF6-450B-48E7-A1B7-23695D487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38250" y="571500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1E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7">
            <a:extLst xmlns:a="http://schemas.openxmlformats.org/drawingml/2006/main">
              <a:ext uri="{FF2B5EF4-FFF2-40B4-BE49-F238E27FC236}">
                <a16:creationId xmlns:a16="http://schemas.microsoft.com/office/drawing/2014/main" id="{CF3533BC-6D0F-4778-B218-3501265038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FE7FF"/>
                </a:solidFill>
              </a:defRPr>
            </a:pPr>
            <a:r>
              <a:rPr sz="900" b="1">
                <a:solidFill>
                  <a:srgbClr val="3FE7FF"/>
                </a:solidFill>
              </a:rPr>
              <a:t>DEVOPS</a:t>
            </a:r>
          </a:p>
        </p:txBody>
      </p:sp>
      <p:sp>
        <p:nvSpPr>
          <p:cNvPr id="4" name="Conector reto 3">
            <a:extLst xmlns:a="http://schemas.openxmlformats.org/drawingml/2006/main">
              <a:ext uri="{FF2B5EF4-FFF2-40B4-BE49-F238E27FC236}">
                <a16:creationId xmlns:a16="http://schemas.microsoft.com/office/drawing/2014/main" id="{7865A6C4-D2D5-42D4-9604-2169D3483F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554"/>
            </a:solidFill>
            <a:prstDash val="solid"/>
          </a:ln>
        </p:spPr>
      </p:sp>
      <p:sp>
        <p:nvSpPr>
          <p:cNvPr id="5" name="page-7">
            <a:extLst xmlns:a="http://schemas.openxmlformats.org/drawingml/2006/main">
              <a:ext uri="{FF2B5EF4-FFF2-40B4-BE49-F238E27FC236}">
                <a16:creationId xmlns:a16="http://schemas.microsoft.com/office/drawing/2014/main" id="{B1A7C32B-BBF0-4114-9172-FD01F5596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0718F"/>
                </a:solidFill>
              </a:defRPr>
            </a:pPr>
            <a:r>
              <a:rPr sz="900" b="1">
                <a:solidFill>
                  <a:srgbClr val="60718F"/>
                </a:solidFill>
              </a:rPr>
              <a:t>07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9D315079-F42C-4208-B2DC-0367B8FCA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5F8FF"/>
                </a:solidFill>
              </a:defRPr>
            </a:pPr>
            <a:r>
              <a:rPr sz="2700" b="1">
                <a:solidFill>
                  <a:srgbClr val="F5F8FF"/>
                </a:solidFill>
              </a:rPr>
              <a:t>Cada push vira um ambiente testado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34E4FA3B-EDA3-4151-AD8E-8D1DBB4C5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EADC6"/>
                </a:solidFill>
              </a:defRPr>
            </a:pPr>
            <a:r>
              <a:rPr sz="1350" b="0">
                <a:solidFill>
                  <a:srgbClr val="9EADC6"/>
                </a:solidFill>
              </a:rPr>
              <a:t>GitHub Actions automatiza qualidade, empacotamento e deploy local/homologação.</a:t>
            </a:r>
          </a:p>
        </p:txBody>
      </p:sp>
      <p:sp>
        <p:nvSpPr>
          <p:cNvPr id="8" name="Seta: para a Direita 7">
            <a:extLst xmlns:a="http://schemas.openxmlformats.org/drawingml/2006/main">
              <a:ext uri="{FF2B5EF4-FFF2-40B4-BE49-F238E27FC236}">
                <a16:creationId xmlns:a16="http://schemas.microsoft.com/office/drawing/2014/main" id="{96175B01-C46E-4215-8124-7940EF612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3028950"/>
            <a:ext cx="666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FE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Seta: para a Direita 8">
            <a:extLst xmlns:a="http://schemas.openxmlformats.org/drawingml/2006/main">
              <a:ext uri="{FF2B5EF4-FFF2-40B4-BE49-F238E27FC236}">
                <a16:creationId xmlns:a16="http://schemas.microsoft.com/office/drawing/2014/main" id="{13C533B9-66EB-4CF6-BE21-9E617EB7A5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14850" y="3028950"/>
            <a:ext cx="666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FE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Seta: para a Direita 9">
            <a:extLst xmlns:a="http://schemas.openxmlformats.org/drawingml/2006/main">
              <a:ext uri="{FF2B5EF4-FFF2-40B4-BE49-F238E27FC236}">
                <a16:creationId xmlns:a16="http://schemas.microsoft.com/office/drawing/2014/main" id="{F8F67892-9B57-4DAB-B6EB-DC49CB0497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028950"/>
            <a:ext cx="666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Seta: para a Direita 10">
            <a:extLst xmlns:a="http://schemas.openxmlformats.org/drawingml/2006/main">
              <a:ext uri="{FF2B5EF4-FFF2-40B4-BE49-F238E27FC236}">
                <a16:creationId xmlns:a16="http://schemas.microsoft.com/office/drawing/2014/main" id="{30F97555-5566-49B9-872C-58CC95116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28950"/>
            <a:ext cx="666750" cy="190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CF3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2" name="Conector reto 11">
            <a:extLst xmlns:a="http://schemas.openxmlformats.org/drawingml/2006/main">
              <a:ext uri="{FF2B5EF4-FFF2-40B4-BE49-F238E27FC236}">
                <a16:creationId xmlns:a16="http://schemas.microsoft.com/office/drawing/2014/main" id="{B40E2129-5A4D-4C9B-8DBC-7FE373029E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3762375"/>
            <a:ext cx="0" cy="66675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FF6B7A"/>
            </a:solidFill>
            <a:prstDash val="dash"/>
          </a:ln>
        </p:spPr>
      </p:sp>
      <p:sp>
        <p:nvSpPr>
          <p:cNvPr id="13" name="Retângulo: Cantos Arredondados 12">
            <a:extLst xmlns:a="http://schemas.openxmlformats.org/drawingml/2006/main">
              <a:ext uri="{FF2B5EF4-FFF2-40B4-BE49-F238E27FC236}">
                <a16:creationId xmlns:a16="http://schemas.microsoft.com/office/drawing/2014/main" id="{643A43C0-4F6E-43BD-8532-186D223B1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1619250" cy="1162050"/>
          </a:xfrm>
          <a:prstGeom xmlns:a="http://schemas.openxmlformats.org/drawingml/2006/main" prst="roundRect">
            <a:avLst>
              <a:gd name="adj" fmla="val 14754"/>
            </a:avLst>
          </a:prstGeom>
          <a:solidFill xmlns:a="http://schemas.openxmlformats.org/drawingml/2006/main">
            <a:srgbClr val="111B34"/>
          </a:solidFill>
          <a:ln xmlns:a="http://schemas.openxmlformats.org/drawingml/2006/main" w="9525">
            <a:solidFill>
              <a:srgbClr val="263554"/>
            </a:solidFill>
            <a:prstDash val="solid"/>
          </a:ln>
        </p:spPr>
      </p:sp>
      <p:sp>
        <p:nvSpPr>
          <p:cNvPr id="14" name="Retângulo: Cantos Arredondados 13">
            <a:extLst xmlns:a="http://schemas.openxmlformats.org/drawingml/2006/main">
              <a:ext uri="{FF2B5EF4-FFF2-40B4-BE49-F238E27FC236}">
                <a16:creationId xmlns:a16="http://schemas.microsoft.com/office/drawing/2014/main" id="{99972612-37BA-414C-BFC8-9866F04C6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57150" cy="1162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FE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Retângulo 14">
            <a:extLst xmlns:a="http://schemas.openxmlformats.org/drawingml/2006/main">
              <a:ext uri="{FF2B5EF4-FFF2-40B4-BE49-F238E27FC236}">
                <a16:creationId xmlns:a16="http://schemas.microsoft.com/office/drawing/2014/main" id="{35CEB843-9784-49FE-9CB3-AC193F5C45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74320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8FF"/>
                </a:solidFill>
              </a:defRPr>
            </a:pPr>
            <a:r>
              <a:rPr sz="1500" b="1">
                <a:solidFill>
                  <a:srgbClr val="F5F8FF"/>
                </a:solidFill>
              </a:rPr>
              <a:t>Push</a:t>
            </a:r>
          </a:p>
        </p:txBody>
      </p:sp>
      <p:sp>
        <p:nvSpPr>
          <p:cNvPr id="16" name="Retângulo 15">
            <a:extLst xmlns:a="http://schemas.openxmlformats.org/drawingml/2006/main">
              <a:ext uri="{FF2B5EF4-FFF2-40B4-BE49-F238E27FC236}">
                <a16:creationId xmlns:a16="http://schemas.microsoft.com/office/drawing/2014/main" id="{6B98055A-C2F4-4CBC-A869-CA47DFB2A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86100"/>
            <a:ext cx="1257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EADC6"/>
                </a:solidFill>
              </a:defRPr>
            </a:pPr>
            <a:r>
              <a:rPr sz="1200" b="0">
                <a:solidFill>
                  <a:srgbClr val="9EADC6"/>
                </a:solidFill>
              </a:rPr>
              <a:t>repositório</a:t>
            </a:r>
          </a:p>
        </p:txBody>
      </p:sp>
      <p:sp>
        <p:nvSpPr>
          <p:cNvPr id="17" name="Retângulo: Cantos Arredondados 16">
            <a:extLst xmlns:a="http://schemas.openxmlformats.org/drawingml/2006/main">
              <a:ext uri="{FF2B5EF4-FFF2-40B4-BE49-F238E27FC236}">
                <a16:creationId xmlns:a16="http://schemas.microsoft.com/office/drawing/2014/main" id="{C0B1A461-47A9-49EA-BE7B-B1963ABBDD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71750"/>
            <a:ext cx="1619250" cy="1162050"/>
          </a:xfrm>
          <a:prstGeom xmlns:a="http://schemas.openxmlformats.org/drawingml/2006/main" prst="roundRect">
            <a:avLst>
              <a:gd name="adj" fmla="val 14754"/>
            </a:avLst>
          </a:prstGeom>
          <a:solidFill xmlns:a="http://schemas.openxmlformats.org/drawingml/2006/main">
            <a:srgbClr val="111B34"/>
          </a:solidFill>
          <a:ln xmlns:a="http://schemas.openxmlformats.org/drawingml/2006/main" w="9525">
            <a:solidFill>
              <a:srgbClr val="263554"/>
            </a:solidFill>
            <a:prstDash val="solid"/>
          </a:ln>
        </p:spPr>
      </p:sp>
      <p:sp>
        <p:nvSpPr>
          <p:cNvPr id="18" name="Retângulo: Cantos Arredondados 17">
            <a:extLst xmlns:a="http://schemas.openxmlformats.org/drawingml/2006/main">
              <a:ext uri="{FF2B5EF4-FFF2-40B4-BE49-F238E27FC236}">
                <a16:creationId xmlns:a16="http://schemas.microsoft.com/office/drawing/2014/main" id="{05DC06B5-88F8-4FBF-A4B1-9C1551D46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71800" y="2571750"/>
            <a:ext cx="57150" cy="1162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FE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Retângulo 18">
            <a:extLst xmlns:a="http://schemas.openxmlformats.org/drawingml/2006/main">
              <a:ext uri="{FF2B5EF4-FFF2-40B4-BE49-F238E27FC236}">
                <a16:creationId xmlns:a16="http://schemas.microsoft.com/office/drawing/2014/main" id="{0996CEA1-2EED-468A-B720-D3C69FA06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74320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8FF"/>
                </a:solidFill>
              </a:defRPr>
            </a:pPr>
            <a:r>
              <a:rPr sz="1500" b="1">
                <a:solidFill>
                  <a:srgbClr val="F5F8FF"/>
                </a:solidFill>
              </a:rPr>
              <a:t>CI</a:t>
            </a:r>
          </a:p>
        </p:txBody>
      </p:sp>
      <p:sp>
        <p:nvSpPr>
          <p:cNvPr id="20" name="Retângulo 19">
            <a:extLst xmlns:a="http://schemas.openxmlformats.org/drawingml/2006/main">
              <a:ext uri="{FF2B5EF4-FFF2-40B4-BE49-F238E27FC236}">
                <a16:creationId xmlns:a16="http://schemas.microsoft.com/office/drawing/2014/main" id="{274196E5-8FEB-4EA6-912A-57ED9F927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086100"/>
            <a:ext cx="1257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EADC6"/>
                </a:solidFill>
              </a:defRPr>
            </a:pPr>
            <a:r>
              <a:rPr sz="1200" b="0">
                <a:solidFill>
                  <a:srgbClr val="9EADC6"/>
                </a:solidFill>
              </a:rPr>
              <a:t>lint + testes</a:t>
            </a:r>
          </a:p>
        </p:txBody>
      </p:sp>
      <p:sp>
        <p:nvSpPr>
          <p:cNvPr id="21" name="Retângulo: Cantos Arredondados 20">
            <a:extLst xmlns:a="http://schemas.openxmlformats.org/drawingml/2006/main">
              <a:ext uri="{FF2B5EF4-FFF2-40B4-BE49-F238E27FC236}">
                <a16:creationId xmlns:a16="http://schemas.microsoft.com/office/drawing/2014/main" id="{FF92083E-641B-48B4-9304-7B057934B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571750"/>
            <a:ext cx="1619250" cy="1162050"/>
          </a:xfrm>
          <a:prstGeom xmlns:a="http://schemas.openxmlformats.org/drawingml/2006/main" prst="roundRect">
            <a:avLst>
              <a:gd name="adj" fmla="val 14754"/>
            </a:avLst>
          </a:prstGeom>
          <a:solidFill xmlns:a="http://schemas.openxmlformats.org/drawingml/2006/main">
            <a:srgbClr val="111B34"/>
          </a:solidFill>
          <a:ln xmlns:a="http://schemas.openxmlformats.org/drawingml/2006/main" w="9525">
            <a:solidFill>
              <a:srgbClr val="263554"/>
            </a:solidFill>
            <a:prstDash val="solid"/>
          </a:ln>
        </p:spPr>
      </p:sp>
      <p:sp>
        <p:nvSpPr>
          <p:cNvPr id="22" name="Retângulo: Cantos Arredondados 21">
            <a:extLst xmlns:a="http://schemas.openxmlformats.org/drawingml/2006/main">
              <a:ext uri="{FF2B5EF4-FFF2-40B4-BE49-F238E27FC236}">
                <a16:creationId xmlns:a16="http://schemas.microsoft.com/office/drawing/2014/main" id="{A967ADA4-5233-4EAE-ACDE-02603724A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571750"/>
            <a:ext cx="57150" cy="1162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C6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3" name="Retângulo 22">
            <a:extLst xmlns:a="http://schemas.openxmlformats.org/drawingml/2006/main">
              <a:ext uri="{FF2B5EF4-FFF2-40B4-BE49-F238E27FC236}">
                <a16:creationId xmlns:a16="http://schemas.microsoft.com/office/drawing/2014/main" id="{5F6E6785-5AA8-4593-9F2B-ED4DACC24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274320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8FF"/>
                </a:solidFill>
              </a:defRPr>
            </a:pPr>
            <a:r>
              <a:rPr sz="1500" b="1">
                <a:solidFill>
                  <a:srgbClr val="F5F8FF"/>
                </a:solidFill>
              </a:rPr>
              <a:t>Build</a:t>
            </a:r>
          </a:p>
        </p:txBody>
      </p:sp>
      <p:sp>
        <p:nvSpPr>
          <p:cNvPr id="24" name="Retângulo 23">
            <a:extLst xmlns:a="http://schemas.openxmlformats.org/drawingml/2006/main">
              <a:ext uri="{FF2B5EF4-FFF2-40B4-BE49-F238E27FC236}">
                <a16:creationId xmlns:a16="http://schemas.microsoft.com/office/drawing/2014/main" id="{ECDA1931-3D06-4D1C-9DCE-A7F3F60F0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3086100"/>
            <a:ext cx="1257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EADC6"/>
                </a:solidFill>
              </a:defRPr>
            </a:pPr>
            <a:r>
              <a:rPr sz="1200" b="0">
                <a:solidFill>
                  <a:srgbClr val="9EADC6"/>
                </a:solidFill>
              </a:rPr>
              <a:t>imagens Docker</a:t>
            </a:r>
          </a:p>
        </p:txBody>
      </p:sp>
      <p:sp>
        <p:nvSpPr>
          <p:cNvPr id="25" name="Retângulo: Cantos Arredondados 24">
            <a:extLst xmlns:a="http://schemas.openxmlformats.org/drawingml/2006/main">
              <a:ext uri="{FF2B5EF4-FFF2-40B4-BE49-F238E27FC236}">
                <a16:creationId xmlns:a16="http://schemas.microsoft.com/office/drawing/2014/main" id="{AD516511-3FBB-42D8-BAAF-5E49AE1A3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571750"/>
            <a:ext cx="1619250" cy="1162050"/>
          </a:xfrm>
          <a:prstGeom xmlns:a="http://schemas.openxmlformats.org/drawingml/2006/main" prst="roundRect">
            <a:avLst>
              <a:gd name="adj" fmla="val 14754"/>
            </a:avLst>
          </a:prstGeom>
          <a:solidFill xmlns:a="http://schemas.openxmlformats.org/drawingml/2006/main">
            <a:srgbClr val="111B34"/>
          </a:solidFill>
          <a:ln xmlns:a="http://schemas.openxmlformats.org/drawingml/2006/main" w="9525">
            <a:solidFill>
              <a:srgbClr val="263554"/>
            </a:solidFill>
            <a:prstDash val="solid"/>
          </a:ln>
        </p:spPr>
      </p:sp>
      <p:sp>
        <p:nvSpPr>
          <p:cNvPr id="26" name="Retângulo: Cantos Arredondados 25">
            <a:extLst xmlns:a="http://schemas.openxmlformats.org/drawingml/2006/main">
              <a:ext uri="{FF2B5EF4-FFF2-40B4-BE49-F238E27FC236}">
                <a16:creationId xmlns:a16="http://schemas.microsoft.com/office/drawing/2014/main" id="{431E59A8-9468-4795-8668-3C415D845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571750"/>
            <a:ext cx="57150" cy="1162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C6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Retângulo 26">
            <a:extLst xmlns:a="http://schemas.openxmlformats.org/drawingml/2006/main">
              <a:ext uri="{FF2B5EF4-FFF2-40B4-BE49-F238E27FC236}">
                <a16:creationId xmlns:a16="http://schemas.microsoft.com/office/drawing/2014/main" id="{58D2E3A4-490C-4CD5-BF90-55403FA51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74320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8FF"/>
                </a:solidFill>
              </a:defRPr>
            </a:pPr>
            <a:r>
              <a:rPr sz="1500" b="1">
                <a:solidFill>
                  <a:srgbClr val="F5F8FF"/>
                </a:solidFill>
              </a:rPr>
              <a:t>Deploy</a:t>
            </a:r>
          </a:p>
        </p:txBody>
      </p:sp>
      <p:sp>
        <p:nvSpPr>
          <p:cNvPr id="28" name="Retângulo 27">
            <a:extLst xmlns:a="http://schemas.openxmlformats.org/drawingml/2006/main">
              <a:ext uri="{FF2B5EF4-FFF2-40B4-BE49-F238E27FC236}">
                <a16:creationId xmlns:a16="http://schemas.microsoft.com/office/drawing/2014/main" id="{FD05B733-020F-4413-939E-ABA9AA83E6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3086100"/>
            <a:ext cx="1257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EADC6"/>
                </a:solidFill>
              </a:defRPr>
            </a:pPr>
            <a:r>
              <a:rPr sz="1200" b="0">
                <a:solidFill>
                  <a:srgbClr val="9EADC6"/>
                </a:solidFill>
              </a:rPr>
              <a:t>Docker Compose</a:t>
            </a:r>
          </a:p>
        </p:txBody>
      </p:sp>
      <p:sp>
        <p:nvSpPr>
          <p:cNvPr id="29" name="Retângulo: Cantos Arredondados 28">
            <a:extLst xmlns:a="http://schemas.openxmlformats.org/drawingml/2006/main">
              <a:ext uri="{FF2B5EF4-FFF2-40B4-BE49-F238E27FC236}">
                <a16:creationId xmlns:a16="http://schemas.microsoft.com/office/drawing/2014/main" id="{608CE0D8-3676-408C-A8AE-FB2C2254EA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571750"/>
            <a:ext cx="1619250" cy="1162050"/>
          </a:xfrm>
          <a:prstGeom xmlns:a="http://schemas.openxmlformats.org/drawingml/2006/main" prst="roundRect">
            <a:avLst>
              <a:gd name="adj" fmla="val 14754"/>
            </a:avLst>
          </a:prstGeom>
          <a:solidFill xmlns:a="http://schemas.openxmlformats.org/drawingml/2006/main">
            <a:srgbClr val="111B34"/>
          </a:solidFill>
          <a:ln xmlns:a="http://schemas.openxmlformats.org/drawingml/2006/main" w="9525">
            <a:solidFill>
              <a:srgbClr val="263554"/>
            </a:solidFill>
            <a:prstDash val="solid"/>
          </a:ln>
        </p:spPr>
      </p:sp>
      <p:sp>
        <p:nvSpPr>
          <p:cNvPr id="30" name="Retângulo: Cantos Arredondados 29">
            <a:extLst xmlns:a="http://schemas.openxmlformats.org/drawingml/2006/main">
              <a:ext uri="{FF2B5EF4-FFF2-40B4-BE49-F238E27FC236}">
                <a16:creationId xmlns:a16="http://schemas.microsoft.com/office/drawing/2014/main" id="{10319EBF-A550-456E-8824-174341F9B1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571750"/>
            <a:ext cx="57150" cy="11620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CF3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Retângulo 30">
            <a:extLst xmlns:a="http://schemas.openxmlformats.org/drawingml/2006/main">
              <a:ext uri="{FF2B5EF4-FFF2-40B4-BE49-F238E27FC236}">
                <a16:creationId xmlns:a16="http://schemas.microsoft.com/office/drawing/2014/main" id="{AB9ECCB5-BEA4-4F6B-AB84-D70A0687D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2743200"/>
            <a:ext cx="12573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8FF"/>
                </a:solidFill>
              </a:defRPr>
            </a:pPr>
            <a:r>
              <a:rPr sz="1500" b="1">
                <a:solidFill>
                  <a:srgbClr val="F5F8FF"/>
                </a:solidFill>
              </a:rPr>
              <a:t>Observar</a:t>
            </a:r>
          </a:p>
        </p:txBody>
      </p:sp>
      <p:sp>
        <p:nvSpPr>
          <p:cNvPr id="32" name="Retângulo 31">
            <a:extLst xmlns:a="http://schemas.openxmlformats.org/drawingml/2006/main">
              <a:ext uri="{FF2B5EF4-FFF2-40B4-BE49-F238E27FC236}">
                <a16:creationId xmlns:a16="http://schemas.microsoft.com/office/drawing/2014/main" id="{4E67D193-7C97-460E-A5BD-88AE5DA5BE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3086100"/>
            <a:ext cx="12573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EADC6"/>
                </a:solidFill>
              </a:defRPr>
            </a:pPr>
            <a:r>
              <a:rPr sz="1200" b="0">
                <a:solidFill>
                  <a:srgbClr val="9EADC6"/>
                </a:solidFill>
              </a:rPr>
              <a:t>Prometheus + Grafana</a:t>
            </a:r>
          </a:p>
        </p:txBody>
      </p:sp>
      <p:sp>
        <p:nvSpPr>
          <p:cNvPr id="33" name="Retângulo: Cantos Arredondados 32">
            <a:extLst xmlns:a="http://schemas.openxmlformats.org/drawingml/2006/main">
              <a:ext uri="{FF2B5EF4-FFF2-40B4-BE49-F238E27FC236}">
                <a16:creationId xmlns:a16="http://schemas.microsoft.com/office/drawing/2014/main" id="{5F3F7F30-E708-4ABE-BE89-988B44A4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6100" y="4400550"/>
            <a:ext cx="1981200" cy="666750"/>
          </a:xfrm>
          <a:prstGeom xmlns:a="http://schemas.openxmlformats.org/drawingml/2006/main" prst="roundRect">
            <a:avLst>
              <a:gd name="adj" fmla="val 22857"/>
            </a:avLst>
          </a:prstGeom>
          <a:solidFill xmlns:a="http://schemas.openxmlformats.org/drawingml/2006/main">
            <a:srgbClr val="111B34"/>
          </a:solidFill>
          <a:ln xmlns:a="http://schemas.openxmlformats.org/drawingml/2006/main" w="9525">
            <a:solidFill>
              <a:srgbClr val="FF6B7A"/>
            </a:solidFill>
            <a:prstDash val="solid"/>
          </a:ln>
        </p:spPr>
      </p:sp>
      <p:sp>
        <p:nvSpPr>
          <p:cNvPr id="34" name="Retângulo 33">
            <a:extLst xmlns:a="http://schemas.openxmlformats.org/drawingml/2006/main">
              <a:ext uri="{FF2B5EF4-FFF2-40B4-BE49-F238E27FC236}">
                <a16:creationId xmlns:a16="http://schemas.microsoft.com/office/drawing/2014/main" id="{51BEDB94-8358-427C-9D43-A850AB40C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533900"/>
            <a:ext cx="85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FF6B7A"/>
                </a:solidFill>
              </a:defRPr>
            </a:pPr>
            <a:r>
              <a:rPr sz="1350" b="1">
                <a:solidFill>
                  <a:srgbClr val="FF6B7A"/>
                </a:solidFill>
              </a:rPr>
              <a:t>Falhou?</a:t>
            </a:r>
          </a:p>
        </p:txBody>
      </p:sp>
      <p:sp>
        <p:nvSpPr>
          <p:cNvPr id="35" name="Retângulo 34">
            <a:extLst xmlns:a="http://schemas.openxmlformats.org/drawingml/2006/main">
              <a:ext uri="{FF2B5EF4-FFF2-40B4-BE49-F238E27FC236}">
                <a16:creationId xmlns:a16="http://schemas.microsoft.com/office/drawing/2014/main" id="{316E9C09-DCA7-49E3-8666-D0C9B6612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781550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EADC6"/>
                </a:solidFill>
              </a:defRPr>
            </a:pPr>
            <a:r>
              <a:rPr sz="1200" b="0">
                <a:solidFill>
                  <a:srgbClr val="9EADC6"/>
                </a:solidFill>
              </a:rPr>
              <a:t>notifica o time</a:t>
            </a:r>
          </a:p>
        </p:txBody>
      </p:sp>
      <p:sp>
        <p:nvSpPr>
          <p:cNvPr id="36" name="Retângulo 35">
            <a:extLst xmlns:a="http://schemas.openxmlformats.org/drawingml/2006/main">
              <a:ext uri="{FF2B5EF4-FFF2-40B4-BE49-F238E27FC236}">
                <a16:creationId xmlns:a16="http://schemas.microsoft.com/office/drawing/2014/main" id="{552FF3B3-3D2B-47AD-9DA7-C41658EF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41960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F5F8FF"/>
                </a:solidFill>
              </a:defRPr>
            </a:pPr>
            <a:r>
              <a:rPr sz="1800" b="1">
                <a:solidFill>
                  <a:srgbClr val="F5F8FF"/>
                </a:solidFill>
              </a:rPr>
              <a:t>O ganho não é só velocidade.</a:t>
            </a:r>
          </a:p>
        </p:txBody>
      </p:sp>
      <p:sp>
        <p:nvSpPr>
          <p:cNvPr id="37" name="Retângulo 36">
            <a:extLst xmlns:a="http://schemas.openxmlformats.org/drawingml/2006/main">
              <a:ext uri="{FF2B5EF4-FFF2-40B4-BE49-F238E27FC236}">
                <a16:creationId xmlns:a16="http://schemas.microsoft.com/office/drawing/2014/main" id="{DDAA5913-0885-40A1-9B29-1352E9B614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0" y="4857750"/>
            <a:ext cx="495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EADC6"/>
                </a:solidFill>
              </a:defRPr>
            </a:pPr>
            <a:r>
              <a:rPr sz="1350" b="0">
                <a:solidFill>
                  <a:srgbClr val="9EADC6"/>
                </a:solidFill>
              </a:rPr>
              <a:t>É repetir o mesmo caminho de build e teste a cada mudança.</a:t>
            </a:r>
          </a:p>
        </p:txBody>
      </p:sp>
    </p:spTree>
    <p:extLst>
      <p:ext uri="{BB962C8B-B14F-4D97-AF65-F5344CB8AC3E}">
        <p14:creationId xmlns:p14="http://schemas.microsoft.com/office/powerpoint/2010/main" val="202195605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0B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Elipse 25">
            <a:extLst xmlns:a="http://schemas.openxmlformats.org/drawingml/2006/main">
              <a:ext uri="{FF2B5EF4-FFF2-40B4-BE49-F238E27FC236}">
                <a16:creationId xmlns:a16="http://schemas.microsoft.com/office/drawing/2014/main" id="{8D4F70F6-DE6B-4381-9DDA-764051B7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-14287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lipse 1">
            <a:extLst xmlns:a="http://schemas.openxmlformats.org/drawingml/2006/main">
              <a:ext uri="{FF2B5EF4-FFF2-40B4-BE49-F238E27FC236}">
                <a16:creationId xmlns:a16="http://schemas.microsoft.com/office/drawing/2014/main" id="{A5CB6030-DDD3-4A23-80E1-FD28BB69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38250" y="571500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1E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9">
            <a:extLst xmlns:a="http://schemas.openxmlformats.org/drawingml/2006/main">
              <a:ext uri="{FF2B5EF4-FFF2-40B4-BE49-F238E27FC236}">
                <a16:creationId xmlns:a16="http://schemas.microsoft.com/office/drawing/2014/main" id="{4EEB57E5-C742-4747-8E18-7DC0C96DC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FE7FF"/>
                </a:solidFill>
              </a:defRPr>
            </a:pPr>
            <a:r>
              <a:rPr sz="900" b="1">
                <a:solidFill>
                  <a:srgbClr val="3FE7FF"/>
                </a:solidFill>
              </a:rPr>
              <a:t>OPERAÇÃO</a:t>
            </a:r>
          </a:p>
        </p:txBody>
      </p:sp>
      <p:sp>
        <p:nvSpPr>
          <p:cNvPr id="4" name="Conector reto 3">
            <a:extLst xmlns:a="http://schemas.openxmlformats.org/drawingml/2006/main">
              <a:ext uri="{FF2B5EF4-FFF2-40B4-BE49-F238E27FC236}">
                <a16:creationId xmlns:a16="http://schemas.microsoft.com/office/drawing/2014/main" id="{BFE66AD5-F647-4F5F-968B-50F20DA57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554"/>
            </a:solidFill>
            <a:prstDash val="solid"/>
          </a:ln>
        </p:spPr>
      </p:sp>
      <p:sp>
        <p:nvSpPr>
          <p:cNvPr id="5" name="page-9">
            <a:extLst xmlns:a="http://schemas.openxmlformats.org/drawingml/2006/main">
              <a:ext uri="{FF2B5EF4-FFF2-40B4-BE49-F238E27FC236}">
                <a16:creationId xmlns:a16="http://schemas.microsoft.com/office/drawing/2014/main" id="{746BBB60-8596-4E36-AF25-B4E230548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0718F"/>
                </a:solidFill>
              </a:defRPr>
            </a:pPr>
            <a:r>
              <a:rPr sz="900" b="1">
                <a:solidFill>
                  <a:srgbClr val="60718F"/>
                </a:solidFill>
              </a:rPr>
              <a:t>09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6EE3E84D-A4DD-41B6-9CB5-9EE32996D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5F8FF"/>
                </a:solidFill>
              </a:defRPr>
            </a:pPr>
            <a:r>
              <a:rPr sz="2700" b="1">
                <a:solidFill>
                  <a:srgbClr val="F5F8FF"/>
                </a:solidFill>
              </a:rPr>
              <a:t>O SLA vira evidência observável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769DFB2A-BAC0-48E1-928A-289DDB73A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EADC6"/>
                </a:solidFill>
              </a:defRPr>
            </a:pPr>
            <a:r>
              <a:rPr sz="1350" b="0">
                <a:solidFill>
                  <a:srgbClr val="9EADC6"/>
                </a:solidFill>
              </a:rPr>
              <a:t>k6 gera carga; Prometheus coleta; Grafana mostra se a meta foi atingida.</a:t>
            </a:r>
          </a:p>
        </p:txBody>
      </p:sp>
      <p:sp>
        <p:nvSpPr>
          <p:cNvPr id="8" name="Conector reto 7">
            <a:extLst xmlns:a="http://schemas.openxmlformats.org/drawingml/2006/main">
              <a:ext uri="{FF2B5EF4-FFF2-40B4-BE49-F238E27FC236}">
                <a16:creationId xmlns:a16="http://schemas.microsoft.com/office/drawing/2014/main" id="{A457BF46-1B3F-445B-BCBB-7DB99BA01E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71700"/>
            <a:ext cx="3238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8575">
            <a:solidFill>
              <a:srgbClr val="FFCA6A"/>
            </a:solidFill>
            <a:prstDash val="solid"/>
          </a:ln>
        </p:spPr>
      </p:sp>
      <p:sp>
        <p:nvSpPr>
          <p:cNvPr id="9" name="Retângulo 8">
            <a:extLst xmlns:a="http://schemas.openxmlformats.org/drawingml/2006/main">
              <a:ext uri="{FF2B5EF4-FFF2-40B4-BE49-F238E27FC236}">
                <a16:creationId xmlns:a16="http://schemas.microsoft.com/office/drawing/2014/main" id="{EEC3B6F9-2046-422C-938B-84C1AAFBB0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057400"/>
            <a:ext cx="3543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CA6A"/>
                </a:solidFill>
              </a:defRPr>
            </a:pPr>
            <a:r>
              <a:rPr sz="975" b="1">
                <a:solidFill>
                  <a:srgbClr val="FFCA6A"/>
                </a:solidFill>
              </a:rPr>
              <a:t>METAS SIMULADAS</a:t>
            </a:r>
          </a:p>
        </p:txBody>
      </p:sp>
      <p:sp>
        <p:nvSpPr>
          <p:cNvPr id="10" name="Retângulo 9">
            <a:extLst xmlns:a="http://schemas.openxmlformats.org/drawingml/2006/main">
              <a:ext uri="{FF2B5EF4-FFF2-40B4-BE49-F238E27FC236}">
                <a16:creationId xmlns:a16="http://schemas.microsoft.com/office/drawing/2014/main" id="{F47DFA92-5E75-425D-8255-303AE981A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57450"/>
            <a:ext cx="400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5100" b="1">
                <a:solidFill>
                  <a:srgbClr val="3FE7FF"/>
                </a:solidFill>
              </a:defRPr>
            </a:pPr>
            <a:r>
              <a:rPr sz="5100" b="1">
                <a:solidFill>
                  <a:srgbClr val="3FE7FF"/>
                </a:solidFill>
              </a:rPr>
              <a:t>≤ 2 s</a:t>
            </a:r>
          </a:p>
        </p:txBody>
      </p:sp>
      <p:sp>
        <p:nvSpPr>
          <p:cNvPr id="11" name="Retângulo 10">
            <a:extLst xmlns:a="http://schemas.openxmlformats.org/drawingml/2006/main">
              <a:ext uri="{FF2B5EF4-FFF2-40B4-BE49-F238E27FC236}">
                <a16:creationId xmlns:a16="http://schemas.microsoft.com/office/drawing/2014/main" id="{4C12507F-9129-44D6-BD3C-AC58CC4F4A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194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EADC6"/>
                </a:solidFill>
              </a:defRPr>
            </a:pPr>
            <a:r>
              <a:rPr sz="1350" b="0">
                <a:solidFill>
                  <a:srgbClr val="9EADC6"/>
                </a:solidFill>
              </a:rPr>
              <a:t>confirmação ponta a ponta</a:t>
            </a:r>
          </a:p>
        </p:txBody>
      </p:sp>
      <p:sp>
        <p:nvSpPr>
          <p:cNvPr id="12" name="Retângulo 11">
            <a:extLst xmlns:a="http://schemas.openxmlformats.org/drawingml/2006/main">
              <a:ext uri="{FF2B5EF4-FFF2-40B4-BE49-F238E27FC236}">
                <a16:creationId xmlns:a16="http://schemas.microsoft.com/office/drawing/2014/main" id="{EC600B60-E54E-4D2F-8BD4-14F263C4A2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40005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4800" b="1">
                <a:solidFill>
                  <a:srgbClr val="6CF3B5"/>
                </a:solidFill>
              </a:defRPr>
            </a:pPr>
            <a:r>
              <a:rPr sz="4800" b="1">
                <a:solidFill>
                  <a:srgbClr val="6CF3B5"/>
                </a:solidFill>
              </a:rPr>
              <a:t>99,95%</a:t>
            </a:r>
          </a:p>
        </p:txBody>
      </p:sp>
      <p:sp>
        <p:nvSpPr>
          <p:cNvPr id="13" name="Retângulo 12">
            <a:extLst xmlns:a="http://schemas.openxmlformats.org/drawingml/2006/main">
              <a:ext uri="{FF2B5EF4-FFF2-40B4-BE49-F238E27FC236}">
                <a16:creationId xmlns:a16="http://schemas.microsoft.com/office/drawing/2014/main" id="{CA446768-2002-4BCD-9A8D-DCBE02A9C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5910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EADC6"/>
                </a:solidFill>
              </a:defRPr>
            </a:pPr>
            <a:r>
              <a:rPr sz="1350" b="0">
                <a:solidFill>
                  <a:srgbClr val="9EADC6"/>
                </a:solidFill>
              </a:rPr>
              <a:t>uptime na janela de teste</a:t>
            </a:r>
          </a:p>
        </p:txBody>
      </p:sp>
      <p:sp>
        <p:nvSpPr>
          <p:cNvPr id="14" name="Conector reto 13">
            <a:extLst xmlns:a="http://schemas.openxmlformats.org/drawingml/2006/main">
              <a:ext uri="{FF2B5EF4-FFF2-40B4-BE49-F238E27FC236}">
                <a16:creationId xmlns:a16="http://schemas.microsoft.com/office/drawing/2014/main" id="{2E33BF12-18AC-4DFA-8D2D-5DDD932A34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48250" y="2057400"/>
            <a:ext cx="0" cy="33528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554"/>
            </a:solidFill>
            <a:prstDash val="solid"/>
          </a:ln>
        </p:spPr>
      </p:sp>
      <p:sp>
        <p:nvSpPr>
          <p:cNvPr id="15" name="Retângulo 14">
            <a:extLst xmlns:a="http://schemas.openxmlformats.org/drawingml/2006/main">
              <a:ext uri="{FF2B5EF4-FFF2-40B4-BE49-F238E27FC236}">
                <a16:creationId xmlns:a16="http://schemas.microsoft.com/office/drawing/2014/main" id="{20D89C04-0B6A-4D4A-987F-B23BD6CE1D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211455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5F8FF"/>
                </a:solidFill>
              </a:defRPr>
            </a:pPr>
            <a:r>
              <a:rPr sz="2550" b="1">
                <a:solidFill>
                  <a:srgbClr val="F5F8FF"/>
                </a:solidFill>
              </a:rPr>
              <a:t>30–50 req/s</a:t>
            </a:r>
          </a:p>
        </p:txBody>
      </p:sp>
      <p:sp>
        <p:nvSpPr>
          <p:cNvPr id="16" name="Retângulo 15">
            <a:extLst xmlns:a="http://schemas.openxmlformats.org/drawingml/2006/main">
              <a:ext uri="{FF2B5EF4-FFF2-40B4-BE49-F238E27FC236}">
                <a16:creationId xmlns:a16="http://schemas.microsoft.com/office/drawing/2014/main" id="{109682FA-D8C3-461E-9BE1-AC97F6813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2590800"/>
            <a:ext cx="2667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EADC6"/>
                </a:solidFill>
              </a:defRPr>
            </a:pPr>
            <a:r>
              <a:rPr sz="1200" b="0">
                <a:solidFill>
                  <a:srgbClr val="9EADC6"/>
                </a:solidFill>
              </a:rPr>
              <a:t>carga local sustentada</a:t>
            </a:r>
          </a:p>
        </p:txBody>
      </p:sp>
      <p:sp>
        <p:nvSpPr>
          <p:cNvPr id="17" name="Retângulo 16">
            <a:extLst xmlns:a="http://schemas.openxmlformats.org/drawingml/2006/main">
              <a:ext uri="{FF2B5EF4-FFF2-40B4-BE49-F238E27FC236}">
                <a16:creationId xmlns:a16="http://schemas.microsoft.com/office/drawing/2014/main" id="{9EE0C65C-05AE-457D-A47F-A48ED029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114550"/>
            <a:ext cx="2095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550" b="1">
                <a:solidFill>
                  <a:srgbClr val="F5F8FF"/>
                </a:solidFill>
              </a:defRPr>
            </a:pPr>
            <a:r>
              <a:rPr sz="2550" b="1">
                <a:solidFill>
                  <a:srgbClr val="F5F8FF"/>
                </a:solidFill>
              </a:rPr>
              <a:t>100–150</a:t>
            </a:r>
          </a:p>
        </p:txBody>
      </p:sp>
      <p:sp>
        <p:nvSpPr>
          <p:cNvPr id="18" name="Retângulo 17">
            <a:extLst xmlns:a="http://schemas.openxmlformats.org/drawingml/2006/main">
              <a:ext uri="{FF2B5EF4-FFF2-40B4-BE49-F238E27FC236}">
                <a16:creationId xmlns:a16="http://schemas.microsoft.com/office/drawing/2014/main" id="{F001E844-7E88-4C1E-992E-38D055CA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72550" y="2590800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EADC6"/>
                </a:solidFill>
              </a:defRPr>
            </a:pPr>
            <a:r>
              <a:rPr sz="1200" b="0">
                <a:solidFill>
                  <a:srgbClr val="9EADC6"/>
                </a:solidFill>
              </a:rPr>
              <a:t>usuários fictícios</a:t>
            </a:r>
          </a:p>
        </p:txBody>
      </p:sp>
      <p:sp>
        <p:nvSpPr>
          <p:cNvPr id="19" name="Conector reto 18">
            <a:extLst xmlns:a="http://schemas.openxmlformats.org/drawingml/2006/main">
              <a:ext uri="{FF2B5EF4-FFF2-40B4-BE49-F238E27FC236}">
                <a16:creationId xmlns:a16="http://schemas.microsoft.com/office/drawing/2014/main" id="{8C7558B8-3605-42B2-80F8-FD96B0958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028950"/>
            <a:ext cx="5238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554"/>
            </a:solidFill>
            <a:prstDash val="solid"/>
          </a:ln>
        </p:spPr>
      </p:sp>
      <p:sp>
        <p:nvSpPr>
          <p:cNvPr id="20" name="Retângulo 19">
            <a:extLst xmlns:a="http://schemas.openxmlformats.org/drawingml/2006/main">
              <a:ext uri="{FF2B5EF4-FFF2-40B4-BE49-F238E27FC236}">
                <a16:creationId xmlns:a16="http://schemas.microsoft.com/office/drawing/2014/main" id="{76696062-5187-4382-9EDE-F8111AAD1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295650"/>
            <a:ext cx="95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F5CB8"/>
                </a:solidFill>
              </a:defRPr>
            </a:pPr>
            <a:r>
              <a:rPr sz="1050" b="1">
                <a:solidFill>
                  <a:srgbClr val="FF5CB8"/>
                </a:solidFill>
              </a:rPr>
              <a:t>Pico</a:t>
            </a:r>
          </a:p>
        </p:txBody>
      </p:sp>
      <p:sp>
        <p:nvSpPr>
          <p:cNvPr id="21" name="Retângulo 20">
            <a:extLst xmlns:a="http://schemas.openxmlformats.org/drawingml/2006/main">
              <a:ext uri="{FF2B5EF4-FFF2-40B4-BE49-F238E27FC236}">
                <a16:creationId xmlns:a16="http://schemas.microsoft.com/office/drawing/2014/main" id="{5E867626-C3E8-4AEA-811A-3094BDEEA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600450"/>
            <a:ext cx="3333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5F8FF"/>
                </a:solidFill>
              </a:defRPr>
            </a:pPr>
            <a:r>
              <a:rPr sz="2250" b="1">
                <a:solidFill>
                  <a:srgbClr val="F5F8FF"/>
                </a:solidFill>
              </a:rPr>
              <a:t>~150 req/s por 1 min</a:t>
            </a:r>
          </a:p>
        </p:txBody>
      </p:sp>
      <p:sp>
        <p:nvSpPr>
          <p:cNvPr id="22" name="Retângulo 21">
            <a:extLst xmlns:a="http://schemas.openxmlformats.org/drawingml/2006/main">
              <a:ext uri="{FF2B5EF4-FFF2-40B4-BE49-F238E27FC236}">
                <a16:creationId xmlns:a16="http://schemas.microsoft.com/office/drawing/2014/main" id="{5802CCE2-9658-4DF6-AC69-6C3ECFA4B4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34050" y="401955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EADC6"/>
                </a:solidFill>
              </a:defRPr>
            </a:pPr>
            <a:r>
              <a:rPr sz="1200" b="0">
                <a:solidFill>
                  <a:srgbClr val="9EADC6"/>
                </a:solidFill>
              </a:rPr>
              <a:t>simula uma data comercial intensa</a:t>
            </a:r>
          </a:p>
        </p:txBody>
      </p:sp>
      <p:sp>
        <p:nvSpPr>
          <p:cNvPr id="23" name="Retângulo: Cantos Arredondados 22">
            <a:extLst xmlns:a="http://schemas.openxmlformats.org/drawingml/2006/main">
              <a:ext uri="{FF2B5EF4-FFF2-40B4-BE49-F238E27FC236}">
                <a16:creationId xmlns:a16="http://schemas.microsoft.com/office/drawing/2014/main" id="{F6466853-30A0-44A2-A2DE-4043D93405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4533900"/>
            <a:ext cx="5238750" cy="933450"/>
          </a:xfrm>
          <a:prstGeom xmlns:a="http://schemas.openxmlformats.org/drawingml/2006/main" prst="roundRect">
            <a:avLst>
              <a:gd name="adj" fmla="val 18367"/>
            </a:avLst>
          </a:prstGeom>
          <a:solidFill xmlns:a="http://schemas.openxmlformats.org/drawingml/2006/main">
            <a:srgbClr val="111B34"/>
          </a:solidFill>
          <a:ln xmlns:a="http://schemas.openxmlformats.org/drawingml/2006/main" w="9525">
            <a:solidFill>
              <a:srgbClr val="263554"/>
            </a:solidFill>
            <a:prstDash val="solid"/>
          </a:ln>
        </p:spPr>
      </p:sp>
      <p:sp>
        <p:nvSpPr>
          <p:cNvPr id="24" name="Retângulo 23">
            <a:extLst xmlns:a="http://schemas.openxmlformats.org/drawingml/2006/main">
              <a:ext uri="{FF2B5EF4-FFF2-40B4-BE49-F238E27FC236}">
                <a16:creationId xmlns:a16="http://schemas.microsoft.com/office/drawing/2014/main" id="{30F94BC4-E55B-4B0C-9118-4EB1633ADD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705350"/>
            <a:ext cx="4667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3FE7FF"/>
                </a:solidFill>
              </a:defRPr>
            </a:pPr>
            <a:r>
              <a:rPr sz="1275" b="1">
                <a:solidFill>
                  <a:srgbClr val="3FE7FF"/>
                </a:solidFill>
              </a:rPr>
              <a:t>O dashboard precisa responder três perguntas</a:t>
            </a:r>
          </a:p>
        </p:txBody>
      </p:sp>
      <p:sp>
        <p:nvSpPr>
          <p:cNvPr id="25" name="Retângulo 24">
            <a:extLst xmlns:a="http://schemas.openxmlformats.org/drawingml/2006/main">
              <a:ext uri="{FF2B5EF4-FFF2-40B4-BE49-F238E27FC236}">
                <a16:creationId xmlns:a16="http://schemas.microsoft.com/office/drawing/2014/main" id="{CB4A6110-CE87-46AC-BC1A-6C0AD94CF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5010150"/>
            <a:ext cx="4762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EADC6"/>
                </a:solidFill>
              </a:defRPr>
            </a:pPr>
            <a:r>
              <a:rPr sz="1200" b="0">
                <a:solidFill>
                  <a:srgbClr val="9EADC6"/>
                </a:solidFill>
              </a:rPr>
              <a:t>Quantas confirmaram em ≤2 s?  •  Qual foi o uptime?  •  A fila cresceu e drenou?</a:t>
            </a:r>
          </a:p>
        </p:txBody>
      </p:sp>
    </p:spTree>
    <p:extLst>
      <p:ext uri="{BB962C8B-B14F-4D97-AF65-F5344CB8AC3E}">
        <p14:creationId xmlns:p14="http://schemas.microsoft.com/office/powerpoint/2010/main" val="1275522331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0B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7" name="Elipse 36">
            <a:extLst xmlns:a="http://schemas.openxmlformats.org/drawingml/2006/main">
              <a:ext uri="{FF2B5EF4-FFF2-40B4-BE49-F238E27FC236}">
                <a16:creationId xmlns:a16="http://schemas.microsoft.com/office/drawing/2014/main" id="{76A76EF8-8589-4295-BB5E-D85111A32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-14287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lipse 1">
            <a:extLst xmlns:a="http://schemas.openxmlformats.org/drawingml/2006/main">
              <a:ext uri="{FF2B5EF4-FFF2-40B4-BE49-F238E27FC236}">
                <a16:creationId xmlns:a16="http://schemas.microsoft.com/office/drawing/2014/main" id="{E9D186E7-BE87-49BF-BDBF-26D2D3585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38250" y="571500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1E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8">
            <a:extLst xmlns:a="http://schemas.openxmlformats.org/drawingml/2006/main">
              <a:ext uri="{FF2B5EF4-FFF2-40B4-BE49-F238E27FC236}">
                <a16:creationId xmlns:a16="http://schemas.microsoft.com/office/drawing/2014/main" id="{370EC424-62F4-4587-B398-641241C7D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FE7FF"/>
                </a:solidFill>
              </a:defRPr>
            </a:pPr>
            <a:r>
              <a:rPr sz="900" b="1">
                <a:solidFill>
                  <a:srgbClr val="3FE7FF"/>
                </a:solidFill>
              </a:rPr>
              <a:t>QUALIDADE</a:t>
            </a:r>
          </a:p>
        </p:txBody>
      </p:sp>
      <p:sp>
        <p:nvSpPr>
          <p:cNvPr id="4" name="Conector reto 3">
            <a:extLst xmlns:a="http://schemas.openxmlformats.org/drawingml/2006/main">
              <a:ext uri="{FF2B5EF4-FFF2-40B4-BE49-F238E27FC236}">
                <a16:creationId xmlns:a16="http://schemas.microsoft.com/office/drawing/2014/main" id="{84A733D4-5C2E-4F88-83C4-5E2CDB583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554"/>
            </a:solidFill>
            <a:prstDash val="solid"/>
          </a:ln>
        </p:spPr>
      </p:sp>
      <p:sp>
        <p:nvSpPr>
          <p:cNvPr id="5" name="page-8">
            <a:extLst xmlns:a="http://schemas.openxmlformats.org/drawingml/2006/main">
              <a:ext uri="{FF2B5EF4-FFF2-40B4-BE49-F238E27FC236}">
                <a16:creationId xmlns:a16="http://schemas.microsoft.com/office/drawing/2014/main" id="{E431D39E-FA05-4607-8709-4A03F81F2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0718F"/>
                </a:solidFill>
              </a:defRPr>
            </a:pPr>
            <a:r>
              <a:rPr sz="900" b="1">
                <a:solidFill>
                  <a:srgbClr val="60718F"/>
                </a:solidFill>
              </a:rPr>
              <a:t>08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BE9647BA-D00E-4318-8832-E4521B011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5F8FF"/>
                </a:solidFill>
              </a:defRPr>
            </a:pPr>
            <a:r>
              <a:rPr sz="2700" b="1">
                <a:solidFill>
                  <a:srgbClr val="F5F8FF"/>
                </a:solidFill>
              </a:rPr>
              <a:t>Testes focam os riscos que alteram saldo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D8F38323-8D5A-4BAC-B288-47319462C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EADC6"/>
                </a:solidFill>
              </a:defRPr>
            </a:pPr>
            <a:r>
              <a:rPr sz="1350" b="0">
                <a:solidFill>
                  <a:srgbClr val="9EADC6"/>
                </a:solidFill>
              </a:rPr>
              <a:t>Cobertura total é secundária; evidência nos fluxos críticos é prioridade.</a:t>
            </a:r>
          </a:p>
        </p:txBody>
      </p:sp>
      <p:sp>
        <p:nvSpPr>
          <p:cNvPr id="8" name="Retângulo 7">
            <a:extLst xmlns:a="http://schemas.openxmlformats.org/drawingml/2006/main">
              <a:ext uri="{FF2B5EF4-FFF2-40B4-BE49-F238E27FC236}">
                <a16:creationId xmlns:a16="http://schemas.microsoft.com/office/drawing/2014/main" id="{5216D82D-F8B9-4657-968F-95269405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24765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900" b="1">
                <a:solidFill>
                  <a:srgbClr val="8C6CFF"/>
                </a:solidFill>
              </a:defRPr>
            </a:pPr>
            <a:r>
              <a:rPr sz="9900" b="1">
                <a:solidFill>
                  <a:srgbClr val="8C6CFF"/>
                </a:solidFill>
              </a:rPr>
              <a:t>05</a:t>
            </a:r>
          </a:p>
        </p:txBody>
      </p:sp>
      <p:sp>
        <p:nvSpPr>
          <p:cNvPr id="9" name="Retângulo 8">
            <a:extLst xmlns:a="http://schemas.openxmlformats.org/drawingml/2006/main">
              <a:ext uri="{FF2B5EF4-FFF2-40B4-BE49-F238E27FC236}">
                <a16:creationId xmlns:a16="http://schemas.microsoft.com/office/drawing/2014/main" id="{8CD8ED9E-B948-46AD-8447-38E19655E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90900"/>
            <a:ext cx="25717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5F8FF"/>
                </a:solidFill>
              </a:defRPr>
            </a:pPr>
            <a:r>
              <a:rPr sz="1650" b="1">
                <a:solidFill>
                  <a:srgbClr val="F5F8FF"/>
                </a:solidFill>
              </a:rPr>
              <a:t>camadas de evidência</a:t>
            </a:r>
          </a:p>
        </p:txBody>
      </p:sp>
      <p:sp>
        <p:nvSpPr>
          <p:cNvPr id="10" name="Retângulo 9">
            <a:extLst xmlns:a="http://schemas.openxmlformats.org/drawingml/2006/main">
              <a:ext uri="{FF2B5EF4-FFF2-40B4-BE49-F238E27FC236}">
                <a16:creationId xmlns:a16="http://schemas.microsoft.com/office/drawing/2014/main" id="{69F71E08-1E03-4B31-A38E-97EC7FC7A2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886200"/>
            <a:ext cx="2952750" cy="914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EADC6"/>
                </a:solidFill>
              </a:defRPr>
            </a:pPr>
            <a:r>
              <a:rPr sz="1350" b="0">
                <a:solidFill>
                  <a:srgbClr val="9EADC6"/>
                </a:solidFill>
              </a:rPr>
              <a:t>Transferência e Worker recebem a maior profundidade de teste.</a:t>
            </a:r>
          </a:p>
        </p:txBody>
      </p:sp>
      <p:sp>
        <p:nvSpPr>
          <p:cNvPr id="11" name="Conector reto 10">
            <a:extLst xmlns:a="http://schemas.openxmlformats.org/drawingml/2006/main">
              <a:ext uri="{FF2B5EF4-FFF2-40B4-BE49-F238E27FC236}">
                <a16:creationId xmlns:a16="http://schemas.microsoft.com/office/drawing/2014/main" id="{61814C1E-33CF-45F1-9238-30FE81DD2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19550" y="2000250"/>
            <a:ext cx="0" cy="36195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554"/>
            </a:solidFill>
            <a:prstDash val="solid"/>
          </a:ln>
        </p:spPr>
      </p:sp>
      <p:sp>
        <p:nvSpPr>
          <p:cNvPr id="12" name="Conector reto 11">
            <a:extLst xmlns:a="http://schemas.openxmlformats.org/drawingml/2006/main">
              <a:ext uri="{FF2B5EF4-FFF2-40B4-BE49-F238E27FC236}">
                <a16:creationId xmlns:a16="http://schemas.microsoft.com/office/drawing/2014/main" id="{3F1785C5-E95E-4BCE-AB68-78DD4EC0C6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514600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554"/>
            </a:solidFill>
            <a:prstDash val="solid"/>
          </a:ln>
        </p:spPr>
      </p:sp>
      <p:sp>
        <p:nvSpPr>
          <p:cNvPr id="13" name="Retângulo 12">
            <a:extLst xmlns:a="http://schemas.openxmlformats.org/drawingml/2006/main">
              <a:ext uri="{FF2B5EF4-FFF2-40B4-BE49-F238E27FC236}">
                <a16:creationId xmlns:a16="http://schemas.microsoft.com/office/drawing/2014/main" id="{0E4BCB9C-0793-4EE3-881C-E248A075A4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0574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FE7FF"/>
                </a:solidFill>
              </a:defRPr>
            </a:pPr>
            <a:r>
              <a:rPr sz="1050" b="1">
                <a:solidFill>
                  <a:srgbClr val="3FE7FF"/>
                </a:solidFill>
              </a:rPr>
              <a:t>01</a:t>
            </a:r>
          </a:p>
        </p:txBody>
      </p:sp>
      <p:sp>
        <p:nvSpPr>
          <p:cNvPr id="14" name="Retângulo 13">
            <a:extLst xmlns:a="http://schemas.openxmlformats.org/drawingml/2006/main">
              <a:ext uri="{FF2B5EF4-FFF2-40B4-BE49-F238E27FC236}">
                <a16:creationId xmlns:a16="http://schemas.microsoft.com/office/drawing/2014/main" id="{99ACCE1B-1F2E-4916-9EA1-4BE23E6CD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19621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8FF"/>
                </a:solidFill>
              </a:defRPr>
            </a:pPr>
            <a:r>
              <a:rPr sz="1500" b="1">
                <a:solidFill>
                  <a:srgbClr val="F5F8FF"/>
                </a:solidFill>
              </a:rPr>
              <a:t>Unitário</a:t>
            </a:r>
          </a:p>
        </p:txBody>
      </p:sp>
      <p:sp>
        <p:nvSpPr>
          <p:cNvPr id="15" name="Retângulo 14">
            <a:extLst xmlns:a="http://schemas.openxmlformats.org/drawingml/2006/main">
              <a:ext uri="{FF2B5EF4-FFF2-40B4-BE49-F238E27FC236}">
                <a16:creationId xmlns:a16="http://schemas.microsoft.com/office/drawing/2014/main" id="{383CA432-87A4-4A8A-9B7A-CAA467B63A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19812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CF3B5"/>
                </a:solidFill>
              </a:defRPr>
            </a:pPr>
            <a:r>
              <a:rPr sz="1200" b="1">
                <a:solidFill>
                  <a:srgbClr val="6CF3B5"/>
                </a:solidFill>
              </a:rPr>
              <a:t>Jest</a:t>
            </a:r>
          </a:p>
        </p:txBody>
      </p:sp>
      <p:sp>
        <p:nvSpPr>
          <p:cNvPr id="16" name="Retângulo 15">
            <a:extLst xmlns:a="http://schemas.openxmlformats.org/drawingml/2006/main">
              <a:ext uri="{FF2B5EF4-FFF2-40B4-BE49-F238E27FC236}">
                <a16:creationId xmlns:a16="http://schemas.microsoft.com/office/drawing/2014/main" id="{5485C431-D02C-44C6-BF5B-4C3E0EB8B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22885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EADC6"/>
                </a:solidFill>
              </a:defRPr>
            </a:pPr>
            <a:r>
              <a:rPr sz="1200" b="0">
                <a:solidFill>
                  <a:srgbClr val="9EADC6"/>
                </a:solidFill>
              </a:rPr>
              <a:t>regras isoladas e validações</a:t>
            </a:r>
          </a:p>
        </p:txBody>
      </p:sp>
      <p:sp>
        <p:nvSpPr>
          <p:cNvPr id="17" name="Conector reto 16">
            <a:extLst xmlns:a="http://schemas.openxmlformats.org/drawingml/2006/main">
              <a:ext uri="{FF2B5EF4-FFF2-40B4-BE49-F238E27FC236}">
                <a16:creationId xmlns:a16="http://schemas.microsoft.com/office/drawing/2014/main" id="{F9E5B62F-9A49-47AE-8CE2-C830BB99C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238500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554"/>
            </a:solidFill>
            <a:prstDash val="solid"/>
          </a:ln>
        </p:spPr>
      </p:sp>
      <p:sp>
        <p:nvSpPr>
          <p:cNvPr id="18" name="Retângulo 17">
            <a:extLst xmlns:a="http://schemas.openxmlformats.org/drawingml/2006/main">
              <a:ext uri="{FF2B5EF4-FFF2-40B4-BE49-F238E27FC236}">
                <a16:creationId xmlns:a16="http://schemas.microsoft.com/office/drawing/2014/main" id="{3C4668D6-D0D6-4596-BEAB-FC1D18FC3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7813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FE7FF"/>
                </a:solidFill>
              </a:defRPr>
            </a:pPr>
            <a:r>
              <a:rPr sz="1050" b="1">
                <a:solidFill>
                  <a:srgbClr val="3FE7FF"/>
                </a:solidFill>
              </a:rPr>
              <a:t>02</a:t>
            </a:r>
          </a:p>
        </p:txBody>
      </p:sp>
      <p:sp>
        <p:nvSpPr>
          <p:cNvPr id="19" name="Retângulo 18">
            <a:extLst xmlns:a="http://schemas.openxmlformats.org/drawingml/2006/main">
              <a:ext uri="{FF2B5EF4-FFF2-40B4-BE49-F238E27FC236}">
                <a16:creationId xmlns:a16="http://schemas.microsoft.com/office/drawing/2014/main" id="{FFD32FBE-ADAB-4472-9CC7-F0F53FEB2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6860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8FF"/>
                </a:solidFill>
              </a:defRPr>
            </a:pPr>
            <a:r>
              <a:rPr sz="1500" b="1">
                <a:solidFill>
                  <a:srgbClr val="F5F8FF"/>
                </a:solidFill>
              </a:rPr>
              <a:t>Integração</a:t>
            </a:r>
          </a:p>
        </p:txBody>
      </p:sp>
      <p:sp>
        <p:nvSpPr>
          <p:cNvPr id="20" name="Retângulo 19">
            <a:extLst xmlns:a="http://schemas.openxmlformats.org/drawingml/2006/main">
              <a:ext uri="{FF2B5EF4-FFF2-40B4-BE49-F238E27FC236}">
                <a16:creationId xmlns:a16="http://schemas.microsoft.com/office/drawing/2014/main" id="{9619A853-C65B-49BF-9241-05AE4ADBF9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7051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CF3B5"/>
                </a:solidFill>
              </a:defRPr>
            </a:pPr>
            <a:r>
              <a:rPr sz="1200" b="1">
                <a:solidFill>
                  <a:srgbClr val="6CF3B5"/>
                </a:solidFill>
              </a:rPr>
              <a:t>Jest + Supertest</a:t>
            </a:r>
          </a:p>
        </p:txBody>
      </p:sp>
      <p:sp>
        <p:nvSpPr>
          <p:cNvPr id="21" name="Retângulo 20">
            <a:extLst xmlns:a="http://schemas.openxmlformats.org/drawingml/2006/main">
              <a:ext uri="{FF2B5EF4-FFF2-40B4-BE49-F238E27FC236}">
                <a16:creationId xmlns:a16="http://schemas.microsoft.com/office/drawing/2014/main" id="{5E7F02D5-62C3-463E-B033-E696ED4D9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295275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EADC6"/>
                </a:solidFill>
              </a:defRPr>
            </a:pPr>
            <a:r>
              <a:rPr sz="1200" b="0">
                <a:solidFill>
                  <a:srgbClr val="9EADC6"/>
                </a:solidFill>
              </a:rPr>
              <a:t>endpoints e estado PENDENTE</a:t>
            </a:r>
          </a:p>
        </p:txBody>
      </p:sp>
      <p:sp>
        <p:nvSpPr>
          <p:cNvPr id="22" name="Conector reto 21">
            <a:extLst xmlns:a="http://schemas.openxmlformats.org/drawingml/2006/main">
              <a:ext uri="{FF2B5EF4-FFF2-40B4-BE49-F238E27FC236}">
                <a16:creationId xmlns:a16="http://schemas.microsoft.com/office/drawing/2014/main" id="{DF1F3F3A-962D-49AB-BD65-7E2051B2E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962400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554"/>
            </a:solidFill>
            <a:prstDash val="solid"/>
          </a:ln>
        </p:spPr>
      </p:sp>
      <p:sp>
        <p:nvSpPr>
          <p:cNvPr id="23" name="Retângulo 22">
            <a:extLst xmlns:a="http://schemas.openxmlformats.org/drawingml/2006/main">
              <a:ext uri="{FF2B5EF4-FFF2-40B4-BE49-F238E27FC236}">
                <a16:creationId xmlns:a16="http://schemas.microsoft.com/office/drawing/2014/main" id="{CFA8D4B3-3B5E-44AF-8165-F6CC0B8D0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35052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FE7FF"/>
                </a:solidFill>
              </a:defRPr>
            </a:pPr>
            <a:r>
              <a:rPr sz="1050" b="1">
                <a:solidFill>
                  <a:srgbClr val="3FE7FF"/>
                </a:solidFill>
              </a:rPr>
              <a:t>03</a:t>
            </a:r>
          </a:p>
        </p:txBody>
      </p:sp>
      <p:sp>
        <p:nvSpPr>
          <p:cNvPr id="24" name="Retângulo 23">
            <a:extLst xmlns:a="http://schemas.openxmlformats.org/drawingml/2006/main">
              <a:ext uri="{FF2B5EF4-FFF2-40B4-BE49-F238E27FC236}">
                <a16:creationId xmlns:a16="http://schemas.microsoft.com/office/drawing/2014/main" id="{6C5DDFB3-0BE1-4DC3-A0CE-1A2255EF2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34099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8FF"/>
                </a:solidFill>
              </a:defRPr>
            </a:pPr>
            <a:r>
              <a:rPr sz="1500" b="1">
                <a:solidFill>
                  <a:srgbClr val="F5F8FF"/>
                </a:solidFill>
              </a:rPr>
              <a:t>Fluxo assíncrono</a:t>
            </a:r>
          </a:p>
        </p:txBody>
      </p:sp>
      <p:sp>
        <p:nvSpPr>
          <p:cNvPr id="25" name="Retângulo 24">
            <a:extLst xmlns:a="http://schemas.openxmlformats.org/drawingml/2006/main">
              <a:ext uri="{FF2B5EF4-FFF2-40B4-BE49-F238E27FC236}">
                <a16:creationId xmlns:a16="http://schemas.microsoft.com/office/drawing/2014/main" id="{FF98131E-CC96-4784-90B4-FF32827F2C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4290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CF3B5"/>
                </a:solidFill>
              </a:defRPr>
            </a:pPr>
            <a:r>
              <a:rPr sz="1200" b="1">
                <a:solidFill>
                  <a:srgbClr val="6CF3B5"/>
                </a:solidFill>
              </a:rPr>
              <a:t>Worker + logs</a:t>
            </a:r>
          </a:p>
        </p:txBody>
      </p:sp>
      <p:sp>
        <p:nvSpPr>
          <p:cNvPr id="26" name="Retângulo 25">
            <a:extLst xmlns:a="http://schemas.openxmlformats.org/drawingml/2006/main">
              <a:ext uri="{FF2B5EF4-FFF2-40B4-BE49-F238E27FC236}">
                <a16:creationId xmlns:a16="http://schemas.microsoft.com/office/drawing/2014/main" id="{35635918-5F73-431C-9555-3A30738D6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367665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EADC6"/>
                </a:solidFill>
              </a:defRPr>
            </a:pPr>
            <a:r>
              <a:rPr sz="1200" b="0">
                <a:solidFill>
                  <a:srgbClr val="9EADC6"/>
                </a:solidFill>
              </a:rPr>
              <a:t>consumo e estado CONCLUÍDO</a:t>
            </a:r>
          </a:p>
        </p:txBody>
      </p:sp>
      <p:sp>
        <p:nvSpPr>
          <p:cNvPr id="27" name="Conector reto 26">
            <a:extLst xmlns:a="http://schemas.openxmlformats.org/drawingml/2006/main">
              <a:ext uri="{FF2B5EF4-FFF2-40B4-BE49-F238E27FC236}">
                <a16:creationId xmlns:a16="http://schemas.microsoft.com/office/drawing/2014/main" id="{31BC9369-B2FE-4644-A2F3-39237B91E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686300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554"/>
            </a:solidFill>
            <a:prstDash val="solid"/>
          </a:ln>
        </p:spPr>
      </p:sp>
      <p:sp>
        <p:nvSpPr>
          <p:cNvPr id="28" name="Retângulo 27">
            <a:extLst xmlns:a="http://schemas.openxmlformats.org/drawingml/2006/main">
              <a:ext uri="{FF2B5EF4-FFF2-40B4-BE49-F238E27FC236}">
                <a16:creationId xmlns:a16="http://schemas.microsoft.com/office/drawing/2014/main" id="{8D2C60CE-4C7F-4482-8413-C63E022E2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2291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C6CFF"/>
                </a:solidFill>
              </a:defRPr>
            </a:pPr>
            <a:r>
              <a:rPr sz="1050" b="1">
                <a:solidFill>
                  <a:srgbClr val="8C6CFF"/>
                </a:solidFill>
              </a:rPr>
              <a:t>04</a:t>
            </a:r>
          </a:p>
        </p:txBody>
      </p:sp>
      <p:sp>
        <p:nvSpPr>
          <p:cNvPr id="29" name="Retângulo 28">
            <a:extLst xmlns:a="http://schemas.openxmlformats.org/drawingml/2006/main">
              <a:ext uri="{FF2B5EF4-FFF2-40B4-BE49-F238E27FC236}">
                <a16:creationId xmlns:a16="http://schemas.microsoft.com/office/drawing/2014/main" id="{8C65F142-B68A-4284-8057-0052CC7CF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1338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8FF"/>
                </a:solidFill>
              </a:defRPr>
            </a:pPr>
            <a:r>
              <a:rPr sz="1500" b="1">
                <a:solidFill>
                  <a:srgbClr val="F5F8FF"/>
                </a:solidFill>
              </a:rPr>
              <a:t>Concorrência</a:t>
            </a:r>
          </a:p>
        </p:txBody>
      </p:sp>
      <p:sp>
        <p:nvSpPr>
          <p:cNvPr id="30" name="Retângulo 29">
            <a:extLst xmlns:a="http://schemas.openxmlformats.org/drawingml/2006/main">
              <a:ext uri="{FF2B5EF4-FFF2-40B4-BE49-F238E27FC236}">
                <a16:creationId xmlns:a16="http://schemas.microsoft.com/office/drawing/2014/main" id="{7B302FA3-74C1-4E6E-8A18-7152DC0D1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1529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CF3B5"/>
                </a:solidFill>
              </a:defRPr>
            </a:pPr>
            <a:r>
              <a:rPr sz="1200" b="1">
                <a:solidFill>
                  <a:srgbClr val="6CF3B5"/>
                </a:solidFill>
              </a:rPr>
              <a:t>script simultâneo</a:t>
            </a:r>
          </a:p>
        </p:txBody>
      </p:sp>
      <p:sp>
        <p:nvSpPr>
          <p:cNvPr id="31" name="Retângulo 30">
            <a:extLst xmlns:a="http://schemas.openxmlformats.org/drawingml/2006/main">
              <a:ext uri="{FF2B5EF4-FFF2-40B4-BE49-F238E27FC236}">
                <a16:creationId xmlns:a16="http://schemas.microsoft.com/office/drawing/2014/main" id="{E1F2C7C6-6F8A-4917-94E1-7B9F7A2DF0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40055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EADC6"/>
                </a:solidFill>
              </a:defRPr>
            </a:pPr>
            <a:r>
              <a:rPr sz="1200" b="0">
                <a:solidFill>
                  <a:srgbClr val="9EADC6"/>
                </a:solidFill>
              </a:rPr>
              <a:t>sem saldo negativo / race condition</a:t>
            </a:r>
          </a:p>
        </p:txBody>
      </p:sp>
      <p:sp>
        <p:nvSpPr>
          <p:cNvPr id="32" name="Conector reto 31">
            <a:extLst xmlns:a="http://schemas.openxmlformats.org/drawingml/2006/main">
              <a:ext uri="{FF2B5EF4-FFF2-40B4-BE49-F238E27FC236}">
                <a16:creationId xmlns:a16="http://schemas.microsoft.com/office/drawing/2014/main" id="{1696BDDC-D2DF-4A23-9D86-E96529E88D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410200"/>
            <a:ext cx="6667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554"/>
            </a:solidFill>
            <a:prstDash val="solid"/>
          </a:ln>
        </p:spPr>
      </p:sp>
      <p:sp>
        <p:nvSpPr>
          <p:cNvPr id="33" name="Retângulo 32">
            <a:extLst xmlns:a="http://schemas.openxmlformats.org/drawingml/2006/main">
              <a:ext uri="{FF2B5EF4-FFF2-40B4-BE49-F238E27FC236}">
                <a16:creationId xmlns:a16="http://schemas.microsoft.com/office/drawing/2014/main" id="{BEA8F186-0924-40C2-BB52-A643840CC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4953000"/>
            <a:ext cx="4191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8C6CFF"/>
                </a:solidFill>
              </a:defRPr>
            </a:pPr>
            <a:r>
              <a:rPr sz="1050" b="1">
                <a:solidFill>
                  <a:srgbClr val="8C6CFF"/>
                </a:solidFill>
              </a:rPr>
              <a:t>05</a:t>
            </a:r>
          </a:p>
        </p:txBody>
      </p:sp>
      <p:sp>
        <p:nvSpPr>
          <p:cNvPr id="34" name="Retângulo 33">
            <a:extLst xmlns:a="http://schemas.openxmlformats.org/drawingml/2006/main">
              <a:ext uri="{FF2B5EF4-FFF2-40B4-BE49-F238E27FC236}">
                <a16:creationId xmlns:a16="http://schemas.microsoft.com/office/drawing/2014/main" id="{E2966626-3039-46E4-B635-4F4C52131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48577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5F8FF"/>
                </a:solidFill>
              </a:defRPr>
            </a:pPr>
            <a:r>
              <a:rPr sz="1500" b="1">
                <a:solidFill>
                  <a:srgbClr val="F5F8FF"/>
                </a:solidFill>
              </a:rPr>
              <a:t>Imutabilidade + carga</a:t>
            </a:r>
          </a:p>
        </p:txBody>
      </p:sp>
      <p:sp>
        <p:nvSpPr>
          <p:cNvPr id="35" name="Retângulo 34">
            <a:extLst xmlns:a="http://schemas.openxmlformats.org/drawingml/2006/main">
              <a:ext uri="{FF2B5EF4-FFF2-40B4-BE49-F238E27FC236}">
                <a16:creationId xmlns:a16="http://schemas.microsoft.com/office/drawing/2014/main" id="{C716F20D-97CF-4422-8ED7-158F40DF20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4876800"/>
            <a:ext cx="1714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6CF3B5"/>
                </a:solidFill>
              </a:defRPr>
            </a:pPr>
            <a:r>
              <a:rPr sz="1200" b="1">
                <a:solidFill>
                  <a:srgbClr val="6CF3B5"/>
                </a:solidFill>
              </a:rPr>
              <a:t>SQL + k6</a:t>
            </a:r>
          </a:p>
        </p:txBody>
      </p:sp>
      <p:sp>
        <p:nvSpPr>
          <p:cNvPr id="36" name="Retângulo 35">
            <a:extLst xmlns:a="http://schemas.openxmlformats.org/drawingml/2006/main">
              <a:ext uri="{FF2B5EF4-FFF2-40B4-BE49-F238E27FC236}">
                <a16:creationId xmlns:a16="http://schemas.microsoft.com/office/drawing/2014/main" id="{B2D0911A-5B4D-42F8-B861-26856AF070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53300" y="5124450"/>
            <a:ext cx="3714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00" b="0">
                <a:solidFill>
                  <a:srgbClr val="9EADC6"/>
                </a:solidFill>
              </a:defRPr>
            </a:pPr>
            <a:r>
              <a:rPr sz="1200" b="0">
                <a:solidFill>
                  <a:srgbClr val="9EADC6"/>
                </a:solidFill>
              </a:rPr>
              <a:t>auditoria protegida e SLA simulado</a:t>
            </a:r>
          </a:p>
        </p:txBody>
      </p:sp>
    </p:spTree>
    <p:extLst>
      <p:ext uri="{BB962C8B-B14F-4D97-AF65-F5344CB8AC3E}">
        <p14:creationId xmlns:p14="http://schemas.microsoft.com/office/powerpoint/2010/main" val="98240454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0B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1" name="Elipse 30">
            <a:extLst xmlns:a="http://schemas.openxmlformats.org/drawingml/2006/main">
              <a:ext uri="{FF2B5EF4-FFF2-40B4-BE49-F238E27FC236}">
                <a16:creationId xmlns:a16="http://schemas.microsoft.com/office/drawing/2014/main" id="{49E5F050-61D1-4DA6-9D42-A2ADCCBBF3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-14287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lipse 1">
            <a:extLst xmlns:a="http://schemas.openxmlformats.org/drawingml/2006/main">
              <a:ext uri="{FF2B5EF4-FFF2-40B4-BE49-F238E27FC236}">
                <a16:creationId xmlns:a16="http://schemas.microsoft.com/office/drawing/2014/main" id="{5968F38C-ADA0-4F30-BF79-403A7C748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38250" y="571500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1E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10">
            <a:extLst xmlns:a="http://schemas.openxmlformats.org/drawingml/2006/main">
              <a:ext uri="{FF2B5EF4-FFF2-40B4-BE49-F238E27FC236}">
                <a16:creationId xmlns:a16="http://schemas.microsoft.com/office/drawing/2014/main" id="{8D820BC8-AF29-4CEF-9C44-E92D833FD0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FE7FF"/>
                </a:solidFill>
              </a:defRPr>
            </a:pPr>
            <a:r>
              <a:rPr sz="900" b="1">
                <a:solidFill>
                  <a:srgbClr val="3FE7FF"/>
                </a:solidFill>
              </a:rPr>
              <a:t>CRONOGRAMA</a:t>
            </a:r>
          </a:p>
        </p:txBody>
      </p:sp>
      <p:sp>
        <p:nvSpPr>
          <p:cNvPr id="4" name="Conector reto 3">
            <a:extLst xmlns:a="http://schemas.openxmlformats.org/drawingml/2006/main">
              <a:ext uri="{FF2B5EF4-FFF2-40B4-BE49-F238E27FC236}">
                <a16:creationId xmlns:a16="http://schemas.microsoft.com/office/drawing/2014/main" id="{D6CE6C7B-988E-4C8A-82D0-3737194B7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554"/>
            </a:solidFill>
            <a:prstDash val="solid"/>
          </a:ln>
        </p:spPr>
      </p:sp>
      <p:sp>
        <p:nvSpPr>
          <p:cNvPr id="5" name="page-10">
            <a:extLst xmlns:a="http://schemas.openxmlformats.org/drawingml/2006/main">
              <a:ext uri="{FF2B5EF4-FFF2-40B4-BE49-F238E27FC236}">
                <a16:creationId xmlns:a16="http://schemas.microsoft.com/office/drawing/2014/main" id="{BC7BFEDC-24DC-4F4C-8AB8-316DA3D4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0718F"/>
                </a:solidFill>
              </a:defRPr>
            </a:pPr>
            <a:r>
              <a:rPr sz="900" b="1">
                <a:solidFill>
                  <a:srgbClr val="60718F"/>
                </a:solidFill>
              </a:rPr>
              <a:t>10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545990A3-00CE-4010-B46E-6D39C52CD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5F8FF"/>
                </a:solidFill>
              </a:defRPr>
            </a:pPr>
            <a:r>
              <a:rPr sz="2700" b="1">
                <a:solidFill>
                  <a:srgbClr val="F5F8FF"/>
                </a:solidFill>
              </a:rPr>
              <a:t>Quatro entregas aumentam a maturidade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AF02470C-7026-4221-AAD7-5277DF15A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EADC6"/>
                </a:solidFill>
              </a:defRPr>
            </a:pPr>
            <a:r>
              <a:rPr sz="1350" b="0">
                <a:solidFill>
                  <a:srgbClr val="9EADC6"/>
                </a:solidFill>
              </a:rPr>
              <a:t>O MVP vem primeiro; observabilidade e escala entram sobre uma base funcional.</a:t>
            </a:r>
          </a:p>
        </p:txBody>
      </p:sp>
      <p:sp>
        <p:nvSpPr>
          <p:cNvPr id="8" name="Conector reto 7">
            <a:extLst xmlns:a="http://schemas.openxmlformats.org/drawingml/2006/main">
              <a:ext uri="{FF2B5EF4-FFF2-40B4-BE49-F238E27FC236}">
                <a16:creationId xmlns:a16="http://schemas.microsoft.com/office/drawing/2014/main" id="{79FC0964-C8EE-40EB-A8DA-996CA1793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3009900"/>
            <a:ext cx="94297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263554"/>
            </a:solidFill>
            <a:prstDash val="solid"/>
          </a:ln>
        </p:spPr>
      </p:sp>
      <p:sp>
        <p:nvSpPr>
          <p:cNvPr id="9" name="Elipse 8">
            <a:extLst xmlns:a="http://schemas.openxmlformats.org/drawingml/2006/main">
              <a:ext uri="{FF2B5EF4-FFF2-40B4-BE49-F238E27FC236}">
                <a16:creationId xmlns:a16="http://schemas.microsoft.com/office/drawing/2014/main" id="{EC43E4CB-E8D5-4F27-A398-4BF95BA84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" y="27051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228"/>
          </a:solidFill>
          <a:ln xmlns:a="http://schemas.openxmlformats.org/drawingml/2006/main" w="9525">
            <a:solidFill>
              <a:srgbClr val="3FE7FF"/>
            </a:solidFill>
            <a:prstDash val="solid"/>
          </a:ln>
        </p:spPr>
      </p:sp>
      <p:sp>
        <p:nvSpPr>
          <p:cNvPr id="10" name="Retângulo 9">
            <a:extLst xmlns:a="http://schemas.openxmlformats.org/drawingml/2006/main">
              <a:ext uri="{FF2B5EF4-FFF2-40B4-BE49-F238E27FC236}">
                <a16:creationId xmlns:a16="http://schemas.microsoft.com/office/drawing/2014/main" id="{5C4F295D-AA08-40CA-8B66-D752B9919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525" y="28860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FE7FF"/>
                </a:solidFill>
              </a:defRPr>
            </a:pPr>
            <a:r>
              <a:rPr sz="1200" b="1">
                <a:solidFill>
                  <a:srgbClr val="3FE7FF"/>
                </a:solidFill>
              </a:rPr>
              <a:t>01</a:t>
            </a:r>
          </a:p>
        </p:txBody>
      </p:sp>
      <p:sp>
        <p:nvSpPr>
          <p:cNvPr id="11" name="Retângulo 10">
            <a:extLst xmlns:a="http://schemas.openxmlformats.org/drawingml/2006/main">
              <a:ext uri="{FF2B5EF4-FFF2-40B4-BE49-F238E27FC236}">
                <a16:creationId xmlns:a16="http://schemas.microsoft.com/office/drawing/2014/main" id="{D584C0C8-8CCC-4E7A-A55E-B38BD4E6F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" y="36766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5F8FF"/>
                </a:solidFill>
              </a:defRPr>
            </a:pPr>
            <a:r>
              <a:rPr sz="1725" b="1">
                <a:solidFill>
                  <a:srgbClr val="F5F8FF"/>
                </a:solidFill>
              </a:rPr>
              <a:t>Planejar</a:t>
            </a:r>
          </a:p>
        </p:txBody>
      </p:sp>
      <p:sp>
        <p:nvSpPr>
          <p:cNvPr id="12" name="Retângulo 11">
            <a:extLst xmlns:a="http://schemas.openxmlformats.org/drawingml/2006/main">
              <a:ext uri="{FF2B5EF4-FFF2-40B4-BE49-F238E27FC236}">
                <a16:creationId xmlns:a16="http://schemas.microsoft.com/office/drawing/2014/main" id="{97471543-1E2E-4DD0-AF7E-1F9E1A29C3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" y="4114800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9EADC6"/>
                </a:solidFill>
              </a:defRPr>
            </a:pPr>
            <a:r>
              <a:rPr sz="1275" b="0">
                <a:solidFill>
                  <a:srgbClr val="9EADC6"/>
                </a:solidFill>
              </a:rPr>
              <a:t>arquitetura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9EADC6"/>
                </a:solidFill>
              </a:defRPr>
            </a:pPr>
            <a:r>
              <a:rPr sz="1275" b="0">
                <a:solidFill>
                  <a:srgbClr val="9EADC6"/>
                </a:solidFill>
              </a:rPr>
              <a:t>escopo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9EADC6"/>
                </a:solidFill>
              </a:defRPr>
            </a:pPr>
            <a:r>
              <a:rPr sz="1275" b="0">
                <a:solidFill>
                  <a:srgbClr val="9EADC6"/>
                </a:solidFill>
              </a:rPr>
              <a:t>segurança</a:t>
            </a:r>
          </a:p>
        </p:txBody>
      </p:sp>
      <p:sp>
        <p:nvSpPr>
          <p:cNvPr id="13" name="Retângulo 12">
            <a:extLst xmlns:a="http://schemas.openxmlformats.org/drawingml/2006/main">
              <a:ext uri="{FF2B5EF4-FFF2-40B4-BE49-F238E27FC236}">
                <a16:creationId xmlns:a16="http://schemas.microsoft.com/office/drawing/2014/main" id="{21D9359B-FE34-4E67-BD4C-558C894C5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" y="23241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3FE7FF"/>
                </a:solidFill>
              </a:defRPr>
            </a:pPr>
            <a:r>
              <a:rPr sz="900" b="1">
                <a:solidFill>
                  <a:srgbClr val="3FE7FF"/>
                </a:solidFill>
              </a:rPr>
              <a:t>ENTREGA 1</a:t>
            </a:r>
          </a:p>
        </p:txBody>
      </p:sp>
      <p:sp>
        <p:nvSpPr>
          <p:cNvPr id="14" name="Elipse 13">
            <a:extLst xmlns:a="http://schemas.openxmlformats.org/drawingml/2006/main">
              <a:ext uri="{FF2B5EF4-FFF2-40B4-BE49-F238E27FC236}">
                <a16:creationId xmlns:a16="http://schemas.microsoft.com/office/drawing/2014/main" id="{07A71C22-5C06-43B2-B3C3-19381D476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19575" y="27051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228"/>
          </a:solidFill>
          <a:ln xmlns:a="http://schemas.openxmlformats.org/drawingml/2006/main" w="9525">
            <a:solidFill>
              <a:srgbClr val="3FE7FF"/>
            </a:solidFill>
            <a:prstDash val="solid"/>
          </a:ln>
        </p:spPr>
      </p:sp>
      <p:sp>
        <p:nvSpPr>
          <p:cNvPr id="15" name="Retângulo 14">
            <a:extLst xmlns:a="http://schemas.openxmlformats.org/drawingml/2006/main">
              <a:ext uri="{FF2B5EF4-FFF2-40B4-BE49-F238E27FC236}">
                <a16:creationId xmlns:a16="http://schemas.microsoft.com/office/drawing/2014/main" id="{7B7DF45E-53AA-4D26-9E2D-50445EE76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860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3FE7FF"/>
                </a:solidFill>
              </a:defRPr>
            </a:pPr>
            <a:r>
              <a:rPr sz="1200" b="1">
                <a:solidFill>
                  <a:srgbClr val="3FE7FF"/>
                </a:solidFill>
              </a:rPr>
              <a:t>02</a:t>
            </a:r>
          </a:p>
        </p:txBody>
      </p:sp>
      <p:sp>
        <p:nvSpPr>
          <p:cNvPr id="16" name="Retângulo 15">
            <a:extLst xmlns:a="http://schemas.openxmlformats.org/drawingml/2006/main">
              <a:ext uri="{FF2B5EF4-FFF2-40B4-BE49-F238E27FC236}">
                <a16:creationId xmlns:a16="http://schemas.microsoft.com/office/drawing/2014/main" id="{7EB45BAA-5E9C-40F0-A428-5F7EF028C3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6766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5F8FF"/>
                </a:solidFill>
              </a:defRPr>
            </a:pPr>
            <a:r>
              <a:rPr sz="1725" b="1">
                <a:solidFill>
                  <a:srgbClr val="F5F8FF"/>
                </a:solidFill>
              </a:rPr>
              <a:t>Entregar MVP</a:t>
            </a:r>
          </a:p>
        </p:txBody>
      </p:sp>
      <p:sp>
        <p:nvSpPr>
          <p:cNvPr id="17" name="Retângulo 16">
            <a:extLst xmlns:a="http://schemas.openxmlformats.org/drawingml/2006/main">
              <a:ext uri="{FF2B5EF4-FFF2-40B4-BE49-F238E27FC236}">
                <a16:creationId xmlns:a16="http://schemas.microsoft.com/office/drawing/2014/main" id="{E671F1DF-FB95-4228-839F-362BA6AFB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4114800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9EADC6"/>
                </a:solidFill>
              </a:defRPr>
            </a:pPr>
            <a:r>
              <a:rPr sz="1275" b="0">
                <a:solidFill>
                  <a:srgbClr val="9EADC6"/>
                </a:solidFill>
              </a:rPr>
              <a:t>front + back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9EADC6"/>
                </a:solidFill>
              </a:defRPr>
            </a:pPr>
            <a:r>
              <a:rPr sz="1275" b="0">
                <a:solidFill>
                  <a:srgbClr val="9EADC6"/>
                </a:solidFill>
              </a:rPr>
              <a:t>JWT + contas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9EADC6"/>
                </a:solidFill>
              </a:defRPr>
            </a:pPr>
            <a:r>
              <a:rPr sz="1275" b="0">
                <a:solidFill>
                  <a:srgbClr val="9EADC6"/>
                </a:solidFill>
              </a:rPr>
              <a:t>CI/CD</a:t>
            </a:r>
          </a:p>
        </p:txBody>
      </p:sp>
      <p:sp>
        <p:nvSpPr>
          <p:cNvPr id="18" name="Retângulo 17">
            <a:extLst xmlns:a="http://schemas.openxmlformats.org/drawingml/2006/main">
              <a:ext uri="{FF2B5EF4-FFF2-40B4-BE49-F238E27FC236}">
                <a16:creationId xmlns:a16="http://schemas.microsoft.com/office/drawing/2014/main" id="{165E4356-E966-4413-A7B0-182B47F2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67125" y="23241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3FE7FF"/>
                </a:solidFill>
              </a:defRPr>
            </a:pPr>
            <a:r>
              <a:rPr sz="900" b="1">
                <a:solidFill>
                  <a:srgbClr val="3FE7FF"/>
                </a:solidFill>
              </a:rPr>
              <a:t>ENTREGA 2</a:t>
            </a:r>
          </a:p>
        </p:txBody>
      </p:sp>
      <p:sp>
        <p:nvSpPr>
          <p:cNvPr id="19" name="Elipse 18">
            <a:extLst xmlns:a="http://schemas.openxmlformats.org/drawingml/2006/main">
              <a:ext uri="{FF2B5EF4-FFF2-40B4-BE49-F238E27FC236}">
                <a16:creationId xmlns:a16="http://schemas.microsoft.com/office/drawing/2014/main" id="{2736F9D1-759F-459D-841A-FB4268525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62825" y="27051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228"/>
          </a:solidFill>
          <a:ln xmlns:a="http://schemas.openxmlformats.org/drawingml/2006/main" w="9525">
            <a:solidFill>
              <a:srgbClr val="8C6CFF"/>
            </a:solidFill>
            <a:prstDash val="solid"/>
          </a:ln>
        </p:spPr>
      </p:sp>
      <p:sp>
        <p:nvSpPr>
          <p:cNvPr id="20" name="Retângulo 19">
            <a:extLst xmlns:a="http://schemas.openxmlformats.org/drawingml/2006/main">
              <a:ext uri="{FF2B5EF4-FFF2-40B4-BE49-F238E27FC236}">
                <a16:creationId xmlns:a16="http://schemas.microsoft.com/office/drawing/2014/main" id="{C071B1EE-CF02-47A7-926D-ACD5464C5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39025" y="28860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8C6CFF"/>
                </a:solidFill>
              </a:defRPr>
            </a:pPr>
            <a:r>
              <a:rPr sz="1200" b="1">
                <a:solidFill>
                  <a:srgbClr val="8C6CFF"/>
                </a:solidFill>
              </a:rPr>
              <a:t>03</a:t>
            </a:r>
          </a:p>
        </p:txBody>
      </p:sp>
      <p:sp>
        <p:nvSpPr>
          <p:cNvPr id="21" name="Retângulo 20">
            <a:extLst xmlns:a="http://schemas.openxmlformats.org/drawingml/2006/main">
              <a:ext uri="{FF2B5EF4-FFF2-40B4-BE49-F238E27FC236}">
                <a16:creationId xmlns:a16="http://schemas.microsoft.com/office/drawing/2014/main" id="{D4B85154-E62E-46F0-BCB7-4A3A25929F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9875" y="36766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5F8FF"/>
                </a:solidFill>
              </a:defRPr>
            </a:pPr>
            <a:r>
              <a:rPr sz="1725" b="1">
                <a:solidFill>
                  <a:srgbClr val="F5F8FF"/>
                </a:solidFill>
              </a:rPr>
              <a:t>Observar</a:t>
            </a:r>
          </a:p>
        </p:txBody>
      </p:sp>
      <p:sp>
        <p:nvSpPr>
          <p:cNvPr id="22" name="Retângulo 21">
            <a:extLst xmlns:a="http://schemas.openxmlformats.org/drawingml/2006/main">
              <a:ext uri="{FF2B5EF4-FFF2-40B4-BE49-F238E27FC236}">
                <a16:creationId xmlns:a16="http://schemas.microsoft.com/office/drawing/2014/main" id="{1A5FBC2B-D7BA-4C3C-AAF3-AB1069A50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4114800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9EADC6"/>
                </a:solidFill>
              </a:defRPr>
            </a:pPr>
            <a:r>
              <a:rPr sz="1275" b="0">
                <a:solidFill>
                  <a:srgbClr val="9EADC6"/>
                </a:solidFill>
              </a:rPr>
              <a:t>fila + Worker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9EADC6"/>
                </a:solidFill>
              </a:defRPr>
            </a:pPr>
            <a:r>
              <a:rPr sz="1275" b="0">
                <a:solidFill>
                  <a:srgbClr val="9EADC6"/>
                </a:solidFill>
              </a:rPr>
              <a:t>Grafana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9EADC6"/>
                </a:solidFill>
              </a:defRPr>
            </a:pPr>
            <a:r>
              <a:rPr sz="1275" b="0">
                <a:solidFill>
                  <a:srgbClr val="9EADC6"/>
                </a:solidFill>
              </a:rPr>
              <a:t>WebSocket</a:t>
            </a:r>
          </a:p>
        </p:txBody>
      </p:sp>
      <p:sp>
        <p:nvSpPr>
          <p:cNvPr id="23" name="Retângulo 22">
            <a:extLst xmlns:a="http://schemas.openxmlformats.org/drawingml/2006/main">
              <a:ext uri="{FF2B5EF4-FFF2-40B4-BE49-F238E27FC236}">
                <a16:creationId xmlns:a16="http://schemas.microsoft.com/office/drawing/2014/main" id="{456BE618-2EEE-494A-BE55-BDCE8DD13E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0375" y="23241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8C6CFF"/>
                </a:solidFill>
              </a:defRPr>
            </a:pPr>
            <a:r>
              <a:rPr sz="900" b="1">
                <a:solidFill>
                  <a:srgbClr val="8C6CFF"/>
                </a:solidFill>
              </a:rPr>
              <a:t>ENTREGA 3</a:t>
            </a:r>
          </a:p>
        </p:txBody>
      </p:sp>
      <p:sp>
        <p:nvSpPr>
          <p:cNvPr id="24" name="Elipse 23">
            <a:extLst xmlns:a="http://schemas.openxmlformats.org/drawingml/2006/main">
              <a:ext uri="{FF2B5EF4-FFF2-40B4-BE49-F238E27FC236}">
                <a16:creationId xmlns:a16="http://schemas.microsoft.com/office/drawing/2014/main" id="{363D885D-B5EA-4E30-B7C0-01380AFE0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06075" y="2705100"/>
            <a:ext cx="609600" cy="6096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1228"/>
          </a:solidFill>
          <a:ln xmlns:a="http://schemas.openxmlformats.org/drawingml/2006/main" w="9525">
            <a:solidFill>
              <a:srgbClr val="6CF3B5"/>
            </a:solidFill>
            <a:prstDash val="solid"/>
          </a:ln>
        </p:spPr>
      </p:sp>
      <p:sp>
        <p:nvSpPr>
          <p:cNvPr id="25" name="Retângulo 24">
            <a:extLst xmlns:a="http://schemas.openxmlformats.org/drawingml/2006/main">
              <a:ext uri="{FF2B5EF4-FFF2-40B4-BE49-F238E27FC236}">
                <a16:creationId xmlns:a16="http://schemas.microsoft.com/office/drawing/2014/main" id="{57C548AE-565E-425E-AA7E-F8F6E51C6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82275" y="2886075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6CF3B5"/>
                </a:solidFill>
              </a:defRPr>
            </a:pPr>
            <a:r>
              <a:rPr sz="1200" b="1">
                <a:solidFill>
                  <a:srgbClr val="6CF3B5"/>
                </a:solidFill>
              </a:rPr>
              <a:t>04</a:t>
            </a:r>
          </a:p>
        </p:txBody>
      </p:sp>
      <p:sp>
        <p:nvSpPr>
          <p:cNvPr id="26" name="Retângulo 25">
            <a:extLst xmlns:a="http://schemas.openxmlformats.org/drawingml/2006/main">
              <a:ext uri="{FF2B5EF4-FFF2-40B4-BE49-F238E27FC236}">
                <a16:creationId xmlns:a16="http://schemas.microsoft.com/office/drawing/2014/main" id="{8C3E4B27-409D-423F-BA43-15CB9AC83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3676650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725" b="1">
                <a:solidFill>
                  <a:srgbClr val="F5F8FF"/>
                </a:solidFill>
              </a:defRPr>
            </a:pPr>
            <a:r>
              <a:rPr sz="1725" b="1">
                <a:solidFill>
                  <a:srgbClr val="F5F8FF"/>
                </a:solidFill>
              </a:rPr>
              <a:t>Validar escala</a:t>
            </a:r>
          </a:p>
        </p:txBody>
      </p:sp>
      <p:sp>
        <p:nvSpPr>
          <p:cNvPr id="27" name="Retângulo 26">
            <a:extLst xmlns:a="http://schemas.openxmlformats.org/drawingml/2006/main">
              <a:ext uri="{FF2B5EF4-FFF2-40B4-BE49-F238E27FC236}">
                <a16:creationId xmlns:a16="http://schemas.microsoft.com/office/drawing/2014/main" id="{12EB06CA-6088-4A00-A74F-3C53D56AA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114800"/>
            <a:ext cx="2000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75" b="0">
                <a:solidFill>
                  <a:srgbClr val="9EADC6"/>
                </a:solidFill>
              </a:defRPr>
            </a:pPr>
            <a:r>
              <a:rPr sz="1275" b="0">
                <a:solidFill>
                  <a:srgbClr val="9EADC6"/>
                </a:solidFill>
              </a:rPr>
              <a:t>concorrência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9EADC6"/>
                </a:solidFill>
              </a:defRPr>
            </a:pPr>
            <a:r>
              <a:rPr sz="1275" b="0">
                <a:solidFill>
                  <a:srgbClr val="9EADC6"/>
                </a:solidFill>
              </a:rPr>
              <a:t>k6 + SLA</a:t>
            </a:r>
          </a:p>
          <a:p xmlns:a="http://schemas.openxmlformats.org/drawingml/2006/main">
            <a:pPr algn="ctr">
              <a:buNone/>
              <a:defRPr sz="1275" b="0">
                <a:solidFill>
                  <a:srgbClr val="9EADC6"/>
                </a:solidFill>
              </a:defRPr>
            </a:pPr>
            <a:r>
              <a:rPr sz="1275" b="0">
                <a:solidFill>
                  <a:srgbClr val="9EADC6"/>
                </a:solidFill>
              </a:rPr>
              <a:t>resultado final</a:t>
            </a:r>
          </a:p>
        </p:txBody>
      </p:sp>
      <p:sp>
        <p:nvSpPr>
          <p:cNvPr id="28" name="Retângulo 27">
            <a:extLst xmlns:a="http://schemas.openxmlformats.org/drawingml/2006/main">
              <a:ext uri="{FF2B5EF4-FFF2-40B4-BE49-F238E27FC236}">
                <a16:creationId xmlns:a16="http://schemas.microsoft.com/office/drawing/2014/main" id="{D953D386-BF97-4A10-B852-5D76D41D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53625" y="2324100"/>
            <a:ext cx="1714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6CF3B5"/>
                </a:solidFill>
              </a:defRPr>
            </a:pPr>
            <a:r>
              <a:rPr sz="900" b="1">
                <a:solidFill>
                  <a:srgbClr val="6CF3B5"/>
                </a:solidFill>
              </a:rPr>
              <a:t>ENTREGA 4</a:t>
            </a:r>
          </a:p>
        </p:txBody>
      </p:sp>
      <p:sp>
        <p:nvSpPr>
          <p:cNvPr id="29" name="Retângulo: Cantos Arredondados 28">
            <a:extLst xmlns:a="http://schemas.openxmlformats.org/drawingml/2006/main">
              <a:ext uri="{FF2B5EF4-FFF2-40B4-BE49-F238E27FC236}">
                <a16:creationId xmlns:a16="http://schemas.microsoft.com/office/drawing/2014/main" id="{B21C07C0-2925-49CC-B0AA-AF19404C6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334000"/>
            <a:ext cx="6896100" cy="495300"/>
          </a:xfrm>
          <a:prstGeom xmlns:a="http://schemas.openxmlformats.org/drawingml/2006/main" prst="roundRect">
            <a:avLst>
              <a:gd name="adj" fmla="val 30769"/>
            </a:avLst>
          </a:prstGeom>
          <a:solidFill xmlns:a="http://schemas.openxmlformats.org/drawingml/2006/main">
            <a:srgbClr val="111B34"/>
          </a:solidFill>
          <a:ln xmlns:a="http://schemas.openxmlformats.org/drawingml/2006/main" w="9525">
            <a:solidFill>
              <a:srgbClr val="263554"/>
            </a:solidFill>
            <a:prstDash val="solid"/>
          </a:ln>
        </p:spPr>
      </p:sp>
      <p:sp>
        <p:nvSpPr>
          <p:cNvPr id="30" name="Retângulo 29">
            <a:extLst xmlns:a="http://schemas.openxmlformats.org/drawingml/2006/main">
              <a:ext uri="{FF2B5EF4-FFF2-40B4-BE49-F238E27FC236}">
                <a16:creationId xmlns:a16="http://schemas.microsoft.com/office/drawing/2014/main" id="{9F5EE796-FFE6-4C4A-AEC2-CF06B9BDC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38450" y="5486400"/>
            <a:ext cx="65151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CA6A"/>
                </a:solidFill>
              </a:defRPr>
            </a:pPr>
            <a:r>
              <a:rPr sz="1200" b="1">
                <a:solidFill>
                  <a:srgbClr val="FFCA6A"/>
                </a:solidFill>
              </a:rPr>
              <a:t>Regra de prioridade: transferência + fila + auditoria + JWT antes de recursos secundários.</a:t>
            </a:r>
          </a:p>
        </p:txBody>
      </p:sp>
    </p:spTree>
    <p:extLst>
      <p:ext uri="{BB962C8B-B14F-4D97-AF65-F5344CB8AC3E}">
        <p14:creationId xmlns:p14="http://schemas.microsoft.com/office/powerpoint/2010/main" val="88260134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0B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Elipse 27">
            <a:extLst xmlns:a="http://schemas.openxmlformats.org/drawingml/2006/main">
              <a:ext uri="{FF2B5EF4-FFF2-40B4-BE49-F238E27FC236}">
                <a16:creationId xmlns:a16="http://schemas.microsoft.com/office/drawing/2014/main" id="{6ADE49DC-9582-4465-8A32-7E73725D1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-14287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lipse 1">
            <a:extLst xmlns:a="http://schemas.openxmlformats.org/drawingml/2006/main">
              <a:ext uri="{FF2B5EF4-FFF2-40B4-BE49-F238E27FC236}">
                <a16:creationId xmlns:a16="http://schemas.microsoft.com/office/drawing/2014/main" id="{9A95EE35-FA5D-4EF9-B319-2370D4027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38250" y="571500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1E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11">
            <a:extLst xmlns:a="http://schemas.openxmlformats.org/drawingml/2006/main">
              <a:ext uri="{FF2B5EF4-FFF2-40B4-BE49-F238E27FC236}">
                <a16:creationId xmlns:a16="http://schemas.microsoft.com/office/drawing/2014/main" id="{E4E6EE7E-255E-4B0F-88E8-2D676F7E1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FE7FF"/>
                </a:solidFill>
              </a:defRPr>
            </a:pPr>
            <a:r>
              <a:rPr sz="900" b="1">
                <a:solidFill>
                  <a:srgbClr val="3FE7FF"/>
                </a:solidFill>
              </a:rPr>
              <a:t>STACK</a:t>
            </a:r>
          </a:p>
        </p:txBody>
      </p:sp>
      <p:sp>
        <p:nvSpPr>
          <p:cNvPr id="4" name="Conector reto 3">
            <a:extLst xmlns:a="http://schemas.openxmlformats.org/drawingml/2006/main">
              <a:ext uri="{FF2B5EF4-FFF2-40B4-BE49-F238E27FC236}">
                <a16:creationId xmlns:a16="http://schemas.microsoft.com/office/drawing/2014/main" id="{0DF33FD8-F674-4083-B1C5-5B68B100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554"/>
            </a:solidFill>
            <a:prstDash val="solid"/>
          </a:ln>
        </p:spPr>
      </p:sp>
      <p:sp>
        <p:nvSpPr>
          <p:cNvPr id="5" name="page-11">
            <a:extLst xmlns:a="http://schemas.openxmlformats.org/drawingml/2006/main">
              <a:ext uri="{FF2B5EF4-FFF2-40B4-BE49-F238E27FC236}">
                <a16:creationId xmlns:a16="http://schemas.microsoft.com/office/drawing/2014/main" id="{CF25733F-DA9D-42BD-A66D-27EB3A49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0718F"/>
                </a:solidFill>
              </a:defRPr>
            </a:pPr>
            <a:r>
              <a:rPr sz="900" b="1">
                <a:solidFill>
                  <a:srgbClr val="60718F"/>
                </a:solidFill>
              </a:rPr>
              <a:t>11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3F101B7-9754-419B-A117-4C95CD01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5F8FF"/>
                </a:solidFill>
              </a:defRPr>
            </a:pPr>
            <a:r>
              <a:rPr sz="2700" b="1">
                <a:solidFill>
                  <a:srgbClr val="F5F8FF"/>
                </a:solidFill>
              </a:rPr>
              <a:t>A stack equilibra simplicidade e cobertura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E867C14-C63C-498B-9C80-26AAC5410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EADC6"/>
                </a:solidFill>
              </a:defRPr>
            </a:pPr>
            <a:r>
              <a:rPr sz="1350" b="0">
                <a:solidFill>
                  <a:srgbClr val="9EADC6"/>
                </a:solidFill>
              </a:rPr>
              <a:t>Cada camada tem uma função pedagógica clara — da interface à validação de carga.</a:t>
            </a:r>
          </a:p>
        </p:txBody>
      </p:sp>
      <p:sp>
        <p:nvSpPr>
          <p:cNvPr id="8" name="Retângulo: Cantos Arredondados 7">
            <a:extLst xmlns:a="http://schemas.openxmlformats.org/drawingml/2006/main">
              <a:ext uri="{FF2B5EF4-FFF2-40B4-BE49-F238E27FC236}">
                <a16:creationId xmlns:a16="http://schemas.microsoft.com/office/drawing/2014/main" id="{AFFD5633-5621-435E-98B7-BFAB02737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0287000" cy="57150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1B34"/>
          </a:solidFill>
          <a:ln xmlns:a="http://schemas.openxmlformats.org/drawingml/2006/main" w="9525">
            <a:solidFill>
              <a:srgbClr val="263554"/>
            </a:solidFill>
            <a:prstDash val="solid"/>
          </a:ln>
        </p:spPr>
      </p:sp>
      <p:sp>
        <p:nvSpPr>
          <p:cNvPr id="9" name="Retângulo: Cantos Arredondados 8">
            <a:extLst xmlns:a="http://schemas.openxmlformats.org/drawingml/2006/main">
              <a:ext uri="{FF2B5EF4-FFF2-40B4-BE49-F238E27FC236}">
                <a16:creationId xmlns:a16="http://schemas.microsoft.com/office/drawing/2014/main" id="{5AE3B437-4053-450E-B61B-19FEE4F8B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952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FE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etângulo 9">
            <a:extLst xmlns:a="http://schemas.openxmlformats.org/drawingml/2006/main">
              <a:ext uri="{FF2B5EF4-FFF2-40B4-BE49-F238E27FC236}">
                <a16:creationId xmlns:a16="http://schemas.microsoft.com/office/drawing/2014/main" id="{CE318EE7-55C5-471A-9EEF-A367E70E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621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FE7FF"/>
                </a:solidFill>
              </a:defRPr>
            </a:pPr>
            <a:r>
              <a:rPr sz="975" b="1">
                <a:solidFill>
                  <a:srgbClr val="3FE7FF"/>
                </a:solidFill>
              </a:rPr>
              <a:t>EXPERIÊNCIA</a:t>
            </a:r>
          </a:p>
        </p:txBody>
      </p:sp>
      <p:sp>
        <p:nvSpPr>
          <p:cNvPr id="11" name="Retângulo 10">
            <a:extLst xmlns:a="http://schemas.openxmlformats.org/drawingml/2006/main">
              <a:ext uri="{FF2B5EF4-FFF2-40B4-BE49-F238E27FC236}">
                <a16:creationId xmlns:a16="http://schemas.microsoft.com/office/drawing/2014/main" id="{7CFAF65D-98BE-4436-89FC-51D8376B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14550"/>
            <a:ext cx="752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5F8FF"/>
                </a:solidFill>
              </a:defRPr>
            </a:pPr>
            <a:r>
              <a:rPr sz="1425" b="1">
                <a:solidFill>
                  <a:srgbClr val="F5F8FF"/>
                </a:solidFill>
              </a:rPr>
              <a:t>React + Vite     •     Socket.io</a:t>
            </a:r>
          </a:p>
        </p:txBody>
      </p:sp>
      <p:sp>
        <p:nvSpPr>
          <p:cNvPr id="12" name="Retângulo: Cantos Arredondados 11">
            <a:extLst xmlns:a="http://schemas.openxmlformats.org/drawingml/2006/main">
              <a:ext uri="{FF2B5EF4-FFF2-40B4-BE49-F238E27FC236}">
                <a16:creationId xmlns:a16="http://schemas.microsoft.com/office/drawing/2014/main" id="{F8126C74-223A-444D-B992-E04AF8B9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10096500" cy="57150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62340"/>
          </a:solidFill>
          <a:ln xmlns:a="http://schemas.openxmlformats.org/drawingml/2006/main" w="9525">
            <a:solidFill>
              <a:srgbClr val="263554"/>
            </a:solidFill>
            <a:prstDash val="solid"/>
          </a:ln>
        </p:spPr>
      </p:sp>
      <p:sp>
        <p:nvSpPr>
          <p:cNvPr id="13" name="Retângulo: Cantos Arredondados 12">
            <a:extLst xmlns:a="http://schemas.openxmlformats.org/drawingml/2006/main">
              <a:ext uri="{FF2B5EF4-FFF2-40B4-BE49-F238E27FC236}">
                <a16:creationId xmlns:a16="http://schemas.microsoft.com/office/drawing/2014/main" id="{81370D1D-5F81-495D-B862-EAFBA4478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952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B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etângulo 13">
            <a:extLst xmlns:a="http://schemas.openxmlformats.org/drawingml/2006/main">
              <a:ext uri="{FF2B5EF4-FFF2-40B4-BE49-F238E27FC236}">
                <a16:creationId xmlns:a16="http://schemas.microsoft.com/office/drawing/2014/main" id="{AD90093A-CBDF-4285-AD46-32CCFEEB1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051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B8E8"/>
                </a:solidFill>
              </a:defRPr>
            </a:pPr>
            <a:r>
              <a:rPr sz="975" b="1">
                <a:solidFill>
                  <a:srgbClr val="16B8E8"/>
                </a:solidFill>
              </a:rPr>
              <a:t>SERVIÇOS</a:t>
            </a:r>
          </a:p>
        </p:txBody>
      </p:sp>
      <p:sp>
        <p:nvSpPr>
          <p:cNvPr id="15" name="Retângulo 14">
            <a:extLst xmlns:a="http://schemas.openxmlformats.org/drawingml/2006/main">
              <a:ext uri="{FF2B5EF4-FFF2-40B4-BE49-F238E27FC236}">
                <a16:creationId xmlns:a16="http://schemas.microsoft.com/office/drawing/2014/main" id="{D1CCFB6F-0509-41F2-A9E9-0FDB2841A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857500"/>
            <a:ext cx="733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5F8FF"/>
                </a:solidFill>
              </a:defRPr>
            </a:pPr>
            <a:r>
              <a:rPr sz="1425" b="1">
                <a:solidFill>
                  <a:srgbClr val="F5F8FF"/>
                </a:solidFill>
              </a:rPr>
              <a:t>Node.js + Express     •     JWT + bcrypt     •     Prisma</a:t>
            </a:r>
          </a:p>
        </p:txBody>
      </p:sp>
      <p:sp>
        <p:nvSpPr>
          <p:cNvPr id="16" name="Retângulo: Cantos Arredondados 15">
            <a:extLst xmlns:a="http://schemas.openxmlformats.org/drawingml/2006/main">
              <a:ext uri="{FF2B5EF4-FFF2-40B4-BE49-F238E27FC236}">
                <a16:creationId xmlns:a16="http://schemas.microsoft.com/office/drawing/2014/main" id="{338BF4B0-AEAB-4EB1-9661-8DF1A6CF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67100"/>
            <a:ext cx="9906000" cy="57150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1B34"/>
          </a:solidFill>
          <a:ln xmlns:a="http://schemas.openxmlformats.org/drawingml/2006/main" w="9525">
            <a:solidFill>
              <a:srgbClr val="263554"/>
            </a:solidFill>
            <a:prstDash val="solid"/>
          </a:ln>
        </p:spPr>
      </p:sp>
      <p:sp>
        <p:nvSpPr>
          <p:cNvPr id="17" name="Retângulo: Cantos Arredondados 16">
            <a:extLst xmlns:a="http://schemas.openxmlformats.org/drawingml/2006/main">
              <a:ext uri="{FF2B5EF4-FFF2-40B4-BE49-F238E27FC236}">
                <a16:creationId xmlns:a16="http://schemas.microsoft.com/office/drawing/2014/main" id="{1D1EE550-74BF-4137-9266-A316102A0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67100"/>
            <a:ext cx="952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C6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tângulo 17">
            <a:extLst xmlns:a="http://schemas.openxmlformats.org/drawingml/2006/main">
              <a:ext uri="{FF2B5EF4-FFF2-40B4-BE49-F238E27FC236}">
                <a16:creationId xmlns:a16="http://schemas.microsoft.com/office/drawing/2014/main" id="{E2AA59BC-4270-4990-BCB6-45466873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480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C6CFF"/>
                </a:solidFill>
              </a:defRPr>
            </a:pPr>
            <a:r>
              <a:rPr sz="975" b="1">
                <a:solidFill>
                  <a:srgbClr val="8C6CFF"/>
                </a:solidFill>
              </a:rPr>
              <a:t>DADOS E FILA</a:t>
            </a:r>
          </a:p>
        </p:txBody>
      </p:sp>
      <p:sp>
        <p:nvSpPr>
          <p:cNvPr id="19" name="Retângulo 18">
            <a:extLst xmlns:a="http://schemas.openxmlformats.org/drawingml/2006/main">
              <a:ext uri="{FF2B5EF4-FFF2-40B4-BE49-F238E27FC236}">
                <a16:creationId xmlns:a16="http://schemas.microsoft.com/office/drawing/2014/main" id="{C42B2737-0467-49D2-84AE-C23AA921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00450"/>
            <a:ext cx="714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5F8FF"/>
                </a:solidFill>
              </a:defRPr>
            </a:pPr>
            <a:r>
              <a:rPr sz="1425" b="1">
                <a:solidFill>
                  <a:srgbClr val="F5F8FF"/>
                </a:solidFill>
              </a:rPr>
              <a:t>PostgreSQL 16     •     RabbitMQ</a:t>
            </a:r>
          </a:p>
        </p:txBody>
      </p:sp>
      <p:sp>
        <p:nvSpPr>
          <p:cNvPr id="20" name="Retângulo: Cantos Arredondados 19">
            <a:extLst xmlns:a="http://schemas.openxmlformats.org/drawingml/2006/main">
              <a:ext uri="{FF2B5EF4-FFF2-40B4-BE49-F238E27FC236}">
                <a16:creationId xmlns:a16="http://schemas.microsoft.com/office/drawing/2014/main" id="{AE1FAF97-F325-4FAA-80B3-67531102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10050"/>
            <a:ext cx="9715500" cy="57150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62340"/>
          </a:solidFill>
          <a:ln xmlns:a="http://schemas.openxmlformats.org/drawingml/2006/main" w="9525">
            <a:solidFill>
              <a:srgbClr val="263554"/>
            </a:solidFill>
            <a:prstDash val="solid"/>
          </a:ln>
        </p:spPr>
      </p:sp>
      <p:sp>
        <p:nvSpPr>
          <p:cNvPr id="21" name="Retângulo: Cantos Arredondados 20">
            <a:extLst xmlns:a="http://schemas.openxmlformats.org/drawingml/2006/main">
              <a:ext uri="{FF2B5EF4-FFF2-40B4-BE49-F238E27FC236}">
                <a16:creationId xmlns:a16="http://schemas.microsoft.com/office/drawing/2014/main" id="{07C3D02A-ECBE-4426-BD57-920C6969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10050"/>
            <a:ext cx="952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CF3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etângulo 21">
            <a:extLst xmlns:a="http://schemas.openxmlformats.org/drawingml/2006/main">
              <a:ext uri="{FF2B5EF4-FFF2-40B4-BE49-F238E27FC236}">
                <a16:creationId xmlns:a16="http://schemas.microsoft.com/office/drawing/2014/main" id="{5408EFEA-C9FF-4226-9E71-4FE70D246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910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CF3B5"/>
                </a:solidFill>
              </a:defRPr>
            </a:pPr>
            <a:r>
              <a:rPr sz="975" b="1">
                <a:solidFill>
                  <a:srgbClr val="6CF3B5"/>
                </a:solidFill>
              </a:rPr>
              <a:t>PLATAFORMA</a:t>
            </a:r>
          </a:p>
        </p:txBody>
      </p:sp>
      <p:sp>
        <p:nvSpPr>
          <p:cNvPr id="23" name="Retângulo 22">
            <a:extLst xmlns:a="http://schemas.openxmlformats.org/drawingml/2006/main">
              <a:ext uri="{FF2B5EF4-FFF2-40B4-BE49-F238E27FC236}">
                <a16:creationId xmlns:a16="http://schemas.microsoft.com/office/drawing/2014/main" id="{1DD36E8F-443E-4B9A-89D6-5551CC04C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343400"/>
            <a:ext cx="695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5F8FF"/>
                </a:solidFill>
              </a:defRPr>
            </a:pPr>
            <a:r>
              <a:rPr sz="1425" b="1">
                <a:solidFill>
                  <a:srgbClr val="F5F8FF"/>
                </a:solidFill>
              </a:rPr>
              <a:t>Docker Compose     •     GitHub Actions     •     Prometheus + Grafana</a:t>
            </a:r>
          </a:p>
        </p:txBody>
      </p:sp>
      <p:sp>
        <p:nvSpPr>
          <p:cNvPr id="24" name="Retângulo: Cantos Arredondados 23">
            <a:extLst xmlns:a="http://schemas.openxmlformats.org/drawingml/2006/main">
              <a:ext uri="{FF2B5EF4-FFF2-40B4-BE49-F238E27FC236}">
                <a16:creationId xmlns:a16="http://schemas.microsoft.com/office/drawing/2014/main" id="{001446DD-CBE0-4CEA-A9C3-1B9B1F307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9525000" cy="57150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1B34"/>
          </a:solidFill>
          <a:ln xmlns:a="http://schemas.openxmlformats.org/drawingml/2006/main" w="9525">
            <a:solidFill>
              <a:srgbClr val="263554"/>
            </a:solidFill>
            <a:prstDash val="solid"/>
          </a:ln>
        </p:spPr>
      </p:sp>
      <p:sp>
        <p:nvSpPr>
          <p:cNvPr id="25" name="Retângulo: Cantos Arredondados 24">
            <a:extLst xmlns:a="http://schemas.openxmlformats.org/drawingml/2006/main">
              <a:ext uri="{FF2B5EF4-FFF2-40B4-BE49-F238E27FC236}">
                <a16:creationId xmlns:a16="http://schemas.microsoft.com/office/drawing/2014/main" id="{AED89B4A-2A51-4660-A40E-6F448473D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952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A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Retângulo 25">
            <a:extLst xmlns:a="http://schemas.openxmlformats.org/drawingml/2006/main">
              <a:ext uri="{FF2B5EF4-FFF2-40B4-BE49-F238E27FC236}">
                <a16:creationId xmlns:a16="http://schemas.microsoft.com/office/drawing/2014/main" id="{CBB4BC83-DE9A-46F5-9F20-E17508671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1339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CA6A"/>
                </a:solidFill>
              </a:defRPr>
            </a:pPr>
            <a:r>
              <a:rPr sz="975" b="1">
                <a:solidFill>
                  <a:srgbClr val="FFCA6A"/>
                </a:solidFill>
              </a:rPr>
              <a:t>QUALIDADE</a:t>
            </a:r>
          </a:p>
        </p:txBody>
      </p:sp>
      <p:sp>
        <p:nvSpPr>
          <p:cNvPr id="27" name="Retângulo 26">
            <a:extLst xmlns:a="http://schemas.openxmlformats.org/drawingml/2006/main">
              <a:ext uri="{FF2B5EF4-FFF2-40B4-BE49-F238E27FC236}">
                <a16:creationId xmlns:a16="http://schemas.microsoft.com/office/drawing/2014/main" id="{A2503FBF-F09C-41BE-847C-BD63061B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086350"/>
            <a:ext cx="676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5F8FF"/>
                </a:solidFill>
              </a:defRPr>
            </a:pPr>
            <a:r>
              <a:rPr sz="1425" b="1">
                <a:solidFill>
                  <a:srgbClr val="F5F8FF"/>
                </a:solidFill>
              </a:rPr>
              <a:t>Jest + Supertest     •     k6</a:t>
            </a:r>
          </a:p>
        </p:txBody>
      </p:sp>
    </p:spTree>
    <p:extLst>
      <p:ext uri="{BB962C8B-B14F-4D97-AF65-F5344CB8AC3E}">
        <p14:creationId xmlns:p14="http://schemas.microsoft.com/office/powerpoint/2010/main" val="87988060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70B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8" name="Elipse 27">
            <a:extLst xmlns:a="http://schemas.openxmlformats.org/drawingml/2006/main">
              <a:ext uri="{FF2B5EF4-FFF2-40B4-BE49-F238E27FC236}">
                <a16:creationId xmlns:a16="http://schemas.microsoft.com/office/drawing/2014/main" id="{6ADE49DC-9582-4465-8A32-7E73725D1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-14287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lipse 1">
            <a:extLst xmlns:a="http://schemas.openxmlformats.org/drawingml/2006/main">
              <a:ext uri="{FF2B5EF4-FFF2-40B4-BE49-F238E27FC236}">
                <a16:creationId xmlns:a16="http://schemas.microsoft.com/office/drawing/2014/main" id="{9A95EE35-FA5D-4EF9-B319-2370D4027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38250" y="571500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1E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11">
            <a:extLst xmlns:a="http://schemas.openxmlformats.org/drawingml/2006/main">
              <a:ext uri="{FF2B5EF4-FFF2-40B4-BE49-F238E27FC236}">
                <a16:creationId xmlns:a16="http://schemas.microsoft.com/office/drawing/2014/main" id="{E4E6EE7E-255E-4B0F-88E8-2D676F7E1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FE7FF"/>
                </a:solidFill>
              </a:defRPr>
            </a:pPr>
            <a:r>
              <a:rPr sz="900" b="1">
                <a:solidFill>
                  <a:srgbClr val="3FE7FF"/>
                </a:solidFill>
              </a:rPr>
              <a:t>FORMAÇÃO</a:t>
            </a:r>
          </a:p>
        </p:txBody>
      </p:sp>
      <p:sp>
        <p:nvSpPr>
          <p:cNvPr id="4" name="Conector reto 3">
            <a:extLst xmlns:a="http://schemas.openxmlformats.org/drawingml/2006/main">
              <a:ext uri="{FF2B5EF4-FFF2-40B4-BE49-F238E27FC236}">
                <a16:creationId xmlns:a16="http://schemas.microsoft.com/office/drawing/2014/main" id="{0DF33FD8-F674-4083-B1C5-5B68B1007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554"/>
            </a:solidFill>
            <a:prstDash val="solid"/>
          </a:ln>
        </p:spPr>
      </p:sp>
      <p:sp>
        <p:nvSpPr>
          <p:cNvPr id="5" name="page-11">
            <a:extLst xmlns:a="http://schemas.openxmlformats.org/drawingml/2006/main">
              <a:ext uri="{FF2B5EF4-FFF2-40B4-BE49-F238E27FC236}">
                <a16:creationId xmlns:a16="http://schemas.microsoft.com/office/drawing/2014/main" id="{CF25733F-DA9D-42BD-A66D-27EB3A49FB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9950" y="6419850"/>
            <a:ext cx="47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0718F"/>
                </a:solidFill>
              </a:defRPr>
            </a:pPr>
            <a:r>
              <a:rPr sz="900" b="1">
                <a:solidFill>
                  <a:srgbClr val="60718F"/>
                </a:solidFill>
              </a:rPr>
              <a:t>11A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03F101B7-9754-419B-A117-4C95CD019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5F8FF"/>
                </a:solidFill>
              </a:defRPr>
            </a:pPr>
            <a:r>
              <a:rPr sz="2700" b="1">
                <a:solidFill>
                  <a:srgbClr val="F5F8FF"/>
                </a:solidFill>
              </a:rPr>
              <a:t>Disciplinas críticas para o PulsePay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CE867C14-C63C-498B-9C80-26AAC5410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EADC6"/>
                </a:solidFill>
              </a:defRPr>
            </a:pPr>
            <a:r>
              <a:rPr sz="1350" b="0">
                <a:solidFill>
                  <a:srgbClr val="9EADC6"/>
                </a:solidFill>
              </a:rPr>
              <a:t>Com base no escopo técnico e nas decisões de arquitetura deste projeto,
estas são as disciplinas mais críticas para o desenvolvimento e a sustentação do PulsePay.</a:t>
            </a:r>
          </a:p>
        </p:txBody>
      </p:sp>
      <p:sp>
        <p:nvSpPr>
          <p:cNvPr id="8" name="Retângulo: Cantos Arredondados 7">
            <a:extLst xmlns:a="http://schemas.openxmlformats.org/drawingml/2006/main">
              <a:ext uri="{FF2B5EF4-FFF2-40B4-BE49-F238E27FC236}">
                <a16:creationId xmlns:a16="http://schemas.microsoft.com/office/drawing/2014/main" id="{AFFD5633-5621-435E-98B7-BFAB027377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10287000" cy="57150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1B34"/>
          </a:solidFill>
          <a:ln xmlns:a="http://schemas.openxmlformats.org/drawingml/2006/main" w="9525">
            <a:solidFill>
              <a:srgbClr val="263554"/>
            </a:solidFill>
            <a:prstDash val="solid"/>
          </a:ln>
        </p:spPr>
      </p:sp>
      <p:sp>
        <p:nvSpPr>
          <p:cNvPr id="9" name="Retângulo: Cantos Arredondados 8">
            <a:extLst xmlns:a="http://schemas.openxmlformats.org/drawingml/2006/main">
              <a:ext uri="{FF2B5EF4-FFF2-40B4-BE49-F238E27FC236}">
                <a16:creationId xmlns:a16="http://schemas.microsoft.com/office/drawing/2014/main" id="{5AE3B437-4053-450E-B61B-19FEE4F8B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81200"/>
            <a:ext cx="952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FE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0" name="Retângulo 9">
            <a:extLst xmlns:a="http://schemas.openxmlformats.org/drawingml/2006/main">
              <a:ext uri="{FF2B5EF4-FFF2-40B4-BE49-F238E27FC236}">
                <a16:creationId xmlns:a16="http://schemas.microsoft.com/office/drawing/2014/main" id="{CE318EE7-55C5-471A-9EEF-A367E70E85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1621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FE7FF"/>
                </a:solidFill>
              </a:defRPr>
            </a:pPr>
            <a:r>
              <a:rPr sz="975" b="1">
                <a:solidFill>
                  <a:srgbClr val="3FE7FF"/>
                </a:solidFill>
              </a:rPr>
              <a:t>01</a:t>
            </a:r>
          </a:p>
        </p:txBody>
      </p:sp>
      <p:sp>
        <p:nvSpPr>
          <p:cNvPr id="11" name="Retângulo 10">
            <a:extLst xmlns:a="http://schemas.openxmlformats.org/drawingml/2006/main">
              <a:ext uri="{FF2B5EF4-FFF2-40B4-BE49-F238E27FC236}">
                <a16:creationId xmlns:a16="http://schemas.microsoft.com/office/drawing/2014/main" id="{7CFAF65D-98BE-4436-89FC-51D8376B4D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2114550"/>
            <a:ext cx="7524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5F8FF"/>
                </a:solidFill>
              </a:defRPr>
            </a:pPr>
            <a:r>
              <a:rPr sz="1425" b="1">
                <a:solidFill>
                  <a:srgbClr val="F5F8FF"/>
                </a:solidFill>
              </a:rPr>
              <a:t>Integração e Entrega Contínua</a:t>
            </a:r>
          </a:p>
        </p:txBody>
      </p:sp>
      <p:sp>
        <p:nvSpPr>
          <p:cNvPr id="12" name="Retângulo: Cantos Arredondados 11">
            <a:extLst xmlns:a="http://schemas.openxmlformats.org/drawingml/2006/main">
              <a:ext uri="{FF2B5EF4-FFF2-40B4-BE49-F238E27FC236}">
                <a16:creationId xmlns:a16="http://schemas.microsoft.com/office/drawing/2014/main" id="{F8126C74-223A-444D-B992-E04AF8B95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10096500" cy="57150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62340"/>
          </a:solidFill>
          <a:ln xmlns:a="http://schemas.openxmlformats.org/drawingml/2006/main" w="9525">
            <a:solidFill>
              <a:srgbClr val="263554"/>
            </a:solidFill>
            <a:prstDash val="solid"/>
          </a:ln>
        </p:spPr>
      </p:sp>
      <p:sp>
        <p:nvSpPr>
          <p:cNvPr id="13" name="Retângulo: Cantos Arredondados 12">
            <a:extLst xmlns:a="http://schemas.openxmlformats.org/drawingml/2006/main">
              <a:ext uri="{FF2B5EF4-FFF2-40B4-BE49-F238E27FC236}">
                <a16:creationId xmlns:a16="http://schemas.microsoft.com/office/drawing/2014/main" id="{81370D1D-5F81-495D-B862-EAFBA4478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24150"/>
            <a:ext cx="952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16B8E8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Retângulo 13">
            <a:extLst xmlns:a="http://schemas.openxmlformats.org/drawingml/2006/main">
              <a:ext uri="{FF2B5EF4-FFF2-40B4-BE49-F238E27FC236}">
                <a16:creationId xmlns:a16="http://schemas.microsoft.com/office/drawing/2014/main" id="{AD90093A-CBDF-4285-AD46-32CCFEEB1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9051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16B8E8"/>
                </a:solidFill>
              </a:defRPr>
            </a:pPr>
            <a:r>
              <a:rPr sz="975" b="1">
                <a:solidFill>
                  <a:srgbClr val="16B8E8"/>
                </a:solidFill>
              </a:rPr>
              <a:t>02</a:t>
            </a:r>
          </a:p>
        </p:txBody>
      </p:sp>
      <p:sp>
        <p:nvSpPr>
          <p:cNvPr id="15" name="Retângulo 14">
            <a:extLst xmlns:a="http://schemas.openxmlformats.org/drawingml/2006/main">
              <a:ext uri="{FF2B5EF4-FFF2-40B4-BE49-F238E27FC236}">
                <a16:creationId xmlns:a16="http://schemas.microsoft.com/office/drawing/2014/main" id="{D1CCFB6F-0509-41F2-A9E9-0FDB2841A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857500"/>
            <a:ext cx="7334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5F8FF"/>
                </a:solidFill>
              </a:defRPr>
            </a:pPr>
            <a:r>
              <a:rPr sz="1425" b="1">
                <a:solidFill>
                  <a:srgbClr val="F5F8FF"/>
                </a:solidFill>
              </a:rPr>
              <a:t>Desenvolvimento de Software Seguro – DevSecOps</a:t>
            </a:r>
          </a:p>
        </p:txBody>
      </p:sp>
      <p:sp>
        <p:nvSpPr>
          <p:cNvPr id="16" name="Retângulo: Cantos Arredondados 15">
            <a:extLst xmlns:a="http://schemas.openxmlformats.org/drawingml/2006/main">
              <a:ext uri="{FF2B5EF4-FFF2-40B4-BE49-F238E27FC236}">
                <a16:creationId xmlns:a16="http://schemas.microsoft.com/office/drawing/2014/main" id="{338BF4B0-AEAB-4EB1-9661-8DF1A6CF6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67100"/>
            <a:ext cx="9906000" cy="57150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1B34"/>
          </a:solidFill>
          <a:ln xmlns:a="http://schemas.openxmlformats.org/drawingml/2006/main" w="9525">
            <a:solidFill>
              <a:srgbClr val="263554"/>
            </a:solidFill>
            <a:prstDash val="solid"/>
          </a:ln>
        </p:spPr>
      </p:sp>
      <p:sp>
        <p:nvSpPr>
          <p:cNvPr id="17" name="Retângulo: Cantos Arredondados 16">
            <a:extLst xmlns:a="http://schemas.openxmlformats.org/drawingml/2006/main">
              <a:ext uri="{FF2B5EF4-FFF2-40B4-BE49-F238E27FC236}">
                <a16:creationId xmlns:a16="http://schemas.microsoft.com/office/drawing/2014/main" id="{1D1EE550-74BF-4137-9266-A316102A0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467100"/>
            <a:ext cx="952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C6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8" name="Retângulo 17">
            <a:extLst xmlns:a="http://schemas.openxmlformats.org/drawingml/2006/main">
              <a:ext uri="{FF2B5EF4-FFF2-40B4-BE49-F238E27FC236}">
                <a16:creationId xmlns:a16="http://schemas.microsoft.com/office/drawing/2014/main" id="{E2AA59BC-4270-4990-BCB6-4546687309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6480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C6CFF"/>
                </a:solidFill>
              </a:defRPr>
            </a:pPr>
            <a:r>
              <a:rPr sz="975" b="1">
                <a:solidFill>
                  <a:srgbClr val="8C6CFF"/>
                </a:solidFill>
              </a:rPr>
              <a:t>03</a:t>
            </a:r>
          </a:p>
        </p:txBody>
      </p:sp>
      <p:sp>
        <p:nvSpPr>
          <p:cNvPr id="19" name="Retângulo 18">
            <a:extLst xmlns:a="http://schemas.openxmlformats.org/drawingml/2006/main">
              <a:ext uri="{FF2B5EF4-FFF2-40B4-BE49-F238E27FC236}">
                <a16:creationId xmlns:a16="http://schemas.microsoft.com/office/drawing/2014/main" id="{C42B2737-0467-49D2-84AE-C23AA921B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19450" y="3600450"/>
            <a:ext cx="714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5F8FF"/>
                </a:solidFill>
              </a:defRPr>
            </a:pPr>
            <a:r>
              <a:rPr sz="1425" b="1">
                <a:solidFill>
                  <a:srgbClr val="F5F8FF"/>
                </a:solidFill>
              </a:rPr>
              <a:t>Testes Automatizados e Contínuos</a:t>
            </a:r>
          </a:p>
        </p:txBody>
      </p:sp>
      <p:sp>
        <p:nvSpPr>
          <p:cNvPr id="20" name="Retângulo: Cantos Arredondados 19">
            <a:extLst xmlns:a="http://schemas.openxmlformats.org/drawingml/2006/main">
              <a:ext uri="{FF2B5EF4-FFF2-40B4-BE49-F238E27FC236}">
                <a16:creationId xmlns:a16="http://schemas.microsoft.com/office/drawing/2014/main" id="{AE1FAF97-F325-4FAA-80B3-67531102CF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10050"/>
            <a:ext cx="9715500" cy="57150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62340"/>
          </a:solidFill>
          <a:ln xmlns:a="http://schemas.openxmlformats.org/drawingml/2006/main" w="9525">
            <a:solidFill>
              <a:srgbClr val="263554"/>
            </a:solidFill>
            <a:prstDash val="solid"/>
          </a:ln>
        </p:spPr>
      </p:sp>
      <p:sp>
        <p:nvSpPr>
          <p:cNvPr id="21" name="Retângulo: Cantos Arredondados 20">
            <a:extLst xmlns:a="http://schemas.openxmlformats.org/drawingml/2006/main">
              <a:ext uri="{FF2B5EF4-FFF2-40B4-BE49-F238E27FC236}">
                <a16:creationId xmlns:a16="http://schemas.microsoft.com/office/drawing/2014/main" id="{07C3D02A-ECBE-4426-BD57-920C69692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10050"/>
            <a:ext cx="952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6CF3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2" name="Retângulo 21">
            <a:extLst xmlns:a="http://schemas.openxmlformats.org/drawingml/2006/main">
              <a:ext uri="{FF2B5EF4-FFF2-40B4-BE49-F238E27FC236}">
                <a16:creationId xmlns:a16="http://schemas.microsoft.com/office/drawing/2014/main" id="{5408EFEA-C9FF-4226-9E71-4FE70D2465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76350" y="43910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6CF3B5"/>
                </a:solidFill>
              </a:defRPr>
            </a:pPr>
            <a:r>
              <a:rPr sz="975" b="1">
                <a:solidFill>
                  <a:srgbClr val="6CF3B5"/>
                </a:solidFill>
              </a:rPr>
              <a:t>04</a:t>
            </a:r>
          </a:p>
        </p:txBody>
      </p:sp>
      <p:sp>
        <p:nvSpPr>
          <p:cNvPr id="23" name="Retângulo 22">
            <a:extLst xmlns:a="http://schemas.openxmlformats.org/drawingml/2006/main">
              <a:ext uri="{FF2B5EF4-FFF2-40B4-BE49-F238E27FC236}">
                <a16:creationId xmlns:a16="http://schemas.microsoft.com/office/drawing/2014/main" id="{1DD36E8F-443E-4B9A-89D6-5551CC04CB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14700" y="4343400"/>
            <a:ext cx="6953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5F8FF"/>
                </a:solidFill>
              </a:defRPr>
            </a:pPr>
            <a:r>
              <a:rPr sz="1425" b="1">
                <a:solidFill>
                  <a:srgbClr val="F5F8FF"/>
                </a:solidFill>
              </a:rPr>
              <a:t>Monitoramento e Análise de Logs</a:t>
            </a:r>
          </a:p>
        </p:txBody>
      </p:sp>
      <p:sp>
        <p:nvSpPr>
          <p:cNvPr id="24" name="Retângulo: Cantos Arredondados 23">
            <a:extLst xmlns:a="http://schemas.openxmlformats.org/drawingml/2006/main">
              <a:ext uri="{FF2B5EF4-FFF2-40B4-BE49-F238E27FC236}">
                <a16:creationId xmlns:a16="http://schemas.microsoft.com/office/drawing/2014/main" id="{001446DD-CBE0-4CEA-A9C3-1B9B1F307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9525000" cy="57150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111B34"/>
          </a:solidFill>
          <a:ln xmlns:a="http://schemas.openxmlformats.org/drawingml/2006/main" w="9525">
            <a:solidFill>
              <a:srgbClr val="263554"/>
            </a:solidFill>
            <a:prstDash val="solid"/>
          </a:ln>
        </p:spPr>
      </p:sp>
      <p:sp>
        <p:nvSpPr>
          <p:cNvPr id="25" name="Retângulo: Cantos Arredondados 24">
            <a:extLst xmlns:a="http://schemas.openxmlformats.org/drawingml/2006/main">
              <a:ext uri="{FF2B5EF4-FFF2-40B4-BE49-F238E27FC236}">
                <a16:creationId xmlns:a16="http://schemas.microsoft.com/office/drawing/2014/main" id="{AED89B4A-2A51-4660-A40E-6F448473D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953000"/>
            <a:ext cx="952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CA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6" name="Retângulo 25">
            <a:extLst xmlns:a="http://schemas.openxmlformats.org/drawingml/2006/main">
              <a:ext uri="{FF2B5EF4-FFF2-40B4-BE49-F238E27FC236}">
                <a16:creationId xmlns:a16="http://schemas.microsoft.com/office/drawing/2014/main" id="{CBB4BC83-DE9A-46F5-9F20-E17508671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13397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FFCA6A"/>
                </a:solidFill>
              </a:defRPr>
            </a:pPr>
            <a:r>
              <a:rPr sz="975" b="1">
                <a:solidFill>
                  <a:srgbClr val="FFCA6A"/>
                </a:solidFill>
              </a:rPr>
              <a:t>05</a:t>
            </a:r>
          </a:p>
        </p:txBody>
      </p:sp>
      <p:sp>
        <p:nvSpPr>
          <p:cNvPr id="27" name="Retângulo 26">
            <a:extLst xmlns:a="http://schemas.openxmlformats.org/drawingml/2006/main">
              <a:ext uri="{FF2B5EF4-FFF2-40B4-BE49-F238E27FC236}">
                <a16:creationId xmlns:a16="http://schemas.microsoft.com/office/drawing/2014/main" id="{A2503FBF-F09C-41BE-847C-BD63061B5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5086350"/>
            <a:ext cx="6762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5F8FF"/>
                </a:solidFill>
              </a:defRPr>
            </a:pPr>
            <a:r>
              <a:rPr sz="1425" b="1">
                <a:solidFill>
                  <a:srgbClr val="F5F8FF"/>
                </a:solidFill>
              </a:rPr>
              <a:t>Direito Digital e LGPD</a:t>
            </a:r>
          </a:p>
        </p:txBody>
      </p:sp>
      <p:sp>
        <p:nvSpPr>
          <p:cNvPr id="29" name="discipline-row-06-background">
            <a:extLst xmlns:a="http://schemas.openxmlformats.org/drawingml/2006/main">
              <a:ext uri="{FF2B5EF4-FFF2-40B4-BE49-F238E27FC236}">
                <a16:creationId xmlns:a16="http://schemas.microsoft.com/office/drawing/2014/main" id="{74A7EB01-1483-4EED-88D6-370E843164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695950"/>
            <a:ext cx="9334500" cy="5715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62340"/>
          </a:solidFill>
          <a:ln xmlns:a="http://schemas.openxmlformats.org/drawingml/2006/main" w="9525">
            <a:solidFill>
              <a:srgbClr val="263554"/>
            </a:solidFill>
            <a:prstDash val="solid"/>
          </a:ln>
        </p:spPr>
      </p:sp>
      <p:sp>
        <p:nvSpPr>
          <p:cNvPr id="30" name="discipline-row-06-accent">
            <a:extLst xmlns:a="http://schemas.openxmlformats.org/drawingml/2006/main">
              <a:ext uri="{FF2B5EF4-FFF2-40B4-BE49-F238E27FC236}">
                <a16:creationId xmlns:a16="http://schemas.microsoft.com/office/drawing/2014/main" id="{7D0E5D53-73A9-495A-9EF4-3922D5302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695950"/>
            <a:ext cx="95250" cy="5715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C6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1" name="discipline-row-06-label">
            <a:extLst xmlns:a="http://schemas.openxmlformats.org/drawingml/2006/main">
              <a:ext uri="{FF2B5EF4-FFF2-40B4-BE49-F238E27FC236}">
                <a16:creationId xmlns:a16="http://schemas.microsoft.com/office/drawing/2014/main" id="{DBBFB536-E875-4840-BBAC-9CAB14A3F9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6850" y="58769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8C6CFF"/>
                </a:solidFill>
              </a:defRPr>
            </a:pPr>
            <a:r>
              <a:rPr sz="975" b="1">
                <a:solidFill>
                  <a:srgbClr val="8C6CFF"/>
                </a:solidFill>
              </a:rPr>
              <a:t>06</a:t>
            </a:r>
          </a:p>
        </p:txBody>
      </p:sp>
      <p:sp>
        <p:nvSpPr>
          <p:cNvPr id="32" name="discipline-row-06-text">
            <a:extLst xmlns:a="http://schemas.openxmlformats.org/drawingml/2006/main">
              <a:ext uri="{FF2B5EF4-FFF2-40B4-BE49-F238E27FC236}">
                <a16:creationId xmlns:a16="http://schemas.microsoft.com/office/drawing/2014/main" id="{41941F70-719F-4E27-8094-7471CC95A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829300"/>
            <a:ext cx="6572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5F8FF"/>
                </a:solidFill>
              </a:defRPr>
            </a:pPr>
            <a:r>
              <a:rPr sz="1425" b="1">
                <a:solidFill>
                  <a:srgbClr val="F5F8FF"/>
                </a:solidFill>
              </a:rPr>
              <a:t>Orquestração de Contêineres e Gerenciamento de Cluster</a:t>
            </a:r>
          </a:p>
        </p:txBody>
      </p:sp>
    </p:spTree>
    <p:extLst>
      <p:ext uri="{BB962C8B-B14F-4D97-AF65-F5344CB8AC3E}">
        <p14:creationId xmlns:p14="http://schemas.microsoft.com/office/powerpoint/2010/main" val="87988060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070B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5" name="Elipse 34">
            <a:extLst xmlns:a="http://schemas.openxmlformats.org/drawingml/2006/main">
              <a:ext uri="{FF2B5EF4-FFF2-40B4-BE49-F238E27FC236}">
                <a16:creationId xmlns:a16="http://schemas.microsoft.com/office/drawing/2014/main" id="{3748D867-11D4-445F-AEAA-0FB4F95B5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15625" y="-1428750"/>
            <a:ext cx="2857500" cy="2857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D2A4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Elipse 1">
            <a:extLst xmlns:a="http://schemas.openxmlformats.org/drawingml/2006/main">
              <a:ext uri="{FF2B5EF4-FFF2-40B4-BE49-F238E27FC236}">
                <a16:creationId xmlns:a16="http://schemas.microsoft.com/office/drawing/2014/main" id="{10F50AC6-22D1-430C-B4AC-DA793089DE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238250" y="5715000"/>
            <a:ext cx="2381250" cy="2381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51E4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section-12">
            <a:extLst xmlns:a="http://schemas.openxmlformats.org/drawingml/2006/main">
              <a:ext uri="{FF2B5EF4-FFF2-40B4-BE49-F238E27FC236}">
                <a16:creationId xmlns:a16="http://schemas.microsoft.com/office/drawing/2014/main" id="{DE4E8F24-767E-4595-9A41-33FB501AE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23850"/>
            <a:ext cx="2857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3FE7FF"/>
                </a:solidFill>
              </a:defRPr>
            </a:pPr>
            <a:r>
              <a:rPr sz="900" b="1">
                <a:solidFill>
                  <a:srgbClr val="3FE7FF"/>
                </a:solidFill>
              </a:rPr>
              <a:t>RISCOS</a:t>
            </a:r>
          </a:p>
        </p:txBody>
      </p:sp>
      <p:sp>
        <p:nvSpPr>
          <p:cNvPr id="4" name="Conector reto 3">
            <a:extLst xmlns:a="http://schemas.openxmlformats.org/drawingml/2006/main">
              <a:ext uri="{FF2B5EF4-FFF2-40B4-BE49-F238E27FC236}">
                <a16:creationId xmlns:a16="http://schemas.microsoft.com/office/drawing/2014/main" id="{AFB2F800-4C71-474E-BA15-C89AE9E28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8650"/>
            <a:ext cx="108204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554"/>
            </a:solidFill>
            <a:prstDash val="solid"/>
          </a:ln>
        </p:spPr>
      </p:sp>
      <p:sp>
        <p:nvSpPr>
          <p:cNvPr id="5" name="page-12">
            <a:extLst xmlns:a="http://schemas.openxmlformats.org/drawingml/2006/main">
              <a:ext uri="{FF2B5EF4-FFF2-40B4-BE49-F238E27FC236}">
                <a16:creationId xmlns:a16="http://schemas.microsoft.com/office/drawing/2014/main" id="{3E869270-2BB5-4F87-913E-1765887BC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419850"/>
            <a:ext cx="3619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60718F"/>
                </a:solidFill>
              </a:defRPr>
            </a:pPr>
            <a:r>
              <a:rPr sz="900" b="1">
                <a:solidFill>
                  <a:srgbClr val="60718F"/>
                </a:solidFill>
              </a:rPr>
              <a:t>12</a:t>
            </a:r>
          </a:p>
        </p:txBody>
      </p:sp>
      <p:sp>
        <p:nvSpPr>
          <p:cNvPr id="6" name="slide-title">
            <a:extLst xmlns:a="http://schemas.openxmlformats.org/drawingml/2006/main">
              <a:ext uri="{FF2B5EF4-FFF2-40B4-BE49-F238E27FC236}">
                <a16:creationId xmlns:a16="http://schemas.microsoft.com/office/drawing/2014/main" id="{296022AB-1413-48D2-AC30-8CF0D5F91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38200"/>
            <a:ext cx="108204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2700" b="1">
                <a:solidFill>
                  <a:srgbClr val="F5F8FF"/>
                </a:solidFill>
              </a:defRPr>
            </a:pPr>
            <a:r>
              <a:rPr sz="2700" b="1">
                <a:solidFill>
                  <a:srgbClr val="F5F8FF"/>
                </a:solidFill>
              </a:rPr>
              <a:t>Cada risco crítico já tem uma defesa</a:t>
            </a:r>
          </a:p>
        </p:txBody>
      </p:sp>
      <p:sp>
        <p:nvSpPr>
          <p:cNvPr id="7" name="slide-subtitle">
            <a:extLst xmlns:a="http://schemas.openxmlformats.org/drawingml/2006/main">
              <a:ext uri="{FF2B5EF4-FFF2-40B4-BE49-F238E27FC236}">
                <a16:creationId xmlns:a16="http://schemas.microsoft.com/office/drawing/2014/main" id="{F1F0B436-97AD-4699-9CE1-81831698CC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9906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9EADC6"/>
                </a:solidFill>
              </a:defRPr>
            </a:pPr>
            <a:r>
              <a:rPr sz="1350" b="0">
                <a:solidFill>
                  <a:srgbClr val="9EADC6"/>
                </a:solidFill>
              </a:rPr>
              <a:t>O desenho assume falhas previsíveis e explicita a resposta técnica.</a:t>
            </a:r>
          </a:p>
        </p:txBody>
      </p:sp>
      <p:sp>
        <p:nvSpPr>
          <p:cNvPr id="8" name="Seta: para a Direita 7">
            <a:extLst xmlns:a="http://schemas.openxmlformats.org/drawingml/2006/main">
              <a:ext uri="{FF2B5EF4-FFF2-40B4-BE49-F238E27FC236}">
                <a16:creationId xmlns:a16="http://schemas.microsoft.com/office/drawing/2014/main" id="{66D45888-2267-4189-8160-A3FCC7A7F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190750"/>
            <a:ext cx="11430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6B7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9" name="Conector reto 8">
            <a:extLst xmlns:a="http://schemas.openxmlformats.org/drawingml/2006/main">
              <a:ext uri="{FF2B5EF4-FFF2-40B4-BE49-F238E27FC236}">
                <a16:creationId xmlns:a16="http://schemas.microsoft.com/office/drawing/2014/main" id="{3FB4E247-2077-447F-A182-D8A236D20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098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554"/>
            </a:solidFill>
            <a:prstDash val="solid"/>
          </a:ln>
        </p:spPr>
      </p:sp>
      <p:sp>
        <p:nvSpPr>
          <p:cNvPr id="10" name="Retângulo 9">
            <a:extLst xmlns:a="http://schemas.openxmlformats.org/drawingml/2006/main">
              <a:ext uri="{FF2B5EF4-FFF2-40B4-BE49-F238E27FC236}">
                <a16:creationId xmlns:a16="http://schemas.microsoft.com/office/drawing/2014/main" id="{FACDE0C9-22F7-41AE-B4BA-B1708427B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5F8FF"/>
                </a:solidFill>
              </a:defRPr>
            </a:pPr>
            <a:r>
              <a:rPr sz="1650" b="1">
                <a:solidFill>
                  <a:srgbClr val="F5F8FF"/>
                </a:solidFill>
              </a:rPr>
              <a:t>Atomicidade</a:t>
            </a:r>
          </a:p>
        </p:txBody>
      </p:sp>
      <p:sp>
        <p:nvSpPr>
          <p:cNvPr id="11" name="Retângulo 10">
            <a:extLst xmlns:a="http://schemas.openxmlformats.org/drawingml/2006/main">
              <a:ext uri="{FF2B5EF4-FFF2-40B4-BE49-F238E27FC236}">
                <a16:creationId xmlns:a16="http://schemas.microsoft.com/office/drawing/2014/main" id="{15927ED6-2746-46A5-A388-F9C077BC9C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0955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EADC6"/>
                </a:solidFill>
              </a:defRPr>
            </a:pPr>
            <a:r>
              <a:rPr sz="1275" b="0">
                <a:solidFill>
                  <a:srgbClr val="9EADC6"/>
                </a:solidFill>
              </a:rPr>
              <a:t>débito sem crédito</a:t>
            </a:r>
          </a:p>
        </p:txBody>
      </p:sp>
      <p:sp>
        <p:nvSpPr>
          <p:cNvPr id="12" name="Retângulo 11">
            <a:extLst xmlns:a="http://schemas.openxmlformats.org/drawingml/2006/main">
              <a:ext uri="{FF2B5EF4-FFF2-40B4-BE49-F238E27FC236}">
                <a16:creationId xmlns:a16="http://schemas.microsoft.com/office/drawing/2014/main" id="{659CB997-E97E-4FCF-9F72-DF3DFCF956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0574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6B7A"/>
                </a:solidFill>
              </a:defRPr>
            </a:pPr>
            <a:r>
              <a:rPr sz="1650" b="1">
                <a:solidFill>
                  <a:srgbClr val="FF6B7A"/>
                </a:solidFill>
              </a:rPr>
              <a:t>transação ACID no Worker</a:t>
            </a:r>
          </a:p>
        </p:txBody>
      </p:sp>
      <p:sp>
        <p:nvSpPr>
          <p:cNvPr id="13" name="Seta: para a Direita 12">
            <a:extLst xmlns:a="http://schemas.openxmlformats.org/drawingml/2006/main">
              <a:ext uri="{FF2B5EF4-FFF2-40B4-BE49-F238E27FC236}">
                <a16:creationId xmlns:a16="http://schemas.microsoft.com/office/drawing/2014/main" id="{BC244B53-62D9-4D5E-9778-FC9D94C67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2933700"/>
            <a:ext cx="11430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FFCA6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Conector reto 13">
            <a:extLst xmlns:a="http://schemas.openxmlformats.org/drawingml/2006/main">
              <a:ext uri="{FF2B5EF4-FFF2-40B4-BE49-F238E27FC236}">
                <a16:creationId xmlns:a16="http://schemas.microsoft.com/office/drawing/2014/main" id="{1A8E51F0-188F-4BFF-9836-6794A7E2A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554"/>
            </a:solidFill>
            <a:prstDash val="solid"/>
          </a:ln>
        </p:spPr>
      </p:sp>
      <p:sp>
        <p:nvSpPr>
          <p:cNvPr id="15" name="Retângulo 14">
            <a:extLst xmlns:a="http://schemas.openxmlformats.org/drawingml/2006/main">
              <a:ext uri="{FF2B5EF4-FFF2-40B4-BE49-F238E27FC236}">
                <a16:creationId xmlns:a16="http://schemas.microsoft.com/office/drawing/2014/main" id="{7C801C91-94AB-4336-8636-BA41ED723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5F8FF"/>
                </a:solidFill>
              </a:defRPr>
            </a:pPr>
            <a:r>
              <a:rPr sz="1650" b="1">
                <a:solidFill>
                  <a:srgbClr val="F5F8FF"/>
                </a:solidFill>
              </a:rPr>
              <a:t>Concorrência</a:t>
            </a:r>
          </a:p>
        </p:txBody>
      </p:sp>
      <p:sp>
        <p:nvSpPr>
          <p:cNvPr id="16" name="Retângulo 15">
            <a:extLst xmlns:a="http://schemas.openxmlformats.org/drawingml/2006/main">
              <a:ext uri="{FF2B5EF4-FFF2-40B4-BE49-F238E27FC236}">
                <a16:creationId xmlns:a16="http://schemas.microsoft.com/office/drawing/2014/main" id="{39255C29-30B9-4856-B16A-BB75772B3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28384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EADC6"/>
                </a:solidFill>
              </a:defRPr>
            </a:pPr>
            <a:r>
              <a:rPr sz="1275" b="0">
                <a:solidFill>
                  <a:srgbClr val="9EADC6"/>
                </a:solidFill>
              </a:rPr>
              <a:t>saldo incorreto</a:t>
            </a:r>
          </a:p>
        </p:txBody>
      </p:sp>
      <p:sp>
        <p:nvSpPr>
          <p:cNvPr id="17" name="Retângulo 16">
            <a:extLst xmlns:a="http://schemas.openxmlformats.org/drawingml/2006/main">
              <a:ext uri="{FF2B5EF4-FFF2-40B4-BE49-F238E27FC236}">
                <a16:creationId xmlns:a16="http://schemas.microsoft.com/office/drawing/2014/main" id="{64D410D7-291D-4CD1-83CE-270766378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28003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FCA6A"/>
                </a:solidFill>
              </a:defRPr>
            </a:pPr>
            <a:r>
              <a:rPr sz="1650" b="1">
                <a:solidFill>
                  <a:srgbClr val="FFCA6A"/>
                </a:solidFill>
              </a:rPr>
              <a:t>SELECT FOR UPDATE</a:t>
            </a:r>
          </a:p>
        </p:txBody>
      </p:sp>
      <p:sp>
        <p:nvSpPr>
          <p:cNvPr id="18" name="Seta: para a Direita 17">
            <a:extLst xmlns:a="http://schemas.openxmlformats.org/drawingml/2006/main">
              <a:ext uri="{FF2B5EF4-FFF2-40B4-BE49-F238E27FC236}">
                <a16:creationId xmlns:a16="http://schemas.microsoft.com/office/drawing/2014/main" id="{C14F73C6-52E3-4A1B-B5B9-3A92C0C44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3676650"/>
            <a:ext cx="11430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8C6C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Conector reto 18">
            <a:extLst xmlns:a="http://schemas.openxmlformats.org/drawingml/2006/main">
              <a:ext uri="{FF2B5EF4-FFF2-40B4-BE49-F238E27FC236}">
                <a16:creationId xmlns:a16="http://schemas.microsoft.com/office/drawing/2014/main" id="{70ECA47C-E661-457E-808D-FF5F2AFA0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957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554"/>
            </a:solidFill>
            <a:prstDash val="solid"/>
          </a:ln>
        </p:spPr>
      </p:sp>
      <p:sp>
        <p:nvSpPr>
          <p:cNvPr id="20" name="Retângulo 19">
            <a:extLst xmlns:a="http://schemas.openxmlformats.org/drawingml/2006/main">
              <a:ext uri="{FF2B5EF4-FFF2-40B4-BE49-F238E27FC236}">
                <a16:creationId xmlns:a16="http://schemas.microsoft.com/office/drawing/2014/main" id="{722607A7-453B-45FB-B0F5-1D8400F16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5F8FF"/>
                </a:solidFill>
              </a:defRPr>
            </a:pPr>
            <a:r>
              <a:rPr sz="1650" b="1">
                <a:solidFill>
                  <a:srgbClr val="F5F8FF"/>
                </a:solidFill>
              </a:rPr>
              <a:t>Reentrega</a:t>
            </a:r>
          </a:p>
        </p:txBody>
      </p:sp>
      <p:sp>
        <p:nvSpPr>
          <p:cNvPr id="21" name="Retângulo 20">
            <a:extLst xmlns:a="http://schemas.openxmlformats.org/drawingml/2006/main">
              <a:ext uri="{FF2B5EF4-FFF2-40B4-BE49-F238E27FC236}">
                <a16:creationId xmlns:a16="http://schemas.microsoft.com/office/drawing/2014/main" id="{A827584D-6CBA-409E-A795-7070DA5EC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35814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EADC6"/>
                </a:solidFill>
              </a:defRPr>
            </a:pPr>
            <a:r>
              <a:rPr sz="1275" b="0">
                <a:solidFill>
                  <a:srgbClr val="9EADC6"/>
                </a:solidFill>
              </a:rPr>
              <a:t>duplicidade</a:t>
            </a:r>
          </a:p>
        </p:txBody>
      </p:sp>
      <p:sp>
        <p:nvSpPr>
          <p:cNvPr id="22" name="Retângulo 21">
            <a:extLst xmlns:a="http://schemas.openxmlformats.org/drawingml/2006/main">
              <a:ext uri="{FF2B5EF4-FFF2-40B4-BE49-F238E27FC236}">
                <a16:creationId xmlns:a16="http://schemas.microsoft.com/office/drawing/2014/main" id="{758CB7BE-8610-4F1C-9EE4-A57697C5F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35433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8C6CFF"/>
                </a:solidFill>
              </a:defRPr>
            </a:pPr>
            <a:r>
              <a:rPr sz="1650" b="1">
                <a:solidFill>
                  <a:srgbClr val="8C6CFF"/>
                </a:solidFill>
              </a:rPr>
              <a:t>idempotência por transação</a:t>
            </a:r>
          </a:p>
        </p:txBody>
      </p:sp>
      <p:sp>
        <p:nvSpPr>
          <p:cNvPr id="23" name="Seta: para a Direita 22">
            <a:extLst xmlns:a="http://schemas.openxmlformats.org/drawingml/2006/main">
              <a:ext uri="{FF2B5EF4-FFF2-40B4-BE49-F238E27FC236}">
                <a16:creationId xmlns:a16="http://schemas.microsoft.com/office/drawing/2014/main" id="{302D9150-A262-4B19-AA64-26BC02C8E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4419600"/>
            <a:ext cx="11430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FE7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4" name="Conector reto 23">
            <a:extLst xmlns:a="http://schemas.openxmlformats.org/drawingml/2006/main">
              <a:ext uri="{FF2B5EF4-FFF2-40B4-BE49-F238E27FC236}">
                <a16:creationId xmlns:a16="http://schemas.microsoft.com/office/drawing/2014/main" id="{5AD049E7-F276-4E7B-A098-1F7CB6206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3870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554"/>
            </a:solidFill>
            <a:prstDash val="solid"/>
          </a:ln>
        </p:spPr>
      </p:sp>
      <p:sp>
        <p:nvSpPr>
          <p:cNvPr id="25" name="Retângulo 24">
            <a:extLst xmlns:a="http://schemas.openxmlformats.org/drawingml/2006/main">
              <a:ext uri="{FF2B5EF4-FFF2-40B4-BE49-F238E27FC236}">
                <a16:creationId xmlns:a16="http://schemas.microsoft.com/office/drawing/2014/main" id="{A3BE87B1-6F3E-4841-9E14-06EA9FC12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5F8FF"/>
                </a:solidFill>
              </a:defRPr>
            </a:pPr>
            <a:r>
              <a:rPr sz="1650" b="1">
                <a:solidFill>
                  <a:srgbClr val="F5F8FF"/>
                </a:solidFill>
              </a:rPr>
              <a:t>Prazo curto</a:t>
            </a:r>
          </a:p>
        </p:txBody>
      </p:sp>
      <p:sp>
        <p:nvSpPr>
          <p:cNvPr id="26" name="Retângulo 25">
            <a:extLst xmlns:a="http://schemas.openxmlformats.org/drawingml/2006/main">
              <a:ext uri="{FF2B5EF4-FFF2-40B4-BE49-F238E27FC236}">
                <a16:creationId xmlns:a16="http://schemas.microsoft.com/office/drawing/2014/main" id="{F81D4B1F-79A1-4038-8583-8169E8F7E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432435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EADC6"/>
                </a:solidFill>
              </a:defRPr>
            </a:pPr>
            <a:r>
              <a:rPr sz="1275" b="0">
                <a:solidFill>
                  <a:srgbClr val="9EADC6"/>
                </a:solidFill>
              </a:rPr>
              <a:t>escopo incompleto</a:t>
            </a:r>
          </a:p>
        </p:txBody>
      </p:sp>
      <p:sp>
        <p:nvSpPr>
          <p:cNvPr id="27" name="Retângulo 26">
            <a:extLst xmlns:a="http://schemas.openxmlformats.org/drawingml/2006/main">
              <a:ext uri="{FF2B5EF4-FFF2-40B4-BE49-F238E27FC236}">
                <a16:creationId xmlns:a16="http://schemas.microsoft.com/office/drawing/2014/main" id="{2D48C18B-8371-49A1-B53D-205463F16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428625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FE7FF"/>
                </a:solidFill>
              </a:defRPr>
            </a:pPr>
            <a:r>
              <a:rPr sz="1650" b="1">
                <a:solidFill>
                  <a:srgbClr val="3FE7FF"/>
                </a:solidFill>
              </a:rPr>
              <a:t>MVP core antes de extras</a:t>
            </a:r>
          </a:p>
        </p:txBody>
      </p:sp>
      <p:sp>
        <p:nvSpPr>
          <p:cNvPr id="28" name="Seta: para a Direita 27">
            <a:extLst xmlns:a="http://schemas.openxmlformats.org/drawingml/2006/main">
              <a:ext uri="{FF2B5EF4-FFF2-40B4-BE49-F238E27FC236}">
                <a16:creationId xmlns:a16="http://schemas.microsoft.com/office/drawing/2014/main" id="{EA30E869-FF94-4AA1-AEC8-5439D847E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48200" y="5162550"/>
            <a:ext cx="1143000" cy="1524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6CF3B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9" name="Conector reto 28">
            <a:extLst xmlns:a="http://schemas.openxmlformats.org/drawingml/2006/main">
              <a:ext uri="{FF2B5EF4-FFF2-40B4-BE49-F238E27FC236}">
                <a16:creationId xmlns:a16="http://schemas.microsoft.com/office/drawing/2014/main" id="{7EA1CD7A-36F5-4779-89BE-2771D79CD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81650"/>
            <a:ext cx="103632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554"/>
            </a:solidFill>
            <a:prstDash val="solid"/>
          </a:ln>
        </p:spPr>
      </p:sp>
      <p:sp>
        <p:nvSpPr>
          <p:cNvPr id="30" name="Retângulo 29">
            <a:extLst xmlns:a="http://schemas.openxmlformats.org/drawingml/2006/main">
              <a:ext uri="{FF2B5EF4-FFF2-40B4-BE49-F238E27FC236}">
                <a16:creationId xmlns:a16="http://schemas.microsoft.com/office/drawing/2014/main" id="{48A928C2-6E93-4BB9-92FC-4AF6D65279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48250"/>
            <a:ext cx="20002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5F8FF"/>
                </a:solidFill>
              </a:defRPr>
            </a:pPr>
            <a:r>
              <a:rPr sz="1650" b="1">
                <a:solidFill>
                  <a:srgbClr val="F5F8FF"/>
                </a:solidFill>
              </a:rPr>
              <a:t>SLA local</a:t>
            </a:r>
          </a:p>
        </p:txBody>
      </p:sp>
      <p:sp>
        <p:nvSpPr>
          <p:cNvPr id="31" name="Retângulo 30">
            <a:extLst xmlns:a="http://schemas.openxmlformats.org/drawingml/2006/main">
              <a:ext uri="{FF2B5EF4-FFF2-40B4-BE49-F238E27FC236}">
                <a16:creationId xmlns:a16="http://schemas.microsoft.com/office/drawing/2014/main" id="{F1BE45C8-28A3-457A-86FD-96FCE5F3CC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00350" y="5067300"/>
            <a:ext cx="1809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9EADC6"/>
                </a:solidFill>
              </a:defRPr>
            </a:pPr>
            <a:r>
              <a:rPr sz="1275" b="0">
                <a:solidFill>
                  <a:srgbClr val="9EADC6"/>
                </a:solidFill>
              </a:rPr>
              <a:t>resultado abaixo da meta</a:t>
            </a:r>
          </a:p>
        </p:txBody>
      </p:sp>
      <p:sp>
        <p:nvSpPr>
          <p:cNvPr id="32" name="Retângulo 31">
            <a:extLst xmlns:a="http://schemas.openxmlformats.org/drawingml/2006/main">
              <a:ext uri="{FF2B5EF4-FFF2-40B4-BE49-F238E27FC236}">
                <a16:creationId xmlns:a16="http://schemas.microsoft.com/office/drawing/2014/main" id="{25AA5CC6-22A3-4199-8CC7-4AF66F404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19800" y="5029200"/>
            <a:ext cx="4762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6CF3B5"/>
                </a:solidFill>
              </a:defRPr>
            </a:pPr>
            <a:r>
              <a:rPr sz="1650" b="1">
                <a:solidFill>
                  <a:srgbClr val="6CF3B5"/>
                </a:solidFill>
              </a:rPr>
              <a:t>k6 + Grafana + transparência</a:t>
            </a:r>
          </a:p>
        </p:txBody>
      </p:sp>
      <p:sp>
        <p:nvSpPr>
          <p:cNvPr id="33" name="Retângulo: Cantos Arredondados 32">
            <a:extLst xmlns:a="http://schemas.openxmlformats.org/drawingml/2006/main">
              <a:ext uri="{FF2B5EF4-FFF2-40B4-BE49-F238E27FC236}">
                <a16:creationId xmlns:a16="http://schemas.microsoft.com/office/drawing/2014/main" id="{F2FA4E2A-ADD4-4D21-B01B-417B22762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10250"/>
            <a:ext cx="10363200" cy="381000"/>
          </a:xfrm>
          <a:prstGeom xmlns:a="http://schemas.openxmlformats.org/drawingml/2006/main" prst="roundRect">
            <a:avLst>
              <a:gd name="adj" fmla="val 30000"/>
            </a:avLst>
          </a:prstGeom>
          <a:solidFill xmlns:a="http://schemas.openxmlformats.org/drawingml/2006/main">
            <a:srgbClr val="111B34"/>
          </a:solidFill>
          <a:ln xmlns:a="http://schemas.openxmlformats.org/drawingml/2006/main" w="9525">
            <a:solidFill>
              <a:srgbClr val="263554"/>
            </a:solidFill>
            <a:prstDash val="solid"/>
          </a:ln>
        </p:spPr>
      </p:sp>
      <p:sp>
        <p:nvSpPr>
          <p:cNvPr id="34" name="Retângulo 33">
            <a:extLst xmlns:a="http://schemas.openxmlformats.org/drawingml/2006/main">
              <a:ext uri="{FF2B5EF4-FFF2-40B4-BE49-F238E27FC236}">
                <a16:creationId xmlns:a16="http://schemas.microsoft.com/office/drawing/2014/main" id="{5A7E21D3-8ABF-45EE-B319-5CF010D62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905500"/>
            <a:ext cx="9982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5F8FF"/>
                </a:solidFill>
              </a:defRPr>
            </a:pPr>
            <a:r>
              <a:rPr sz="1200" b="1">
                <a:solidFill>
                  <a:srgbClr val="F5F8FF"/>
                </a:solidFill>
              </a:rPr>
              <a:t>Risco não desaparece; torna-se visível, testável e tratável.</a:t>
            </a:r>
          </a:p>
        </p:txBody>
      </p:sp>
    </p:spTree>
    <p:extLst>
      <p:ext uri="{BB962C8B-B14F-4D97-AF65-F5344CB8AC3E}">
        <p14:creationId xmlns:p14="http://schemas.microsoft.com/office/powerpoint/2010/main" val="997360502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070B1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Imagem 1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5f83dbe978d4e37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Retângulo 1">
            <a:extLst xmlns:a="http://schemas.openxmlformats.org/drawingml/2006/main">
              <a:ext uri="{FF2B5EF4-FFF2-40B4-BE49-F238E27FC236}">
                <a16:creationId xmlns:a16="http://schemas.microsoft.com/office/drawing/2014/main" id="{77FD8C86-FE2D-4050-B998-4302C77F7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5715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70B1A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Retângulo 2">
            <a:extLst xmlns:a="http://schemas.openxmlformats.org/drawingml/2006/main">
              <a:ext uri="{FF2B5EF4-FFF2-40B4-BE49-F238E27FC236}">
                <a16:creationId xmlns:a16="http://schemas.microsoft.com/office/drawing/2014/main" id="{3B218D8A-D34A-430E-A370-1939C4857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FE7FF"/>
                </a:solidFill>
              </a:defRPr>
            </a:pPr>
            <a:r>
              <a:rPr sz="975" b="1">
                <a:solidFill>
                  <a:srgbClr val="3FE7FF"/>
                </a:solidFill>
              </a:rPr>
              <a:t>O APRENDIZADO CENTRAL</a:t>
            </a:r>
          </a:p>
        </p:txBody>
      </p:sp>
      <p:sp>
        <p:nvSpPr>
          <p:cNvPr id="4" name="closing-title">
            <a:extLst xmlns:a="http://schemas.openxmlformats.org/drawingml/2006/main">
              <a:ext uri="{FF2B5EF4-FFF2-40B4-BE49-F238E27FC236}">
                <a16:creationId xmlns:a16="http://schemas.microsoft.com/office/drawing/2014/main" id="{8002C6A2-0CF1-417D-9A32-F82E4BCF6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476250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Instantâneo</a:t>
            </a:r>
          </a:p>
          <a:p xmlns:a="http://schemas.openxmlformats.org/drawingml/2006/main">
            <a:pPr algn="l">
              <a:buNone/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não significa</a:t>
            </a:r>
          </a:p>
          <a:p xmlns:a="http://schemas.openxmlformats.org/drawingml/2006/main">
            <a:pPr algn="l">
              <a:buNone/>
              <a:defRPr sz="3900" b="1">
                <a:solidFill>
                  <a:srgbClr val="FFFFFF"/>
                </a:solidFill>
              </a:defRPr>
            </a:pPr>
            <a:r>
              <a:rPr sz="3900" b="1">
                <a:solidFill>
                  <a:srgbClr val="FFFFFF"/>
                </a:solidFill>
              </a:rPr>
              <a:t>improvisado.</a:t>
            </a:r>
          </a:p>
        </p:txBody>
      </p:sp>
      <p:sp>
        <p:nvSpPr>
          <p:cNvPr id="5" name="Retângulo 4">
            <a:extLst xmlns:a="http://schemas.openxmlformats.org/drawingml/2006/main">
              <a:ext uri="{FF2B5EF4-FFF2-40B4-BE49-F238E27FC236}">
                <a16:creationId xmlns:a16="http://schemas.microsoft.com/office/drawing/2014/main" id="{0B95EC83-2850-46B4-BDB0-C9240CA30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4476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3FE7FF"/>
                </a:solidFill>
              </a:defRPr>
            </a:pPr>
            <a:r>
              <a:rPr sz="1500" b="1">
                <a:solidFill>
                  <a:srgbClr val="3FE7FF"/>
                </a:solidFill>
              </a:rPr>
              <a:t>Velocidade vem do desacoplamento.</a:t>
            </a:r>
          </a:p>
        </p:txBody>
      </p:sp>
      <p:sp>
        <p:nvSpPr>
          <p:cNvPr id="6" name="Retângulo 5">
            <a:extLst xmlns:a="http://schemas.openxmlformats.org/drawingml/2006/main">
              <a:ext uri="{FF2B5EF4-FFF2-40B4-BE49-F238E27FC236}">
                <a16:creationId xmlns:a16="http://schemas.microsoft.com/office/drawing/2014/main" id="{2BE6CAB9-800E-4B79-A268-112E8D931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4762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8C6CFF"/>
                </a:solidFill>
              </a:defRPr>
            </a:pPr>
            <a:r>
              <a:rPr sz="1500" b="1">
                <a:solidFill>
                  <a:srgbClr val="8C6CFF"/>
                </a:solidFill>
              </a:rPr>
              <a:t>Consistência vem de transações e idempotência.</a:t>
            </a:r>
          </a:p>
        </p:txBody>
      </p:sp>
      <p:sp>
        <p:nvSpPr>
          <p:cNvPr id="7" name="Retângulo 6">
            <a:extLst xmlns:a="http://schemas.openxmlformats.org/drawingml/2006/main">
              <a:ext uri="{FF2B5EF4-FFF2-40B4-BE49-F238E27FC236}">
                <a16:creationId xmlns:a16="http://schemas.microsoft.com/office/drawing/2014/main" id="{42FAE0DF-6AC4-4710-9355-D0717E51F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67250"/>
            <a:ext cx="4857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6CF3B5"/>
                </a:solidFill>
              </a:defRPr>
            </a:pPr>
            <a:r>
              <a:rPr sz="1500" b="1">
                <a:solidFill>
                  <a:srgbClr val="6CF3B5"/>
                </a:solidFill>
              </a:rPr>
              <a:t>Confiança vem de testes, auditoria e observabilidade.</a:t>
            </a:r>
          </a:p>
        </p:txBody>
      </p:sp>
      <p:sp>
        <p:nvSpPr>
          <p:cNvPr id="8" name="Conector reto 7">
            <a:extLst xmlns:a="http://schemas.openxmlformats.org/drawingml/2006/main">
              <a:ext uri="{FF2B5EF4-FFF2-40B4-BE49-F238E27FC236}">
                <a16:creationId xmlns:a16="http://schemas.microsoft.com/office/drawing/2014/main" id="{76687B22-4FA7-4141-9277-7ABE96412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00700"/>
            <a:ext cx="40005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263554"/>
            </a:solidFill>
            <a:prstDash val="solid"/>
          </a:ln>
        </p:spPr>
      </p:sp>
      <p:sp>
        <p:nvSpPr>
          <p:cNvPr id="9" name="Retângulo 8">
            <a:extLst xmlns:a="http://schemas.openxmlformats.org/drawingml/2006/main">
              <a:ext uri="{FF2B5EF4-FFF2-40B4-BE49-F238E27FC236}">
                <a16:creationId xmlns:a16="http://schemas.microsoft.com/office/drawing/2014/main" id="{BC1F8BE1-4CCD-45D2-AB57-624C63FE4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29300"/>
            <a:ext cx="4381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F5F8FF"/>
                </a:solidFill>
              </a:defRPr>
            </a:pPr>
            <a:r>
              <a:rPr sz="1125" b="0">
                <a:solidFill>
                  <a:srgbClr val="F5F8FF"/>
                </a:solidFill>
              </a:rPr>
              <a:t>PulsePay • Projeto de Software com DevOps</a:t>
            </a:r>
          </a:p>
        </p:txBody>
      </p:sp>
      <p:sp>
        <p:nvSpPr>
          <p:cNvPr id="10" name="Retângulo 9">
            <a:extLst xmlns:a="http://schemas.openxmlformats.org/drawingml/2006/main">
              <a:ext uri="{FF2B5EF4-FFF2-40B4-BE49-F238E27FC236}">
                <a16:creationId xmlns:a16="http://schemas.microsoft.com/office/drawing/2014/main" id="{AE4DE00E-9550-48C8-8E54-E76C53F30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134100"/>
            <a:ext cx="476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9EADC6"/>
                </a:solidFill>
              </a:defRPr>
            </a:pPr>
            <a:r>
              <a:rPr sz="1050" b="0">
                <a:solidFill>
                  <a:srgbClr val="9EADC6"/>
                </a:solidFill>
              </a:rPr>
              <a:t>Kayan </a:t>
            </a:r>
            <a:r>
              <a:rPr sz="1050" b="0">
                <a:solidFill>
                  <a:srgbClr val="9EADC6"/>
                </a:solidFill>
              </a:rPr>
              <a:t>Kayser</a:t>
            </a:r>
            <a:r>
              <a:rPr sz="1050" b="0">
                <a:solidFill>
                  <a:srgbClr val="9EADC6"/>
                </a:solidFill>
              </a:rPr>
              <a:t>  •  Mário Gonçalves  •  Vic</a:t>
            </a:r>
            <a:r>
              <a:rPr sz="1050" b="0">
                <a:solidFill>
                  <a:srgbClr val="9EADC6"/>
                </a:solidFill>
              </a:rPr>
              <a:t>t</a:t>
            </a:r>
            <a:r>
              <a:rPr sz="1050" b="0">
                <a:solidFill>
                  <a:srgbClr val="9EADC6"/>
                </a:solidFill>
              </a:rPr>
              <a:t>or Sabino</a:t>
            </a:r>
          </a:p>
        </p:txBody>
      </p:sp>
    </p:spTree>
    <p:extLst>
      <p:ext uri="{BB962C8B-B14F-4D97-AF65-F5344CB8AC3E}">
        <p14:creationId xmlns:p14="http://schemas.microsoft.com/office/powerpoint/2010/main" val="27897631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2026-08-29T18:52:37.5690000Z</dcterms:created>
  <dcterms:modified xsi:type="dcterms:W3CDTF">2026-08-29T18:52:37.5690000Z</dcterms:modified>
</coreProperties>
</file>