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Somos a equipe responsável pelo PulsePay, um projeto acadêmico inspirado em carteiras digitais e pagamentos instantâneos. Nosso objetivo é demonstrar como decisões de arquitetura e práticas de DevOps sustentam uma jornada de transferência confiável. A aplicação utiliza usuários e valores fictícios, sem integração bancária ou processamento financeiro real. Nesta apresentação, vamos conectar as funcionalidades priorizadas às entregas E2E, às decisões arquiteturais e às evidências produzidas pela pipeline. Fonte: README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PulsePay adota um monolito modular com processamento assíncrono, e não uma arquitetura de microsserviços de negócio. A API recebe a solicitação, enquanto um worker dedicado realiza a movimentação financeira. O PostgreSQL mantém os dados oficiais de contas, saldos e transações. As metas de dois segundos e 99,95% representam referências do cenário acadêmico: o ambiente atual usa Docker Compose e não possui redundância suficiente para oferecer uma garantia contratual de alta disponibilidade. Fonte: arquitetura e limites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transferência ocupa a primeira posição porque representa o fluxo principal de valor do produto. Cadastro e autenticação viabilizam esse fluxo com identidade e controle de acesso. Saldo e extrato completam a jornada, permitindo compreender o resultado das operações. O chamado KYC básico é uma identificação simulada com nome, CPF fictício e e-mail, não uma validação documental ou regulatória. O impacto esperado dessas funcionalidades é oferecer uma experiência compreensível, protegida e rastreável. Fonte: features priorizadas.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priorização considera o valor para o usuário, os riscos financeiros simulados e as dependências entre funcionalidades. A ordem de importância não corresponde necessariamente à ordem de implementação: autenticação e conta precisam existir para viabilizar uma transferência protegida. Notificações e observabilidade não ficaram entre as três features principais, mas aparecem no código como recursos de apoio. Já integrações bancárias reais e autenticação multifator permanecem fora do escopo. Esses impactos são expectativas de produto, não resultados comerciais já medidos. Fonte: critérios de priorização.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fatia entrega um comportamento utilizável de ponta a ponta, atravessando interface, API e persistência, além de fila e worker quando necessários. A primeira estabelece a regra financeira básica; a segunda introduz o desacoplamento; a terceira enfrenta concorrência e falhas. Essa divisão representa uma sequência evolutiva, não três modos que precisam coexistir. O código atual já utiliza o fluxo assíncrono, mas a confiabilidade completa ainda exige melhorias. Os testes devem verificar saldo insuficiente, conclusão da operação, mensagens duplicadas e recuperação após falhas. Fonte: fatias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primeira fatia permite cadastrar uma identidade e acessar a própria conta. A segunda acrescenta integridade cadastral, sem transformar o projeto em uma solução de KYC real. A terceira protege a jornada financeira e define o comportamento da sessão. O backend já valida assinatura e expiração do JWT, e o frontend implementa logout manual. Entretanto, a limpeza centralizada da sessão após uma resposta de token expirado ainda precisa ser completada. Os testes E2E devem acompanhar cadastro, login, acesso autorizado, expiração e retorno ao login. Fontes: fatias E2E e contexto de autenticação.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saldo oferece a primeira informação útil da conta. O extrato acrescenta contexto, mostrando as transferências enviadas e recebidas e seus estados. A última fatia aprofunda a consulta com detalhes, filtros e comprovantes. No estado atual, existem saldo, extrato paginado e consulta de transação; isso não significa que toda a experiência da terceira fatia esteja entregue. Filtros e comprovantes permanecem previstos. A validação E2E deve confirmar que uma transferência aparece corretamente nas duas contas e que um usuário não consegue consultar movimentos de terceiros. Fonte: fatias E2E.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ADR sustenta a segunda fatia de transferência. A API aceita a solicitação com HTTP 202, enquanto o usuário acompanha um resultado posterior. O RabbitMQ transporta comandos, mas não armazena o saldo oficial. Foram consideradas alternativas como processamento síncrono, polling no PostgreSQL e Kafka. A escolha permite separar a capacidade da API e do worker, mas introduz reentregas e uma janela de falha entre persistência e publicação. Portanto, mensagens persistentes e confirmação após commit não eliminam, sozinhas, a necessidade de Outbox e idempotência concorrente. Fonte: ADR de transferência assíncrona.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ADR corresponde à terceira fatia de autenticação. O frontend envia a credencial no cabeçalho Bearer, e a API valida assinatura e validade antes de liberar as operações. A estratégia evita armazenamento de sessão no servidor, facilitando futuras réplicas da API. O principal limite é que não existe lista de revogação nem refresh token: uma cópia do JWT pode continuar válida até expirar, mesmo após o logout local. O tratamento automático da expiração no frontend está decidido no documento, mas ainda requer implementação completa. Fonte: ADR de autenticação JWT.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Este ADR sustenta a segunda fatia da conta digital. A consulta identifica a conta pelo usuário autenticado e classifica cada operação como enviada ou recebida. O extrato utiliza o estado oficial das transações, não a reconstrução de eventos da auditoria. Isso evita sincronização com uma segunda base e reduz complexidade inicial. Em contrapartida, o banco transacional também atende ao histórico. A implementação utiliza paginação por deslocamento; o roadmap prevê evolução para cursor e índices compostos conforme o volume crescer. Fonte: ADR de extrato cronológico.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boilerplate reúne a estrutura necessária para desenvolver e executar a aplicação de maneira integrada. API e worker utilizam o mesmo código-base, com pontos de entrada diferentes. A separação entre criação da aplicação Express e inicialização dos serviços facilita testes de endpoints. O Prisma organiza o modelo relacional e as migrações; o Compose integra os componentes em um ambiente local. Socket.IO oferece notificações, e Prometheus e Grafana apoiam a observação. Essa base acelera desenvolvimento e demonstrações, mas sua execução em um único host ainda representa um ponto único de falha. Fonte: estrutura e stack.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workflow principal separa verificações rápidas da execução com infraestrutura real. Os testes Jest incluem integrações de API com dependências simuladas. Nos pushes, a pipeline constrói imagens e sobe a stack para testar fluxo assíncrono, concorrência e imutabilidade da auditoria. As migrações são aplicadas antes da trigger de auditoria. É importante apresentar os limites: o job chamado “Lint + Testes” não executa lint, o teste k6 é informativo e o deploy apenas descreve uma etapa futura. Portanto, temos CI implementada e CD ainda incompleta. Fonte: workflow CI/CD.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pipeline de conformidade conecta decisões documentadas a verificações explícitas no código. Ela avalia contratos como transferência pendente, confirmação após commit, proteção JWT e critérios de consulta do extrato. As suítes são escritas para essas decisões; não são geradas automaticamente a partir dos documentos. Atualmente, os testes utilizam mocks e verificações estáticas, oferecendo evidência parcial, não uma prova completa do comportamento distribuído. Como o workflow é não bloqueante, uma execução verde não equivale necessariamente à aprovação de todas as verificações individuais. Fonte: workflow de conformidade.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Durante a demonstração, começamos pela correspondência entre ADR e suíte de testes. Para o ADR 0001, mostramos aceitação pendente e confirmação de consumo após o commit. Para o ADR 0002, mostramos validação do token e restrição de identidade. Para o ADR 0003, mostramos seleção das transações, ordenação e paginação. Depois, abrimos o resumo de conformidade e os logs dos testes com infraestrutura real. Devemos distinguir tempo de resposta da API de tempo de conclusão da transferência e não apresentar testes de API como automação completa da interface. Fontes: mapeamento dos testes e execução da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setembro e 11 de outubro, a prioridade é tornar a execução previsível. Hoje, containers e CI usam versões diferentes do Node.js, e a instalação precisa ganhar maior reprodutibilidade. O roadmap propõe unificar o runtime em Node.js 24 LTS, após validar compatibilidade das dependências. Também prevê normalização dos ADRs, limites de módulos e validação de ambiente. Isso reduz retrabalho e regressões, facilita replicar instâncias e cria uma base segura para as mudanças posteriores. Os checks bloqueantes devem proteger contratos já implementados, mantendo lacunas pendentes explicitamente registradas.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outubro e 11 de novembro, tratamos os riscos mais importantes antes de aumentar a quantidade de workers. A Outbox registra a intenção de publicação junto aos dados da operação, na mesma transação do PostgreSQL. Um relay publica posteriormente e acompanha a confirmação do broker. A idempotência precisa ser verificada dentro da transação protegida, pois uma leitura antecipada não impede dois consumidores simultâneos de aplicar o mesmo efeito. Retentativas limitadas, DLQ e cálculos decimais reduzem débito técnico e permitem escalar consumidores com recuperação controlada, sem prometer entrega exatamente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novembro e 11 de dezembro, passamos a medir conclusão financeira, não apenas resposta HTTP ou disponibilidade de containers. A latência deve incluir espera na fila, e operações que não concluem precisam aparecer na avaliação. Para o extrato, cursor e índices adequados evitam o custo crescente de deslocamentos profundos. O orçamento de conexões limita a carga total sobre o PostgreSQL. Backups só serão considerados úteis após restauração testada. Esse mês reduz otimizações por tentativa, melhora eficiência e prepara tanto o dimensionamento quanto a recuperação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dezembro e 11 de janeiro, o plano propõe uma homologação multi-host, usando Kubernetes gerenciado como referência, sujeito a orçamento e viabilidade operacional. O monolito de negócio permanece: processos diferentes não exigem fragmentação em microsserviços. Réplicas precisam de verificações de prontidão, encerramento seguro e migrações compatíveis com versões coexistentes. A distribuição de notificações usa um transporte compartilhado, sem transformar Redis em fonte financeira. Imagens imutáveis e rollback automatizado substituem o placeholder atual, reduzindo risco de implantação e permitindo manutenção com menor interrupção.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janeiro e 11 de fevereiro, a evolução concentra-se nos componentes que guardam dados ou mensagens. Ter duas APIs não oferece alta disponibilidade se banco e broker continuam únicos. O PostgreSQL precisa de replicação, promoção segura e proteção contra dois escritores simultâneos. O RabbitMQ exige nós em domínios de falha distintos e filas apropriadas à redundância. As leituras financeiras críticas continuam na fonte oficial, evitando saldo obsoleto por cache. Essa etapa reduz interrupções estruturais, mas suas metas de perda de dados e recuperação só poderão ser afirmadas após testes.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Entre 12 de fevereiro e 11 de março, consolidamos evidências da evolução arquitetural. Os exercícios devem incluir perda de instância, indisponibilidade do broker, failover do banco e recuperação a partir de backup, preservando os invariantes financeiros. O autoscaling precisa respeitar a capacidade do banco, pois adicionar workers indiscriminadamente pode piorar a latência. A janela de observação de 30 dias permitirá avaliar a aproximação das metas propostas, incluindo disponibilidade e confirmação. Encerramos a apresentação reforçando que a prontidão depende de resultados reproduzíveis, e não apenas da presença de ferramentas ou de uma pipeline verde.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Somos a equipe responsável pelo PulsePay, um projeto acadêmico inspirado em carteiras digitais e pagamentos instantâneos. Nosso objetivo é demonstrar como decisões de arquitetura e práticas de DevOps sustentam uma jornada de transferência confiável. A aplicação utiliza usuários e valores fictícios, sem integração bancária ou processamento financeiro real. Nesta apresentação, vamos conectar as funcionalidades priorizadas às entregas E2E, às decisões arquiteturais e às evidências produzidas pela pipeline. Fonte: README do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058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C97E7D1-6055-4ABB-BD7E-55DA52BF52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7A4ACB-C0F8-4DE8-A309-5B518D299684}"/>
              </a:ext>
            </a:extLst>
          </p:cNvPr>
          <p:cNvSpPr>
            <a:spLocks noGrp="1"/>
          </p:cNvSpPr>
          <p:nvPr/>
        </p:nvSpPr>
        <p:spPr>
          <a:xfrm>
            <a:off x="857250" y="9906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7FE3D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E3DE"/>
                </a:solidFill>
                <a:latin typeface="Aptos"/>
                <a:ea typeface="Aptos"/>
                <a:cs typeface="Aptos"/>
              </a:rPr>
              <a:t>PULSEPAY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5CAB3B-DEFF-4A94-AB92-8D6C08B965F3}"/>
              </a:ext>
            </a:extLst>
          </p:cNvPr>
          <p:cNvSpPr>
            <a:spLocks noGrp="1"/>
          </p:cNvSpPr>
          <p:nvPr/>
        </p:nvSpPr>
        <p:spPr>
          <a:xfrm>
            <a:off x="857250" y="1485900"/>
            <a:ext cx="8191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PulsePay, engenharia de software aplicada a pagamentos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B568722-B9DA-41C4-8FDC-C45D186C689C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1238250" cy="57150"/>
          </a:xfrm>
          <a:prstGeom prst="rect">
            <a:avLst/>
          </a:prstGeom>
          <a:solidFill>
            <a:srgbClr val="D8634A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BB3194-97C2-436F-A2DC-2C162BDAEAE8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5715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Projeto de Software com DevOps</a:t>
            </a:r>
          </a:p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9E2EC"/>
                </a:solidFill>
                <a:latin typeface="Aptos"/>
                <a:ea typeface="Aptos"/>
                <a:cs typeface="Aptos"/>
              </a:rPr>
              <a:t>Pós-graduação em Engenharia de Software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2A651-B487-4072-B69C-995273C027E5}"/>
              </a:ext>
            </a:extLst>
          </p:cNvPr>
          <p:cNvSpPr>
            <a:spLocks noGrp="1"/>
          </p:cNvSpPr>
          <p:nvPr/>
        </p:nvSpPr>
        <p:spPr>
          <a:xfrm>
            <a:off x="857250" y="5505450"/>
            <a:ext cx="704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6667"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Victor Sabino  ·  Kayan Kayser  ·  Mário Gonçalves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E6F6D9C-25C7-447C-AFD3-33B8D3C7752A}"/>
              </a:ext>
            </a:extLst>
          </p:cNvPr>
          <p:cNvSpPr>
            <a:spLocks noGrp="1"/>
          </p:cNvSpPr>
          <p:nvPr/>
        </p:nvSpPr>
        <p:spPr>
          <a:xfrm>
            <a:off x="857250" y="5905500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/>
          </a:bodyPr>
          <a:lstStyle/>
          <a:p>
            <a:pPr algn="l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12/09/2026</a:t>
            </a:r>
          </a:p>
        </p:txBody>
      </p:sp>
    </p:spTree>
    <p:extLst>
      <p:ext uri="{BB962C8B-B14F-4D97-AF65-F5344CB8AC3E}">
        <p14:creationId xmlns:p14="http://schemas.microsoft.com/office/powerpoint/2010/main" val="719627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72E9BF6E-AB67-42D4-B5BD-3A62DFFEE03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D6A9B4A-FE4B-47C5-875B-FD6B374FC7A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INTRODUÇÃO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E4A4446-3638-4A0B-A2A3-229FDDA2AFEB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55AD4F7-D80D-491B-BE91-4CB7DC31C2F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B57E51-46CC-4053-9681-67A11B53FDF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Da solicitação ao resultado da transferência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72FD63D-3E22-4793-95A4-0F603FD712F5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200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FC8D12-D566-4984-A6B0-90B0D7F7941B}"/>
              </a:ext>
            </a:extLst>
          </p:cNvPr>
          <p:cNvSpPr>
            <a:spLocks noGrp="1"/>
          </p:cNvSpPr>
          <p:nvPr/>
        </p:nvSpPr>
        <p:spPr>
          <a:xfrm>
            <a:off x="914400" y="20955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254614E-C85C-454E-A30D-6AE6F96580CE}"/>
              </a:ext>
            </a:extLst>
          </p:cNvPr>
          <p:cNvSpPr>
            <a:spLocks noGrp="1"/>
          </p:cNvSpPr>
          <p:nvPr/>
        </p:nvSpPr>
        <p:spPr>
          <a:xfrm>
            <a:off x="1143000" y="2257425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Usuário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6F783E9-FB3D-407B-88A1-65553B5C540E}"/>
              </a:ext>
            </a:extLst>
          </p:cNvPr>
          <p:cNvSpPr>
            <a:spLocks noGrp="1"/>
          </p:cNvSpPr>
          <p:nvPr/>
        </p:nvSpPr>
        <p:spPr>
          <a:xfrm>
            <a:off x="1143000" y="2581275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Acessa, consulta saldo e solicita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02FD2467-7588-4EA4-AD0D-1A3FACD4ABD0}"/>
              </a:ext>
            </a:extLst>
          </p:cNvPr>
          <p:cNvSpPr>
            <a:spLocks noGrp="1"/>
          </p:cNvSpPr>
          <p:nvPr/>
        </p:nvSpPr>
        <p:spPr>
          <a:xfrm>
            <a:off x="2952750" y="23812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B5A67151-8767-4624-8DB7-E264B4096910}"/>
              </a:ext>
            </a:extLst>
          </p:cNvPr>
          <p:cNvSpPr>
            <a:spLocks noGrp="1"/>
          </p:cNvSpPr>
          <p:nvPr/>
        </p:nvSpPr>
        <p:spPr>
          <a:xfrm>
            <a:off x="3448050" y="2095500"/>
            <a:ext cx="200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70377A2D-C31E-4E25-9410-332289B2E46C}"/>
              </a:ext>
            </a:extLst>
          </p:cNvPr>
          <p:cNvSpPr>
            <a:spLocks noGrp="1"/>
          </p:cNvSpPr>
          <p:nvPr/>
        </p:nvSpPr>
        <p:spPr>
          <a:xfrm>
            <a:off x="3448050" y="20955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D86A6BC6-3DC5-4AFF-9B5F-00D2804CF6A3}"/>
              </a:ext>
            </a:extLst>
          </p:cNvPr>
          <p:cNvSpPr>
            <a:spLocks noGrp="1"/>
          </p:cNvSpPr>
          <p:nvPr/>
        </p:nvSpPr>
        <p:spPr>
          <a:xfrm>
            <a:off x="3676650" y="2257425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API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75F9A1D-1C9C-4364-9638-0D2EA6405790}"/>
              </a:ext>
            </a:extLst>
          </p:cNvPr>
          <p:cNvSpPr>
            <a:spLocks noGrp="1"/>
          </p:cNvSpPr>
          <p:nvPr/>
        </p:nvSpPr>
        <p:spPr>
          <a:xfrm>
            <a:off x="3676650" y="2581275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Registra a operação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DA409DE4-72AD-4958-A107-5FFA0C5966CC}"/>
              </a:ext>
            </a:extLst>
          </p:cNvPr>
          <p:cNvSpPr>
            <a:spLocks noGrp="1"/>
          </p:cNvSpPr>
          <p:nvPr/>
        </p:nvSpPr>
        <p:spPr>
          <a:xfrm>
            <a:off x="5486400" y="23812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11D1BA2-0951-422E-B709-C4A7ED8058E6}"/>
              </a:ext>
            </a:extLst>
          </p:cNvPr>
          <p:cNvSpPr>
            <a:spLocks noGrp="1"/>
          </p:cNvSpPr>
          <p:nvPr/>
        </p:nvSpPr>
        <p:spPr>
          <a:xfrm>
            <a:off x="5981700" y="2095500"/>
            <a:ext cx="200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43D92C7C-B141-4EAC-AEC7-278278B9798B}"/>
              </a:ext>
            </a:extLst>
          </p:cNvPr>
          <p:cNvSpPr>
            <a:spLocks noGrp="1"/>
          </p:cNvSpPr>
          <p:nvPr/>
        </p:nvSpPr>
        <p:spPr>
          <a:xfrm>
            <a:off x="5981700" y="20955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 w="9525">
            <a:solidFill>
              <a:srgbClr val="E0A458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54604864-FC12-41A3-9B92-3EA339E1D920}"/>
              </a:ext>
            </a:extLst>
          </p:cNvPr>
          <p:cNvSpPr>
            <a:spLocks noGrp="1"/>
          </p:cNvSpPr>
          <p:nvPr/>
        </p:nvSpPr>
        <p:spPr>
          <a:xfrm>
            <a:off x="6210300" y="2257425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03C5B8C-B5D6-4547-BFD4-0C8B808B1F23}"/>
              </a:ext>
            </a:extLst>
          </p:cNvPr>
          <p:cNvSpPr>
            <a:spLocks noGrp="1"/>
          </p:cNvSpPr>
          <p:nvPr/>
        </p:nvSpPr>
        <p:spPr>
          <a:xfrm>
            <a:off x="6210300" y="2581275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Encaminha o processamento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4A14F65-5F57-4CEB-8A56-E5562CFD6813}"/>
              </a:ext>
            </a:extLst>
          </p:cNvPr>
          <p:cNvSpPr>
            <a:spLocks noGrp="1"/>
          </p:cNvSpPr>
          <p:nvPr/>
        </p:nvSpPr>
        <p:spPr>
          <a:xfrm>
            <a:off x="8020050" y="23812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686E322B-A4F0-48CE-842D-5D9E6C458809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200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BC2A2842-C795-438B-A17B-8E2C18B8168C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46E822E-1E3A-4C4E-834A-7338A02968F4}"/>
              </a:ext>
            </a:extLst>
          </p:cNvPr>
          <p:cNvSpPr>
            <a:spLocks noGrp="1"/>
          </p:cNvSpPr>
          <p:nvPr/>
        </p:nvSpPr>
        <p:spPr>
          <a:xfrm>
            <a:off x="8743950" y="2257425"/>
            <a:ext cx="158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Worker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2621645-87E7-4C90-8710-21026AC4BC6F}"/>
              </a:ext>
            </a:extLst>
          </p:cNvPr>
          <p:cNvSpPr>
            <a:spLocks noGrp="1"/>
          </p:cNvSpPr>
          <p:nvPr/>
        </p:nvSpPr>
        <p:spPr>
          <a:xfrm>
            <a:off x="8743950" y="2581275"/>
            <a:ext cx="158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Efetiva a movimentação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60C484C8-469E-42C5-B326-DE23E61B2DF7}"/>
              </a:ext>
            </a:extLst>
          </p:cNvPr>
          <p:cNvSpPr>
            <a:spLocks noGrp="1"/>
          </p:cNvSpPr>
          <p:nvPr/>
        </p:nvSpPr>
        <p:spPr>
          <a:xfrm>
            <a:off x="914400" y="4629150"/>
            <a:ext cx="9620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Referências acadêmicas: confirmação em até 2 segundos e disponibilidade de 99,95%</a:t>
            </a:r>
          </a:p>
        </p:txBody>
      </p:sp>
    </p:spTree>
    <p:extLst>
      <p:ext uri="{BB962C8B-B14F-4D97-AF65-F5344CB8AC3E}">
        <p14:creationId xmlns:p14="http://schemas.microsoft.com/office/powerpoint/2010/main" val="206770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AA531FF3-F378-489F-8294-C1C412FA63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F655037-7A97-4E4E-B745-BA3F69E7EAF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FEATURES PRIORIZADAS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E693984-EEB9-4D35-8368-00099E8405F3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BD40F3-00C7-44E6-A6AF-8B63CD864B69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5BF9360-28E8-4C2F-94A9-F66A5C0B827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Três funcionalidades sustentam a jornada principal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132099D7-BC13-4A04-8C8F-C86A228CE0AA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3124200" cy="247650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E6635BE-A58E-4680-973B-7CCE07EDD14F}"/>
              </a:ext>
            </a:extLst>
          </p:cNvPr>
          <p:cNvSpPr>
            <a:spLocks noGrp="1"/>
          </p:cNvSpPr>
          <p:nvPr/>
        </p:nvSpPr>
        <p:spPr>
          <a:xfrm>
            <a:off x="1143000" y="2181225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725CA8D-0D41-4594-AABF-360FB754DCE0}"/>
              </a:ext>
            </a:extLst>
          </p:cNvPr>
          <p:cNvSpPr>
            <a:spLocks noGrp="1"/>
          </p:cNvSpPr>
          <p:nvPr/>
        </p:nvSpPr>
        <p:spPr>
          <a:xfrm>
            <a:off x="1143000" y="2733675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Transferência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795C0D-940F-4A36-AA0A-7AC0F119919A}"/>
              </a:ext>
            </a:extLst>
          </p:cNvPr>
          <p:cNvSpPr>
            <a:spLocks noGrp="1"/>
          </p:cNvSpPr>
          <p:nvPr/>
        </p:nvSpPr>
        <p:spPr>
          <a:xfrm>
            <a:off x="1143000" y="3248025"/>
            <a:ext cx="2571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Transferência assíncrona confiável: movimentação de valores com acompanhamento do resultado.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889F180-11F9-4D61-B317-F1BE87DF68FE}"/>
              </a:ext>
            </a:extLst>
          </p:cNvPr>
          <p:cNvSpPr>
            <a:spLocks noGrp="1"/>
          </p:cNvSpPr>
          <p:nvPr/>
        </p:nvSpPr>
        <p:spPr>
          <a:xfrm>
            <a:off x="4419600" y="1952625"/>
            <a:ext cx="3124200" cy="247650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BF598C6-AA88-4FAA-A23F-8980789D75EB}"/>
              </a:ext>
            </a:extLst>
          </p:cNvPr>
          <p:cNvSpPr>
            <a:spLocks noGrp="1"/>
          </p:cNvSpPr>
          <p:nvPr/>
        </p:nvSpPr>
        <p:spPr>
          <a:xfrm>
            <a:off x="4686300" y="2181225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EE67F7A-2A3F-40EF-BD84-9D23465F6C99}"/>
              </a:ext>
            </a:extLst>
          </p:cNvPr>
          <p:cNvSpPr>
            <a:spLocks noGrp="1"/>
          </p:cNvSpPr>
          <p:nvPr/>
        </p:nvSpPr>
        <p:spPr>
          <a:xfrm>
            <a:off x="4686300" y="2733675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Identidade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4DA9509-2B87-4D58-893C-DDCACC0503F0}"/>
              </a:ext>
            </a:extLst>
          </p:cNvPr>
          <p:cNvSpPr>
            <a:spLocks noGrp="1"/>
          </p:cNvSpPr>
          <p:nvPr/>
        </p:nvSpPr>
        <p:spPr>
          <a:xfrm>
            <a:off x="4686300" y="3248025"/>
            <a:ext cx="2571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Cadastro e autenticação JWT: identificação do usuário e proteção da conta.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4A21D71-2817-4941-AA3B-00A066C7FB8C}"/>
              </a:ext>
            </a:extLst>
          </p:cNvPr>
          <p:cNvSpPr>
            <a:spLocks noGrp="1"/>
          </p:cNvSpPr>
          <p:nvPr/>
        </p:nvSpPr>
        <p:spPr>
          <a:xfrm>
            <a:off x="7962900" y="1952625"/>
            <a:ext cx="3124200" cy="2476500"/>
          </a:xfrm>
          <a:prstGeom prst="roundRect">
            <a:avLst>
              <a:gd name="adj" fmla="val 307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6494ED3-90A6-4933-8EB1-B0471EA677DF}"/>
              </a:ext>
            </a:extLst>
          </p:cNvPr>
          <p:cNvSpPr>
            <a:spLocks noGrp="1"/>
          </p:cNvSpPr>
          <p:nvPr/>
        </p:nvSpPr>
        <p:spPr>
          <a:xfrm>
            <a:off x="8229600" y="2181225"/>
            <a:ext cx="4191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611"/>
          </a:bodyPr>
          <a:lstStyle/>
          <a:p>
            <a:pPr algn="l">
              <a:defRPr sz="18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CD400D26-36A7-4C60-BA83-EAFC7BF48C60}"/>
              </a:ext>
            </a:extLst>
          </p:cNvPr>
          <p:cNvSpPr>
            <a:spLocks noGrp="1"/>
          </p:cNvSpPr>
          <p:nvPr/>
        </p:nvSpPr>
        <p:spPr>
          <a:xfrm>
            <a:off x="8229600" y="2733675"/>
            <a:ext cx="25717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l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Transparência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98402A9-CAA9-42CC-94FE-A516E4AF2919}"/>
              </a:ext>
            </a:extLst>
          </p:cNvPr>
          <p:cNvSpPr>
            <a:spLocks noGrp="1"/>
          </p:cNvSpPr>
          <p:nvPr/>
        </p:nvSpPr>
        <p:spPr>
          <a:xfrm>
            <a:off x="8229600" y="3248025"/>
            <a:ext cx="2571750" cy="800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Saldo e extrato: transparência sobre valores e movimentações.</a:t>
            </a:r>
          </a:p>
        </p:txBody>
      </p:sp>
    </p:spTree>
    <p:extLst>
      <p:ext uri="{BB962C8B-B14F-4D97-AF65-F5344CB8AC3E}">
        <p14:creationId xmlns:p14="http://schemas.microsoft.com/office/powerpoint/2010/main" val="854009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22F1F5EA-88CF-4715-8734-E72D8293418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DA6D389-619F-497B-B66F-D0E931288E36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FEATURES PRIORIZADAS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1BDC72-F2F0-4F32-BB73-7510A22A9FAB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679D04C6-32C3-4713-8097-6749B11BE19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5CF4800-9D1E-45DD-B74C-AA2044F414F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Priorização orientada por valor, risco e dependências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22E8681-9464-4555-AC21-4A590BEDB510}"/>
              </a:ext>
            </a:extLst>
          </p:cNvPr>
          <p:cNvSpPr>
            <a:spLocks noGrp="1"/>
          </p:cNvSpPr>
          <p:nvPr/>
        </p:nvSpPr>
        <p:spPr>
          <a:xfrm>
            <a:off x="914400" y="1733550"/>
            <a:ext cx="952500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A transferência organiza a prioridade. Identidade e conta viabilizam a jornada protegida.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CDF068F-CCCA-46E5-9628-78906A9CAAC4}"/>
              </a:ext>
            </a:extLst>
          </p:cNvPr>
          <p:cNvSpPr>
            <a:spLocks noGrp="1"/>
          </p:cNvSpPr>
          <p:nvPr/>
        </p:nvSpPr>
        <p:spPr>
          <a:xfrm>
            <a:off x="1047750" y="2571750"/>
            <a:ext cx="9334500" cy="2095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243B53"/>
                </a:solidFill>
                <a:latin typeface="Aptos"/>
                <a:ea typeface="Aptos"/>
                <a:cs typeface="Aptos"/>
              </a:rPr>
              <a:t>Fluxo principal: transferir valores entre contas.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243B53"/>
                </a:solidFill>
                <a:latin typeface="Aptos"/>
                <a:ea typeface="Aptos"/>
                <a:cs typeface="Aptos"/>
              </a:rPr>
              <a:t>Risco crítico: preservar consistência e impedir acesso indevido.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243B53"/>
                </a:solidFill>
                <a:latin typeface="Aptos"/>
                <a:ea typeface="Aptos"/>
                <a:cs typeface="Aptos"/>
              </a:rPr>
              <a:t>Valor percebido: acompanhar saldo e resultado das operações.</a:t>
            </a:r>
          </a:p>
          <a:p>
            <a:pPr marL="254000" indent="-127000">
              <a:spcAft>
                <a:spcPts val="900"/>
              </a:spcAft>
              <a:buChar char="•"/>
              <a:defRPr sz="18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875">
                <a:solidFill>
                  <a:srgbClr val="243B53"/>
                </a:solidFill>
                <a:latin typeface="Aptos"/>
                <a:ea typeface="Aptos"/>
                <a:cs typeface="Aptos"/>
              </a:rPr>
              <a:t>Escopo controlado: evitar complexidade bancária desnecessária.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E9FAA7A-9FAA-48FD-AB20-FDD745A999DC}"/>
              </a:ext>
            </a:extLst>
          </p:cNvPr>
          <p:cNvSpPr>
            <a:spLocks noGrp="1"/>
          </p:cNvSpPr>
          <p:nvPr/>
        </p:nvSpPr>
        <p:spPr>
          <a:xfrm>
            <a:off x="914400" y="4991100"/>
            <a:ext cx="495300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FEECCDD-32DD-4AB1-BA6E-B17DBF17CC69}"/>
              </a:ext>
            </a:extLst>
          </p:cNvPr>
          <p:cNvSpPr>
            <a:spLocks noGrp="1"/>
          </p:cNvSpPr>
          <p:nvPr/>
        </p:nvSpPr>
        <p:spPr>
          <a:xfrm>
            <a:off x="1028700" y="5029200"/>
            <a:ext cx="47244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Escopo: sem integração bancária real e sem MFA</a:t>
            </a:r>
          </a:p>
        </p:txBody>
      </p:sp>
    </p:spTree>
    <p:extLst>
      <p:ext uri="{BB962C8B-B14F-4D97-AF65-F5344CB8AC3E}">
        <p14:creationId xmlns:p14="http://schemas.microsoft.com/office/powerpoint/2010/main" val="590821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B7FD8A5C-8D55-44C8-ABC3-2DCD2456F4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A431C48-2990-4B33-B4A1-E41A015DD6F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FATIAS E2E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36BB783-A2FB-4AD4-9180-BDE49E4F33CA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399FFD4-94C6-4FE0-9710-57C2BA60203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89805B0-38F6-43CC-BEBB-6745FEC96D9E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Transferências em três entregas verticais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CBDC2B1-B7ED-4414-855A-DEC5EE3BE0D9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8A5CCB5-8C28-4A52-B74F-5FAEF17E23E7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5A2BEE8-1A8E-45F6-83B0-878F52F6C66E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98C9C4F-1894-4F8C-BBC0-F0187389D51C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transferência direta, saldo validado, débito e crédito atômicos e resultado visível.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20C8600-76B7-42B6-BEC5-9487C68FF9CD}"/>
              </a:ext>
            </a:extLst>
          </p:cNvPr>
          <p:cNvSpPr>
            <a:spLocks noGrp="1"/>
          </p:cNvSpPr>
          <p:nvPr/>
        </p:nvSpPr>
        <p:spPr>
          <a:xfrm>
            <a:off x="10687050" y="210502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C8EDD125-D8DF-4DAC-9DD7-E18B8320FE4C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906C1A0-D652-4796-8F50-C398BB251CA6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 w="9525">
            <a:solidFill>
              <a:srgbClr val="E0A458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E4E62902-77CD-4A81-A4F2-6615C6D61BDB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658F338E-A61F-4150-8528-23D8C095DFCA}"/>
              </a:ext>
            </a:extLst>
          </p:cNvPr>
          <p:cNvSpPr>
            <a:spLocks noGrp="1"/>
          </p:cNvSpPr>
          <p:nvPr/>
        </p:nvSpPr>
        <p:spPr>
          <a:xfrm>
            <a:off x="1143000" y="359092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processamento por RabbitMQ e Worker, com estado PENDENTE e consulta do resultado.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D749ECF-2912-4600-A1AF-159C59714AF6}"/>
              </a:ext>
            </a:extLst>
          </p:cNvPr>
          <p:cNvSpPr>
            <a:spLocks noGrp="1"/>
          </p:cNvSpPr>
          <p:nvPr/>
        </p:nvSpPr>
        <p:spPr>
          <a:xfrm>
            <a:off x="10687050" y="341947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6B5CCA07-DFB3-480C-92C7-45A7A7D37920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2C406ED9-2C3F-440D-928C-A733F9D45481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654AF7EF-A265-48EF-B972-A2AD643A7442}"/>
              </a:ext>
            </a:extLst>
          </p:cNvPr>
          <p:cNvSpPr>
            <a:spLocks noGrp="1"/>
          </p:cNvSpPr>
          <p:nvPr/>
        </p:nvSpPr>
        <p:spPr>
          <a:xfrm>
            <a:off x="1143000" y="45815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4EA10CED-121B-489A-94CD-6276709B216B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idempotência, retentativas, auditoria e confirmação em até 2 segundos no teste.</a:t>
            </a:r>
          </a:p>
        </p:txBody>
      </p:sp>
    </p:spTree>
    <p:extLst>
      <p:ext uri="{BB962C8B-B14F-4D97-AF65-F5344CB8AC3E}">
        <p14:creationId xmlns:p14="http://schemas.microsoft.com/office/powerpoint/2010/main" val="1002938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350BBE9D-6525-42CD-BFC4-07EEACD26E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3A377C0-5F80-4B13-A8F0-E75DC2866012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FATIAS E2E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77E40BB-1F94-406E-A047-136F564F568A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57541A-B2D6-440B-A93A-59CA7FB27BE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51A5F9D-8046-4E98-A9ED-BF4255393AF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Identidade e sessão em três entregas verticais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4C993DF-74C4-4ABC-9E6A-B123D75BA407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606A5924-C870-4D77-BEC2-DC7CC2214138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FE4FF53-6E28-4AD1-A241-F562A19504F5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2A7F9F-C3AE-4D0A-A8B3-187E832F81F6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cadastro e login com nome, e-mail e senha protegida por hash.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EDB0D707-3B9C-4070-8B9F-BA5B40A76FC3}"/>
              </a:ext>
            </a:extLst>
          </p:cNvPr>
          <p:cNvSpPr>
            <a:spLocks noGrp="1"/>
          </p:cNvSpPr>
          <p:nvPr/>
        </p:nvSpPr>
        <p:spPr>
          <a:xfrm>
            <a:off x="10687050" y="210502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EE83F0B-B617-4C33-9ABD-B28EFFDC3F6C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DA0FAFC-0B43-495C-B693-0E86C01726E6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 w="9525">
            <a:solidFill>
              <a:srgbClr val="E0A458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29EC0FF-2B74-446D-98C0-D422B439FB28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4140268-28C9-4CD4-BA7A-D0D25F768901}"/>
              </a:ext>
            </a:extLst>
          </p:cNvPr>
          <p:cNvSpPr>
            <a:spLocks noGrp="1"/>
          </p:cNvSpPr>
          <p:nvPr/>
        </p:nvSpPr>
        <p:spPr>
          <a:xfrm>
            <a:off x="1143000" y="359092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CPF fictício validado e bloqueio de e-mail ou CPF duplicado.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F8318E4-61A6-4359-A1D3-755822364336}"/>
              </a:ext>
            </a:extLst>
          </p:cNvPr>
          <p:cNvSpPr>
            <a:spLocks noGrp="1"/>
          </p:cNvSpPr>
          <p:nvPr/>
        </p:nvSpPr>
        <p:spPr>
          <a:xfrm>
            <a:off x="10687050" y="341947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CA5959C-595D-47C6-9C4C-0D09A1C93775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E10A1E0-124E-4B8D-856B-16700C5432A2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E67C99B0-B55A-47E1-87C0-BD20F8238283}"/>
              </a:ext>
            </a:extLst>
          </p:cNvPr>
          <p:cNvSpPr>
            <a:spLocks noGrp="1"/>
          </p:cNvSpPr>
          <p:nvPr/>
        </p:nvSpPr>
        <p:spPr>
          <a:xfrm>
            <a:off x="1143000" y="45815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5D7BFFF-5B34-4389-835B-CF2F869C7C19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JWT expirável, rotas protegidas e encerramento da sessão.</a:t>
            </a:r>
          </a:p>
        </p:txBody>
      </p:sp>
    </p:spTree>
    <p:extLst>
      <p:ext uri="{BB962C8B-B14F-4D97-AF65-F5344CB8AC3E}">
        <p14:creationId xmlns:p14="http://schemas.microsoft.com/office/powerpoint/2010/main" val="572077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tângulo 19">
            <a:extLst>
              <a:ext uri="{FF2B5EF4-FFF2-40B4-BE49-F238E27FC236}">
                <a16:creationId xmlns:a16="http://schemas.microsoft.com/office/drawing/2014/main" id="{BBAB9003-B478-4219-A622-EDAA797F1C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2B84DED-3600-4F6C-AF72-EEF62AA850E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FATIAS E2E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9FFD932-5B31-49A9-BCE9-5A16DEEA6CE4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450A295A-F420-4699-8E53-E25A9773DFA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123315D-E045-481E-867E-42A44B72AAC6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Transparência financeira em três entregas verticais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B854274-DD5D-490F-8839-D8D9D0F2EA44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D991F60-4287-42C5-8A14-D8FB88EC90A7}"/>
              </a:ext>
            </a:extLst>
          </p:cNvPr>
          <p:cNvSpPr>
            <a:spLocks noGrp="1"/>
          </p:cNvSpPr>
          <p:nvPr/>
        </p:nvSpPr>
        <p:spPr>
          <a:xfrm>
            <a:off x="914400" y="17907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76005B-B7F8-48BB-B5ED-D1A8936EBEEA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1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D57CD4D-DDD7-41F1-A70F-80865EE11711}"/>
              </a:ext>
            </a:extLst>
          </p:cNvPr>
          <p:cNvSpPr>
            <a:spLocks noGrp="1"/>
          </p:cNvSpPr>
          <p:nvPr/>
        </p:nvSpPr>
        <p:spPr>
          <a:xfrm>
            <a:off x="1143000" y="22764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exibição do saldo atualizado para o usuário autenticado.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670B88DF-6373-4AD4-8B19-349045B59446}"/>
              </a:ext>
            </a:extLst>
          </p:cNvPr>
          <p:cNvSpPr>
            <a:spLocks noGrp="1"/>
          </p:cNvSpPr>
          <p:nvPr/>
        </p:nvSpPr>
        <p:spPr>
          <a:xfrm>
            <a:off x="10687050" y="210502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25F17512-994F-443C-9F7C-A5BE3E110F1A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AC7E3D5-F416-4FC8-A236-101ECB44DCB7}"/>
              </a:ext>
            </a:extLst>
          </p:cNvPr>
          <p:cNvSpPr>
            <a:spLocks noGrp="1"/>
          </p:cNvSpPr>
          <p:nvPr/>
        </p:nvSpPr>
        <p:spPr>
          <a:xfrm>
            <a:off x="914400" y="31051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 w="9525">
            <a:solidFill>
              <a:srgbClr val="E0A458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766B545-A087-4419-AD61-52BAD90D8F3D}"/>
              </a:ext>
            </a:extLst>
          </p:cNvPr>
          <p:cNvSpPr>
            <a:spLocks noGrp="1"/>
          </p:cNvSpPr>
          <p:nvPr/>
        </p:nvSpPr>
        <p:spPr>
          <a:xfrm>
            <a:off x="1143000" y="326707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2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49326501-1111-4F10-BE08-247A595A8AAC}"/>
              </a:ext>
            </a:extLst>
          </p:cNvPr>
          <p:cNvSpPr>
            <a:spLocks noGrp="1"/>
          </p:cNvSpPr>
          <p:nvPr/>
        </p:nvSpPr>
        <p:spPr>
          <a:xfrm>
            <a:off x="1143000" y="359092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extrato cronológico com entradas, saídas, valor, data e status.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01715D6-F2BD-4102-9E24-ECBEBAAA4918}"/>
              </a:ext>
            </a:extLst>
          </p:cNvPr>
          <p:cNvSpPr>
            <a:spLocks noGrp="1"/>
          </p:cNvSpPr>
          <p:nvPr/>
        </p:nvSpPr>
        <p:spPr>
          <a:xfrm>
            <a:off x="10687050" y="341947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DAA438CB-32F9-4F4A-BA1B-0E87D5A63DE7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96202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C1FCF30-7666-4BDC-92F4-1042A2CF622B}"/>
              </a:ext>
            </a:extLst>
          </p:cNvPr>
          <p:cNvSpPr>
            <a:spLocks noGrp="1"/>
          </p:cNvSpPr>
          <p:nvPr/>
        </p:nvSpPr>
        <p:spPr>
          <a:xfrm>
            <a:off x="914400" y="441960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00D7449E-3EBE-48B4-B5C3-504AF525B0A8}"/>
              </a:ext>
            </a:extLst>
          </p:cNvPr>
          <p:cNvSpPr>
            <a:spLocks noGrp="1"/>
          </p:cNvSpPr>
          <p:nvPr/>
        </p:nvSpPr>
        <p:spPr>
          <a:xfrm>
            <a:off x="1143000" y="4581525"/>
            <a:ext cx="92011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Fatia 3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2D09C2C3-14F3-48B0-B088-92306507929E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92011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detalhes, filtros, acompanhamento e comprovante de operações concluídas.</a:t>
            </a:r>
          </a:p>
        </p:txBody>
      </p:sp>
    </p:spTree>
    <p:extLst>
      <p:ext uri="{BB962C8B-B14F-4D97-AF65-F5344CB8AC3E}">
        <p14:creationId xmlns:p14="http://schemas.microsoft.com/office/powerpoint/2010/main" val="1782760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 13">
            <a:extLst>
              <a:ext uri="{FF2B5EF4-FFF2-40B4-BE49-F238E27FC236}">
                <a16:creationId xmlns:a16="http://schemas.microsoft.com/office/drawing/2014/main" id="{478C8ED1-8332-4DF0-B651-7468F26D74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553E7CF-AF2D-4844-86E8-5E9B4BE22B91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ADRS FUNDAMENTAIS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54A281B-6B9D-4EDE-BD94-75FCC5C27508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F7D71FC-CCA3-4DA2-A115-C76F18B81480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821796D-9149-48EA-B985-46B981F88EC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ADR 0001, transferência assíncrona com RabbitMQ e Worker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E3BFBE0-8CF1-4025-8E5C-2632C878B031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5810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Contexto: evitar que a requisição HTTP aguarde toda a movimentação.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Decisão: registrar PENDENTE, publicar o comando e responder com o identificador.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Worker executa débito, crédito e atualização de estado em transação ACID.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Confirmação de consumo ocorre após o commit.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Consequência: desacoplamento com maior complexidade operacional.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1E0291F-C572-498E-A986-468713E1024C}"/>
              </a:ext>
            </a:extLst>
          </p:cNvPr>
          <p:cNvSpPr>
            <a:spLocks noGrp="1"/>
          </p:cNvSpPr>
          <p:nvPr/>
        </p:nvSpPr>
        <p:spPr>
          <a:xfrm>
            <a:off x="7086600" y="1771650"/>
            <a:ext cx="3752850" cy="2857500"/>
          </a:xfrm>
          <a:prstGeom prst="roundRect">
            <a:avLst>
              <a:gd name="adj" fmla="val 2667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3DCF07A-E413-403C-BD65-2ACDAEC708DD}"/>
              </a:ext>
            </a:extLst>
          </p:cNvPr>
          <p:cNvSpPr>
            <a:spLocks noGrp="1"/>
          </p:cNvSpPr>
          <p:nvPr/>
        </p:nvSpPr>
        <p:spPr>
          <a:xfrm>
            <a:off x="7429500" y="2152650"/>
            <a:ext cx="1238250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HTTP 202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7F013DD-66C9-4715-8C27-88CE8EB74655}"/>
              </a:ext>
            </a:extLst>
          </p:cNvPr>
          <p:cNvSpPr>
            <a:spLocks noGrp="1"/>
          </p:cNvSpPr>
          <p:nvPr/>
        </p:nvSpPr>
        <p:spPr>
          <a:xfrm>
            <a:off x="8639175" y="207645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6F8F9D5-7FFF-4762-A5C9-5F4075F7C7F0}"/>
              </a:ext>
            </a:extLst>
          </p:cNvPr>
          <p:cNvSpPr>
            <a:spLocks noGrp="1"/>
          </p:cNvSpPr>
          <p:nvPr/>
        </p:nvSpPr>
        <p:spPr>
          <a:xfrm>
            <a:off x="9315450" y="2152650"/>
            <a:ext cx="1190625" cy="381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RabbitMQ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B700E74-50A0-4B2D-B19F-9BD0D796FEE4}"/>
              </a:ext>
            </a:extLst>
          </p:cNvPr>
          <p:cNvSpPr>
            <a:spLocks noGrp="1"/>
          </p:cNvSpPr>
          <p:nvPr/>
        </p:nvSpPr>
        <p:spPr>
          <a:xfrm>
            <a:off x="7429500" y="33718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PENDENTE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DE15957-88C0-4FD7-9FA8-0DBF6CADBCE8}"/>
              </a:ext>
            </a:extLst>
          </p:cNvPr>
          <p:cNvSpPr>
            <a:spLocks noGrp="1"/>
          </p:cNvSpPr>
          <p:nvPr/>
        </p:nvSpPr>
        <p:spPr>
          <a:xfrm>
            <a:off x="8639175" y="3276600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992F135D-2418-442E-AA42-32FB1B7EAFA9}"/>
              </a:ext>
            </a:extLst>
          </p:cNvPr>
          <p:cNvSpPr>
            <a:spLocks noGrp="1"/>
          </p:cNvSpPr>
          <p:nvPr/>
        </p:nvSpPr>
        <p:spPr>
          <a:xfrm>
            <a:off x="9315450" y="3219450"/>
            <a:ext cx="119062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Worker +</a:t>
            </a:r>
          </a:p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</p:spTree>
    <p:extLst>
      <p:ext uri="{BB962C8B-B14F-4D97-AF65-F5344CB8AC3E}">
        <p14:creationId xmlns:p14="http://schemas.microsoft.com/office/powerpoint/2010/main" val="92338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725E26BC-58FC-45F4-A8D6-C9ED156D3B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E595E72-B66D-442E-8C2E-801B8A34AF1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ADRS FUNDAMENTAIS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74E131-44C9-45D6-B8AF-DF7B94A573DA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BECF3DD-CA2D-4C4F-8CF0-76D38AC60E1E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6017111-AA8D-46C1-A816-A5569CD94D6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ADR 0002, identidade confiável com JWT expirável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7D60D48F-5E60-4FF6-B146-69D8597CFF7E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5810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Contexto: impedir consultas e movimentações em contas de terceiros.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Decisão: JWT assinado com identidade em sub e expiração em exp.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Middleware valida o token nas rotas protegidas.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Identidade da operação deriva do token, não do payload.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Logout remove a sessão local, sem revogação imediata do token.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423E179-3F21-4DA5-9C7A-0619C0592158}"/>
              </a:ext>
            </a:extLst>
          </p:cNvPr>
          <p:cNvSpPr>
            <a:spLocks noGrp="1"/>
          </p:cNvSpPr>
          <p:nvPr/>
        </p:nvSpPr>
        <p:spPr>
          <a:xfrm>
            <a:off x="7086600" y="1771650"/>
            <a:ext cx="3752850" cy="2857500"/>
          </a:xfrm>
          <a:prstGeom prst="roundRect">
            <a:avLst>
              <a:gd name="adj" fmla="val 2667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A842613-FAA0-4C97-96E3-6C87B3719369}"/>
              </a:ext>
            </a:extLst>
          </p:cNvPr>
          <p:cNvSpPr>
            <a:spLocks noGrp="1"/>
          </p:cNvSpPr>
          <p:nvPr/>
        </p:nvSpPr>
        <p:spPr>
          <a:xfrm>
            <a:off x="7543800" y="226695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406"/>
          </a:bodyPr>
          <a:lstStyle/>
          <a:p>
            <a:pPr algn="ctr">
              <a:defRPr sz="17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Bearer JWT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95BD998-1AFD-4476-96F3-FD4AB7384ADD}"/>
              </a:ext>
            </a:extLst>
          </p:cNvPr>
          <p:cNvSpPr>
            <a:spLocks noGrp="1"/>
          </p:cNvSpPr>
          <p:nvPr/>
        </p:nvSpPr>
        <p:spPr>
          <a:xfrm>
            <a:off x="7543800" y="287655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sub + exp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94844FE-EA87-4CC1-B66A-ACD04B83CD00}"/>
              </a:ext>
            </a:extLst>
          </p:cNvPr>
          <p:cNvSpPr>
            <a:spLocks noGrp="1"/>
          </p:cNvSpPr>
          <p:nvPr/>
        </p:nvSpPr>
        <p:spPr>
          <a:xfrm>
            <a:off x="7762875" y="3524250"/>
            <a:ext cx="2228850" cy="64770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007C8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0BB220B-9A2D-4B5A-99DC-F167FA835E28}"/>
              </a:ext>
            </a:extLst>
          </p:cNvPr>
          <p:cNvSpPr>
            <a:spLocks noGrp="1"/>
          </p:cNvSpPr>
          <p:nvPr/>
        </p:nvSpPr>
        <p:spPr>
          <a:xfrm>
            <a:off x="7896225" y="3695700"/>
            <a:ext cx="19621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Rotas protegidas</a:t>
            </a:r>
          </a:p>
        </p:txBody>
      </p:sp>
    </p:spTree>
    <p:extLst>
      <p:ext uri="{BB962C8B-B14F-4D97-AF65-F5344CB8AC3E}">
        <p14:creationId xmlns:p14="http://schemas.microsoft.com/office/powerpoint/2010/main" val="431867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>
            <a:extLst>
              <a:ext uri="{FF2B5EF4-FFF2-40B4-BE49-F238E27FC236}">
                <a16:creationId xmlns:a16="http://schemas.microsoft.com/office/drawing/2014/main" id="{0DC1021E-EACD-4BD9-8EF6-85A863F43E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F0AA239-9176-42BC-8EBD-B49EF9FE7FBA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ADRS FUNDAMENTAIS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8902727-8E50-42C1-9DC4-9BF1C92DC37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2FCCD32-179E-4A45-81D6-9FBDCC7CD0A4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18364F7-F294-4727-A247-53D3BB1AF6FB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ADR 0003, extrato sobre a fonte oficial de dados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0F66FE6-659D-493B-9143-45EAE7DB0AFD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58102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Contexto: apresentar movimentos consistentes sem criar outra base.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Decisão: consultar transações diretamente no PostgreSQL.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Seleção inclui operações em que a conta é origem ou destino.</a:t>
            </a:r>
          </a:p>
          <a:p>
            <a:pPr marL="254000" indent="-127000">
              <a:spcAft>
                <a:spcPts val="900"/>
              </a:spcAft>
              <a:buChar char="•"/>
              <a:defRPr sz="157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243B53"/>
                </a:solidFill>
                <a:latin typeface="Aptos"/>
                <a:ea typeface="Aptos"/>
                <a:cs typeface="Aptos"/>
              </a:rPr>
              <a:t>Ordenação cronológica estável, paginação e índices limitam o custo.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A83D704-9375-40D1-8074-7C4E8470C681}"/>
              </a:ext>
            </a:extLst>
          </p:cNvPr>
          <p:cNvSpPr>
            <a:spLocks noGrp="1"/>
          </p:cNvSpPr>
          <p:nvPr/>
        </p:nvSpPr>
        <p:spPr>
          <a:xfrm>
            <a:off x="7086600" y="1771650"/>
            <a:ext cx="3752850" cy="2857500"/>
          </a:xfrm>
          <a:prstGeom prst="roundRect">
            <a:avLst>
              <a:gd name="adj" fmla="val 2667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E205B104-FBD4-4717-9B17-70DA99FBE906}"/>
              </a:ext>
            </a:extLst>
          </p:cNvPr>
          <p:cNvSpPr>
            <a:spLocks noGrp="1"/>
          </p:cNvSpPr>
          <p:nvPr/>
        </p:nvSpPr>
        <p:spPr>
          <a:xfrm>
            <a:off x="7448550" y="2190750"/>
            <a:ext cx="30289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Usuário autenticado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6B2329F4-405B-4900-897D-EB49F2E17370}"/>
              </a:ext>
            </a:extLst>
          </p:cNvPr>
          <p:cNvSpPr>
            <a:spLocks noGrp="1"/>
          </p:cNvSpPr>
          <p:nvPr/>
        </p:nvSpPr>
        <p:spPr>
          <a:xfrm>
            <a:off x="8724900" y="2505075"/>
            <a:ext cx="4953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8D211123-F3CF-466B-B7A8-11C6C858F359}"/>
              </a:ext>
            </a:extLst>
          </p:cNvPr>
          <p:cNvSpPr>
            <a:spLocks noGrp="1"/>
          </p:cNvSpPr>
          <p:nvPr/>
        </p:nvSpPr>
        <p:spPr>
          <a:xfrm>
            <a:off x="7448550" y="3143250"/>
            <a:ext cx="30289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ctr">
              <a:defRPr sz="18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B2A2712-6A2E-4A1B-9110-42CFBD3C2407}"/>
              </a:ext>
            </a:extLst>
          </p:cNvPr>
          <p:cNvSpPr>
            <a:spLocks noGrp="1"/>
          </p:cNvSpPr>
          <p:nvPr/>
        </p:nvSpPr>
        <p:spPr>
          <a:xfrm>
            <a:off x="7353300" y="3800475"/>
            <a:ext cx="32194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33"/>
          </a:bodyPr>
          <a:lstStyle/>
          <a:p>
            <a:pPr algn="ctr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Origem ou destino</a:t>
            </a:r>
          </a:p>
          <a:p>
            <a:pPr algn="ctr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Ordem estável</a:t>
            </a:r>
          </a:p>
          <a:p>
            <a:pPr algn="ctr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Paginação</a:t>
            </a:r>
          </a:p>
        </p:txBody>
      </p:sp>
    </p:spTree>
    <p:extLst>
      <p:ext uri="{BB962C8B-B14F-4D97-AF65-F5344CB8AC3E}">
        <p14:creationId xmlns:p14="http://schemas.microsoft.com/office/powerpoint/2010/main" val="6734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tângulo 25">
            <a:extLst>
              <a:ext uri="{FF2B5EF4-FFF2-40B4-BE49-F238E27FC236}">
                <a16:creationId xmlns:a16="http://schemas.microsoft.com/office/drawing/2014/main" id="{F673F399-F513-4634-BF48-C108B027A8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41D459A-A898-4CAA-A579-A2EA1262D64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BOILERPLATE E PIPELINE CI/CD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1465446-EDE4-4B6B-8471-D637391226D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95EC882-5147-440D-A860-D801869CFED1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F968279-D913-459C-AE62-CB532762A36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Uma base técnica compartilhada entre API e Worker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8B7BE13-49B8-4FB7-BD9D-443A8961A698}"/>
              </a:ext>
            </a:extLst>
          </p:cNvPr>
          <p:cNvSpPr>
            <a:spLocks noGrp="1"/>
          </p:cNvSpPr>
          <p:nvPr/>
        </p:nvSpPr>
        <p:spPr>
          <a:xfrm>
            <a:off x="952500" y="1857375"/>
            <a:ext cx="26098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F568DD73-350A-42E4-8101-9AFA945FDA39}"/>
              </a:ext>
            </a:extLst>
          </p:cNvPr>
          <p:cNvSpPr>
            <a:spLocks noGrp="1"/>
          </p:cNvSpPr>
          <p:nvPr/>
        </p:nvSpPr>
        <p:spPr>
          <a:xfrm>
            <a:off x="952500" y="18573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1E3208A7-0677-4335-A93E-257F6DA06A76}"/>
              </a:ext>
            </a:extLst>
          </p:cNvPr>
          <p:cNvSpPr>
            <a:spLocks noGrp="1"/>
          </p:cNvSpPr>
          <p:nvPr/>
        </p:nvSpPr>
        <p:spPr>
          <a:xfrm>
            <a:off x="1181100" y="2019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8DEE43-17F4-4ACA-9FBB-B5E7F5D6879A}"/>
              </a:ext>
            </a:extLst>
          </p:cNvPr>
          <p:cNvSpPr>
            <a:spLocks noGrp="1"/>
          </p:cNvSpPr>
          <p:nvPr/>
        </p:nvSpPr>
        <p:spPr>
          <a:xfrm>
            <a:off x="1181100" y="234315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React e Vite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E64633E3-A662-4B22-96F5-865B37ECD2CC}"/>
              </a:ext>
            </a:extLst>
          </p:cNvPr>
          <p:cNvSpPr>
            <a:spLocks noGrp="1"/>
          </p:cNvSpPr>
          <p:nvPr/>
        </p:nvSpPr>
        <p:spPr>
          <a:xfrm>
            <a:off x="3848100" y="1857375"/>
            <a:ext cx="26098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E3059536-3022-4218-A218-0E69B21210A1}"/>
              </a:ext>
            </a:extLst>
          </p:cNvPr>
          <p:cNvSpPr>
            <a:spLocks noGrp="1"/>
          </p:cNvSpPr>
          <p:nvPr/>
        </p:nvSpPr>
        <p:spPr>
          <a:xfrm>
            <a:off x="3848100" y="18573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59F3E8A-3883-4FC8-8B25-4606597ECE47}"/>
              </a:ext>
            </a:extLst>
          </p:cNvPr>
          <p:cNvSpPr>
            <a:spLocks noGrp="1"/>
          </p:cNvSpPr>
          <p:nvPr/>
        </p:nvSpPr>
        <p:spPr>
          <a:xfrm>
            <a:off x="4076700" y="2019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8DCD8A84-5079-4568-A902-4F0791DA7388}"/>
              </a:ext>
            </a:extLst>
          </p:cNvPr>
          <p:cNvSpPr>
            <a:spLocks noGrp="1"/>
          </p:cNvSpPr>
          <p:nvPr/>
        </p:nvSpPr>
        <p:spPr>
          <a:xfrm>
            <a:off x="4076700" y="234315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Node.js e Express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971C12C7-DF5E-448C-9949-D9318C4B5DB6}"/>
              </a:ext>
            </a:extLst>
          </p:cNvPr>
          <p:cNvSpPr>
            <a:spLocks noGrp="1"/>
          </p:cNvSpPr>
          <p:nvPr/>
        </p:nvSpPr>
        <p:spPr>
          <a:xfrm>
            <a:off x="6743700" y="1857375"/>
            <a:ext cx="26098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DA26ED7-4618-49DA-9313-D9BF8029DCFE}"/>
              </a:ext>
            </a:extLst>
          </p:cNvPr>
          <p:cNvSpPr>
            <a:spLocks noGrp="1"/>
          </p:cNvSpPr>
          <p:nvPr/>
        </p:nvSpPr>
        <p:spPr>
          <a:xfrm>
            <a:off x="6743700" y="18573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E0A458"/>
          </a:solidFill>
          <a:ln w="9525">
            <a:solidFill>
              <a:srgbClr val="E0A458"/>
            </a:solidFill>
          </a:ln>
        </p:spPr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9BED743-F111-42A4-8677-AF2263DF6B34}"/>
              </a:ext>
            </a:extLst>
          </p:cNvPr>
          <p:cNvSpPr>
            <a:spLocks noGrp="1"/>
          </p:cNvSpPr>
          <p:nvPr/>
        </p:nvSpPr>
        <p:spPr>
          <a:xfrm>
            <a:off x="6972300" y="2019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Persistência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1F02BD1-30DE-4061-90AB-10785E4A2F26}"/>
              </a:ext>
            </a:extLst>
          </p:cNvPr>
          <p:cNvSpPr>
            <a:spLocks noGrp="1"/>
          </p:cNvSpPr>
          <p:nvPr/>
        </p:nvSpPr>
        <p:spPr>
          <a:xfrm>
            <a:off x="6972300" y="234315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Prisma e PostgreSQL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78A2D65-753E-4C0A-B12B-569E3C74DBF5}"/>
              </a:ext>
            </a:extLst>
          </p:cNvPr>
          <p:cNvSpPr>
            <a:spLocks noGrp="1"/>
          </p:cNvSpPr>
          <p:nvPr/>
        </p:nvSpPr>
        <p:spPr>
          <a:xfrm>
            <a:off x="2400300" y="3762375"/>
            <a:ext cx="26098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2615C339-D3E4-4888-9C99-D399F289D5F7}"/>
              </a:ext>
            </a:extLst>
          </p:cNvPr>
          <p:cNvSpPr>
            <a:spLocks noGrp="1"/>
          </p:cNvSpPr>
          <p:nvPr/>
        </p:nvSpPr>
        <p:spPr>
          <a:xfrm>
            <a:off x="2400300" y="37623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99EEAFB-E08D-4E31-919F-2C27E550991E}"/>
              </a:ext>
            </a:extLst>
          </p:cNvPr>
          <p:cNvSpPr>
            <a:spLocks noGrp="1"/>
          </p:cNvSpPr>
          <p:nvPr/>
        </p:nvSpPr>
        <p:spPr>
          <a:xfrm>
            <a:off x="2628900" y="3924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Processamento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1D80C8AD-7F6F-4B9A-B3F7-A7476F44BA48}"/>
              </a:ext>
            </a:extLst>
          </p:cNvPr>
          <p:cNvSpPr>
            <a:spLocks noGrp="1"/>
          </p:cNvSpPr>
          <p:nvPr/>
        </p:nvSpPr>
        <p:spPr>
          <a:xfrm>
            <a:off x="2628900" y="424815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RabbitMQ e Worker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19A21AB-1E1D-4B3C-B1F4-91633E061644}"/>
              </a:ext>
            </a:extLst>
          </p:cNvPr>
          <p:cNvSpPr>
            <a:spLocks noGrp="1"/>
          </p:cNvSpPr>
          <p:nvPr/>
        </p:nvSpPr>
        <p:spPr>
          <a:xfrm>
            <a:off x="5924550" y="3762375"/>
            <a:ext cx="26098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23" name="Retângulo: Cantos Arredondados 22">
            <a:extLst>
              <a:ext uri="{FF2B5EF4-FFF2-40B4-BE49-F238E27FC236}">
                <a16:creationId xmlns:a16="http://schemas.microsoft.com/office/drawing/2014/main" id="{A229F63B-577A-4F62-9199-9AA1A96C738B}"/>
              </a:ext>
            </a:extLst>
          </p:cNvPr>
          <p:cNvSpPr>
            <a:spLocks noGrp="1"/>
          </p:cNvSpPr>
          <p:nvPr/>
        </p:nvSpPr>
        <p:spPr>
          <a:xfrm>
            <a:off x="5924550" y="3762375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22BB342B-C2F5-446C-9D83-28C3B131353F}"/>
              </a:ext>
            </a:extLst>
          </p:cNvPr>
          <p:cNvSpPr>
            <a:spLocks noGrp="1"/>
          </p:cNvSpPr>
          <p:nvPr/>
        </p:nvSpPr>
        <p:spPr>
          <a:xfrm>
            <a:off x="6153150" y="3924300"/>
            <a:ext cx="21907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Operação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9C578361-F5BF-4D56-B2F5-54E4D2DD68D1}"/>
              </a:ext>
            </a:extLst>
          </p:cNvPr>
          <p:cNvSpPr>
            <a:spLocks noGrp="1"/>
          </p:cNvSpPr>
          <p:nvPr/>
        </p:nvSpPr>
        <p:spPr>
          <a:xfrm>
            <a:off x="6153150" y="4248150"/>
            <a:ext cx="21907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Compose, Socket.IO, Prometheus e Grafana</a:t>
            </a:r>
          </a:p>
        </p:txBody>
      </p:sp>
    </p:spTree>
    <p:extLst>
      <p:ext uri="{BB962C8B-B14F-4D97-AF65-F5344CB8AC3E}">
        <p14:creationId xmlns:p14="http://schemas.microsoft.com/office/powerpoint/2010/main" val="1023885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 30">
            <a:extLst>
              <a:ext uri="{FF2B5EF4-FFF2-40B4-BE49-F238E27FC236}">
                <a16:creationId xmlns:a16="http://schemas.microsoft.com/office/drawing/2014/main" id="{B5EF9002-9A8B-4485-A871-5E152DAEA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10DC594-25BE-4D3B-99E9-C338BC2D8BED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BOILERPLATE E PIPELINE CI/CD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6FF0C84-23E2-4C79-ACC8-2D9E749EA7D5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3A6D3F-E1A8-47CE-9DCD-2E7A08B3C8DE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31DD656-0D3B-4471-ADF2-6F6F30799338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Pipeline principal, testes antes da integração real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B453AF3-4064-4EBA-B183-2AF227A1F557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19240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2B533E3F-51A8-4E62-AD71-C5EB401A73C6}"/>
              </a:ext>
            </a:extLst>
          </p:cNvPr>
          <p:cNvSpPr>
            <a:spLocks noGrp="1"/>
          </p:cNvSpPr>
          <p:nvPr/>
        </p:nvSpPr>
        <p:spPr>
          <a:xfrm>
            <a:off x="533400" y="23812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517446F-B596-48A7-84C1-BC14682179D3}"/>
              </a:ext>
            </a:extLst>
          </p:cNvPr>
          <p:cNvSpPr>
            <a:spLocks noGrp="1"/>
          </p:cNvSpPr>
          <p:nvPr/>
        </p:nvSpPr>
        <p:spPr>
          <a:xfrm>
            <a:off x="762000" y="254317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Push / PR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9190983-BD16-4B96-8BFA-DBACA9898FB2}"/>
              </a:ext>
            </a:extLst>
          </p:cNvPr>
          <p:cNvSpPr>
            <a:spLocks noGrp="1"/>
          </p:cNvSpPr>
          <p:nvPr/>
        </p:nvSpPr>
        <p:spPr>
          <a:xfrm>
            <a:off x="762000" y="2867025"/>
            <a:ext cx="1504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Testes Jest e Supertest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310D95D0-9130-454B-8658-6B47E07FF992}"/>
              </a:ext>
            </a:extLst>
          </p:cNvPr>
          <p:cNvSpPr>
            <a:spLocks noGrp="1"/>
          </p:cNvSpPr>
          <p:nvPr/>
        </p:nvSpPr>
        <p:spPr>
          <a:xfrm>
            <a:off x="2447925" y="2705100"/>
            <a:ext cx="323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42C8AAE9-9726-4313-A673-087F1814A179}"/>
              </a:ext>
            </a:extLst>
          </p:cNvPr>
          <p:cNvSpPr>
            <a:spLocks noGrp="1"/>
          </p:cNvSpPr>
          <p:nvPr/>
        </p:nvSpPr>
        <p:spPr>
          <a:xfrm>
            <a:off x="2771775" y="2381250"/>
            <a:ext cx="19240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B6398FE-FC97-4472-ABBA-D7BEC9CC3218}"/>
              </a:ext>
            </a:extLst>
          </p:cNvPr>
          <p:cNvSpPr>
            <a:spLocks noGrp="1"/>
          </p:cNvSpPr>
          <p:nvPr/>
        </p:nvSpPr>
        <p:spPr>
          <a:xfrm>
            <a:off x="2771775" y="23812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5784CAD-D57B-4A0E-9220-738D63FFFFE4}"/>
              </a:ext>
            </a:extLst>
          </p:cNvPr>
          <p:cNvSpPr>
            <a:spLocks noGrp="1"/>
          </p:cNvSpPr>
          <p:nvPr/>
        </p:nvSpPr>
        <p:spPr>
          <a:xfrm>
            <a:off x="3000375" y="254317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Push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2E6790CA-4C91-45D7-B9EE-0DA4373CF128}"/>
              </a:ext>
            </a:extLst>
          </p:cNvPr>
          <p:cNvSpPr>
            <a:spLocks noGrp="1"/>
          </p:cNvSpPr>
          <p:nvPr/>
        </p:nvSpPr>
        <p:spPr>
          <a:xfrm>
            <a:off x="3000375" y="2867025"/>
            <a:ext cx="1504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Build Docker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67410B9-EFFD-44D7-A4B1-98C6CE782364}"/>
              </a:ext>
            </a:extLst>
          </p:cNvPr>
          <p:cNvSpPr>
            <a:spLocks noGrp="1"/>
          </p:cNvSpPr>
          <p:nvPr/>
        </p:nvSpPr>
        <p:spPr>
          <a:xfrm>
            <a:off x="4686300" y="2705100"/>
            <a:ext cx="323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E439C92-0FCF-4D93-B57B-9D19D1302342}"/>
              </a:ext>
            </a:extLst>
          </p:cNvPr>
          <p:cNvSpPr>
            <a:spLocks noGrp="1"/>
          </p:cNvSpPr>
          <p:nvPr/>
        </p:nvSpPr>
        <p:spPr>
          <a:xfrm>
            <a:off x="5010150" y="2381250"/>
            <a:ext cx="19240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A84A51B4-330A-4A8C-9188-5BAA663AF3B0}"/>
              </a:ext>
            </a:extLst>
          </p:cNvPr>
          <p:cNvSpPr>
            <a:spLocks noGrp="1"/>
          </p:cNvSpPr>
          <p:nvPr/>
        </p:nvSpPr>
        <p:spPr>
          <a:xfrm>
            <a:off x="5010150" y="23812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7A60372-EB57-4849-AE01-C7F003FA13B4}"/>
              </a:ext>
            </a:extLst>
          </p:cNvPr>
          <p:cNvSpPr>
            <a:spLocks noGrp="1"/>
          </p:cNvSpPr>
          <p:nvPr/>
        </p:nvSpPr>
        <p:spPr>
          <a:xfrm>
            <a:off x="5238750" y="254317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Integração</a:t>
            </a:r>
          </a:p>
        </p:txBody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F7EF902B-F213-41FD-A85B-FF8E7284F878}"/>
              </a:ext>
            </a:extLst>
          </p:cNvPr>
          <p:cNvSpPr>
            <a:spLocks noGrp="1"/>
          </p:cNvSpPr>
          <p:nvPr/>
        </p:nvSpPr>
        <p:spPr>
          <a:xfrm>
            <a:off x="5238750" y="2867025"/>
            <a:ext cx="1504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7070"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PostgreSQL, RabbitMQ, API e Worker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71B24E93-DE90-4978-8754-54EE4A7571FA}"/>
              </a:ext>
            </a:extLst>
          </p:cNvPr>
          <p:cNvSpPr>
            <a:spLocks noGrp="1"/>
          </p:cNvSpPr>
          <p:nvPr/>
        </p:nvSpPr>
        <p:spPr>
          <a:xfrm>
            <a:off x="6924675" y="2705100"/>
            <a:ext cx="323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8D5941B-B177-4739-A2D7-8A96CEE2234A}"/>
              </a:ext>
            </a:extLst>
          </p:cNvPr>
          <p:cNvSpPr>
            <a:spLocks noGrp="1"/>
          </p:cNvSpPr>
          <p:nvPr/>
        </p:nvSpPr>
        <p:spPr>
          <a:xfrm>
            <a:off x="7248525" y="2381250"/>
            <a:ext cx="19240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2ACB337-97C7-43A8-8DF3-2124424C65FF}"/>
              </a:ext>
            </a:extLst>
          </p:cNvPr>
          <p:cNvSpPr>
            <a:spLocks noGrp="1"/>
          </p:cNvSpPr>
          <p:nvPr/>
        </p:nvSpPr>
        <p:spPr>
          <a:xfrm>
            <a:off x="7248525" y="23812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155DC2C-418C-4F12-9345-81228DB005FE}"/>
              </a:ext>
            </a:extLst>
          </p:cNvPr>
          <p:cNvSpPr>
            <a:spLocks noGrp="1"/>
          </p:cNvSpPr>
          <p:nvPr/>
        </p:nvSpPr>
        <p:spPr>
          <a:xfrm>
            <a:off x="7477125" y="254317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k6</a:t>
            </a:r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CF73FB78-F259-45CB-924A-14C26F46277D}"/>
              </a:ext>
            </a:extLst>
          </p:cNvPr>
          <p:cNvSpPr>
            <a:spLocks noGrp="1"/>
          </p:cNvSpPr>
          <p:nvPr/>
        </p:nvSpPr>
        <p:spPr>
          <a:xfrm>
            <a:off x="7477125" y="2867025"/>
            <a:ext cx="1504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Informativo</a:t>
            </a: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18BE3D41-FD74-4755-B499-FD21B9B5770B}"/>
              </a:ext>
            </a:extLst>
          </p:cNvPr>
          <p:cNvSpPr>
            <a:spLocks noGrp="1"/>
          </p:cNvSpPr>
          <p:nvPr/>
        </p:nvSpPr>
        <p:spPr>
          <a:xfrm>
            <a:off x="9163050" y="2705100"/>
            <a:ext cx="32385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33C2470F-3385-4DA0-81E3-2D5C55CD78A2}"/>
              </a:ext>
            </a:extLst>
          </p:cNvPr>
          <p:cNvSpPr>
            <a:spLocks noGrp="1"/>
          </p:cNvSpPr>
          <p:nvPr/>
        </p:nvSpPr>
        <p:spPr>
          <a:xfrm>
            <a:off x="9486900" y="2381250"/>
            <a:ext cx="192405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2D4D658E-A532-4E96-B2A2-CE608E2CD8ED}"/>
              </a:ext>
            </a:extLst>
          </p:cNvPr>
          <p:cNvSpPr>
            <a:spLocks noGrp="1"/>
          </p:cNvSpPr>
          <p:nvPr/>
        </p:nvSpPr>
        <p:spPr>
          <a:xfrm>
            <a:off x="9486900" y="2381250"/>
            <a:ext cx="76200" cy="1104900"/>
          </a:xfrm>
          <a:prstGeom prst="roundRect">
            <a:avLst>
              <a:gd name="adj" fmla="val 50000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A661AA55-5A1C-48CF-8F07-0CC1E2BE114D}"/>
              </a:ext>
            </a:extLst>
          </p:cNvPr>
          <p:cNvSpPr>
            <a:spLocks noGrp="1"/>
          </p:cNvSpPr>
          <p:nvPr/>
        </p:nvSpPr>
        <p:spPr>
          <a:xfrm>
            <a:off x="9715500" y="254317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l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542D2860-D1E8-4A96-9DCF-84D59780CFA8}"/>
              </a:ext>
            </a:extLst>
          </p:cNvPr>
          <p:cNvSpPr>
            <a:spLocks noGrp="1"/>
          </p:cNvSpPr>
          <p:nvPr/>
        </p:nvSpPr>
        <p:spPr>
          <a:xfrm>
            <a:off x="9715500" y="2867025"/>
            <a:ext cx="150495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43B53"/>
                </a:solidFill>
                <a:latin typeface="Aptos"/>
                <a:ea typeface="Aptos"/>
                <a:cs typeface="Aptos"/>
              </a:rPr>
              <a:t>Placeholder</a:t>
            </a: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0DD4666-F349-4CF1-95AB-DE92F7641EA4}"/>
              </a:ext>
            </a:extLst>
          </p:cNvPr>
          <p:cNvSpPr>
            <a:spLocks noGrp="1"/>
          </p:cNvSpPr>
          <p:nvPr/>
        </p:nvSpPr>
        <p:spPr>
          <a:xfrm>
            <a:off x="3333750" y="4610100"/>
            <a:ext cx="552450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5652"/>
          </a:bodyPr>
          <a:lstStyle/>
          <a:p>
            <a:pPr algn="ctr">
              <a:defRPr sz="172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CI implementada. CD ainda incompleta.</a:t>
            </a:r>
          </a:p>
        </p:txBody>
      </p:sp>
    </p:spTree>
    <p:extLst>
      <p:ext uri="{BB962C8B-B14F-4D97-AF65-F5344CB8AC3E}">
        <p14:creationId xmlns:p14="http://schemas.microsoft.com/office/powerpoint/2010/main" val="21852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EA944856-71F4-4886-94AC-E521523CB6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B391931B-C0D3-4609-8993-8FAE4EE53785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BOILERPLATE E PIPELINE CI/CD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296E7E21-9E7F-4F09-9BF3-52D097897C37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E355CE0-D0D7-4AC7-AC92-4AEEAEE1BF2F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DC54232-E2FD-4816-B1AF-A9DE3E72FDC5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Conformidade arquitetural com evidências rastreáveis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83DFFE5-A465-4252-B10F-3CBDFC8D59D4}"/>
              </a:ext>
            </a:extLst>
          </p:cNvPr>
          <p:cNvSpPr>
            <a:spLocks noGrp="1"/>
          </p:cNvSpPr>
          <p:nvPr/>
        </p:nvSpPr>
        <p:spPr>
          <a:xfrm>
            <a:off x="742950" y="1657350"/>
            <a:ext cx="5619750" cy="3810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Workflow específico para push, pull request e execução manual.</a:t>
            </a:r>
          </a:p>
          <a:p>
            <a:pPr marL="254000" indent="-127000">
              <a:spcAft>
                <a:spcPts val="900"/>
              </a:spcAft>
              <a:buChar char="•"/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Suítes Jest associadas aos ADRs 0001, 0002 e 0003.</a:t>
            </a:r>
          </a:p>
          <a:p>
            <a:pPr marL="254000" indent="-127000">
              <a:spcAft>
                <a:spcPts val="900"/>
              </a:spcAft>
              <a:buChar char="•"/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Resultados publicados em JSON e no Job Summary.</a:t>
            </a:r>
          </a:p>
          <a:p>
            <a:pPr marL="254000" indent="-127000">
              <a:spcAft>
                <a:spcPts val="900"/>
              </a:spcAft>
              <a:buChar char="•"/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Artefato disponível por 30 dias.</a:t>
            </a:r>
          </a:p>
          <a:p>
            <a:pPr marL="254000" indent="-127000">
              <a:spcAft>
                <a:spcPts val="900"/>
              </a:spcAft>
              <a:buChar char="•"/>
              <a:defRPr sz="1650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43B53"/>
                </a:solidFill>
                <a:latin typeface="Aptos"/>
                <a:ea typeface="Aptos"/>
                <a:cs typeface="Aptos"/>
              </a:rPr>
              <a:t>Desvios geram avisos, sem bloquear o merge.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A52BBC-3420-4097-94A6-4A8B75648A38}"/>
              </a:ext>
            </a:extLst>
          </p:cNvPr>
          <p:cNvSpPr>
            <a:spLocks noGrp="1"/>
          </p:cNvSpPr>
          <p:nvPr/>
        </p:nvSpPr>
        <p:spPr>
          <a:xfrm>
            <a:off x="7086600" y="1809750"/>
            <a:ext cx="3714750" cy="2667000"/>
          </a:xfrm>
          <a:prstGeom prst="roundRect">
            <a:avLst>
              <a:gd name="adj" fmla="val 2857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520DEB7-4940-4BA7-A166-BBDD435A2E1B}"/>
              </a:ext>
            </a:extLst>
          </p:cNvPr>
          <p:cNvSpPr>
            <a:spLocks noGrp="1"/>
          </p:cNvSpPr>
          <p:nvPr/>
        </p:nvSpPr>
        <p:spPr>
          <a:xfrm>
            <a:off x="7372350" y="2095500"/>
            <a:ext cx="3143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1667"/>
          </a:bodyPr>
          <a:lstStyle/>
          <a:p>
            <a:pPr algn="ctr">
              <a:defRPr sz="18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ADRs 0001–0003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43CFC40-A1C3-492E-9A99-B5DF7CE3D270}"/>
              </a:ext>
            </a:extLst>
          </p:cNvPr>
          <p:cNvSpPr>
            <a:spLocks noGrp="1"/>
          </p:cNvSpPr>
          <p:nvPr/>
        </p:nvSpPr>
        <p:spPr>
          <a:xfrm>
            <a:off x="8686800" y="2486025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2E7F63D-2C82-430F-A228-5780A4BE65FF}"/>
              </a:ext>
            </a:extLst>
          </p:cNvPr>
          <p:cNvSpPr>
            <a:spLocks noGrp="1"/>
          </p:cNvSpPr>
          <p:nvPr/>
        </p:nvSpPr>
        <p:spPr>
          <a:xfrm>
            <a:off x="7372350" y="3000375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ctr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Suítes Jest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FF27420-2DBE-45C1-AABB-AB4FEB643356}"/>
              </a:ext>
            </a:extLst>
          </p:cNvPr>
          <p:cNvSpPr>
            <a:spLocks noGrp="1"/>
          </p:cNvSpPr>
          <p:nvPr/>
        </p:nvSpPr>
        <p:spPr>
          <a:xfrm>
            <a:off x="8686800" y="3371850"/>
            <a:ext cx="4572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C2217CCE-08A4-412B-9712-C66E83B662DB}"/>
              </a:ext>
            </a:extLst>
          </p:cNvPr>
          <p:cNvSpPr>
            <a:spLocks noGrp="1"/>
          </p:cNvSpPr>
          <p:nvPr/>
        </p:nvSpPr>
        <p:spPr>
          <a:xfrm>
            <a:off x="7372350" y="3886200"/>
            <a:ext cx="3143250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246"/>
          </a:bodyPr>
          <a:lstStyle/>
          <a:p>
            <a:pPr algn="ctr">
              <a:defRPr sz="14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JSON + Job Summary</a:t>
            </a:r>
          </a:p>
        </p:txBody>
      </p:sp>
    </p:spTree>
    <p:extLst>
      <p:ext uri="{BB962C8B-B14F-4D97-AF65-F5344CB8AC3E}">
        <p14:creationId xmlns:p14="http://schemas.microsoft.com/office/powerpoint/2010/main" val="1749912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21">
            <a:extLst>
              <a:ext uri="{FF2B5EF4-FFF2-40B4-BE49-F238E27FC236}">
                <a16:creationId xmlns:a16="http://schemas.microsoft.com/office/drawing/2014/main" id="{20DEADA4-DC43-4D82-8D3C-E86ABE2CEE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32C106D-6E34-411F-A185-85BD3607759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BOILERPLATE E PIPELINE CI/CD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C55883B-B977-4149-A55D-2C27DA685960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FFFF3B6-1678-4634-A9BF-E1318ED4E4D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1FC297B-DE6C-4E2B-9394-303705DFB38C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Demonstração, da decisão ao resultado do teste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F437551-978C-4D91-94B8-91D8B77E2FA6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2228850" cy="1352550"/>
          </a:xfrm>
          <a:prstGeom prst="roundRect">
            <a:avLst>
              <a:gd name="adj" fmla="val 5634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0D4920E-9E21-4AD8-A93B-41F165333C60}"/>
              </a:ext>
            </a:extLst>
          </p:cNvPr>
          <p:cNvSpPr>
            <a:spLocks noGrp="1"/>
          </p:cNvSpPr>
          <p:nvPr/>
        </p:nvSpPr>
        <p:spPr>
          <a:xfrm>
            <a:off x="1095375" y="26289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 algn="l">
              <a:defRPr sz="202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EF9B90A-331A-48C1-95AA-F8E0DC968B58}"/>
              </a:ext>
            </a:extLst>
          </p:cNvPr>
          <p:cNvSpPr>
            <a:spLocks noGrp="1"/>
          </p:cNvSpPr>
          <p:nvPr/>
        </p:nvSpPr>
        <p:spPr>
          <a:xfrm>
            <a:off x="1104900" y="3114675"/>
            <a:ext cx="1733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Índice dos ADRs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2988E94-B47E-4E92-9CB8-9044FAA14E8A}"/>
              </a:ext>
            </a:extLst>
          </p:cNvPr>
          <p:cNvSpPr>
            <a:spLocks noGrp="1"/>
          </p:cNvSpPr>
          <p:nvPr/>
        </p:nvSpPr>
        <p:spPr>
          <a:xfrm>
            <a:off x="3067050" y="2762250"/>
            <a:ext cx="4191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A18A756-C0A3-4220-B91C-095FBD522DD0}"/>
              </a:ext>
            </a:extLst>
          </p:cNvPr>
          <p:cNvSpPr>
            <a:spLocks noGrp="1"/>
          </p:cNvSpPr>
          <p:nvPr/>
        </p:nvSpPr>
        <p:spPr>
          <a:xfrm>
            <a:off x="3486150" y="2428875"/>
            <a:ext cx="2228850" cy="1352550"/>
          </a:xfrm>
          <a:prstGeom prst="roundRect">
            <a:avLst>
              <a:gd name="adj" fmla="val 5634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05661A-048D-4C49-9D85-0334B55BDFB8}"/>
              </a:ext>
            </a:extLst>
          </p:cNvPr>
          <p:cNvSpPr>
            <a:spLocks noGrp="1"/>
          </p:cNvSpPr>
          <p:nvPr/>
        </p:nvSpPr>
        <p:spPr>
          <a:xfrm>
            <a:off x="3724275" y="26289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 algn="l">
              <a:defRPr sz="202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18CD3D10-E380-420C-9B3B-85D1B8639BC6}"/>
              </a:ext>
            </a:extLst>
          </p:cNvPr>
          <p:cNvSpPr>
            <a:spLocks noGrp="1"/>
          </p:cNvSpPr>
          <p:nvPr/>
        </p:nvSpPr>
        <p:spPr>
          <a:xfrm>
            <a:off x="3733800" y="3114675"/>
            <a:ext cx="1733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897"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Suítes correspondentes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BDAEA24-C5ED-4597-B4C4-8018878DEBB0}"/>
              </a:ext>
            </a:extLst>
          </p:cNvPr>
          <p:cNvSpPr>
            <a:spLocks noGrp="1"/>
          </p:cNvSpPr>
          <p:nvPr/>
        </p:nvSpPr>
        <p:spPr>
          <a:xfrm>
            <a:off x="5695950" y="2762250"/>
            <a:ext cx="4191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D9E51EA-9E4F-405E-B026-848226DC5340}"/>
              </a:ext>
            </a:extLst>
          </p:cNvPr>
          <p:cNvSpPr>
            <a:spLocks noGrp="1"/>
          </p:cNvSpPr>
          <p:nvPr/>
        </p:nvSpPr>
        <p:spPr>
          <a:xfrm>
            <a:off x="6115050" y="2428875"/>
            <a:ext cx="2228850" cy="1352550"/>
          </a:xfrm>
          <a:prstGeom prst="roundRect">
            <a:avLst>
              <a:gd name="adj" fmla="val 5634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E9A4BD82-F173-4BFD-A500-8ED8AFB213D0}"/>
              </a:ext>
            </a:extLst>
          </p:cNvPr>
          <p:cNvSpPr>
            <a:spLocks noGrp="1"/>
          </p:cNvSpPr>
          <p:nvPr/>
        </p:nvSpPr>
        <p:spPr>
          <a:xfrm>
            <a:off x="6353175" y="26289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 algn="l">
              <a:defRPr sz="202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60A3C89C-2D86-4DEF-B213-EAE2E891D48E}"/>
              </a:ext>
            </a:extLst>
          </p:cNvPr>
          <p:cNvSpPr>
            <a:spLocks noGrp="1"/>
          </p:cNvSpPr>
          <p:nvPr/>
        </p:nvSpPr>
        <p:spPr>
          <a:xfrm>
            <a:off x="6362700" y="3114675"/>
            <a:ext cx="1733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8969"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Job Summary e relatório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C274AEA7-C5A3-4614-A48B-8DC19860D30E}"/>
              </a:ext>
            </a:extLst>
          </p:cNvPr>
          <p:cNvSpPr>
            <a:spLocks noGrp="1"/>
          </p:cNvSpPr>
          <p:nvPr/>
        </p:nvSpPr>
        <p:spPr>
          <a:xfrm>
            <a:off x="8324850" y="2762250"/>
            <a:ext cx="419100" cy="4953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03"/>
          </a:bodyPr>
          <a:lstStyle/>
          <a:p>
            <a:pPr algn="ctr">
              <a:defRPr sz="3300" b="0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3300" b="0">
                <a:solidFill>
                  <a:srgbClr val="007C83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CFC1D2DB-D84F-4925-979B-755813D03961}"/>
              </a:ext>
            </a:extLst>
          </p:cNvPr>
          <p:cNvSpPr>
            <a:spLocks noGrp="1"/>
          </p:cNvSpPr>
          <p:nvPr/>
        </p:nvSpPr>
        <p:spPr>
          <a:xfrm>
            <a:off x="8743950" y="2428875"/>
            <a:ext cx="2228850" cy="1352550"/>
          </a:xfrm>
          <a:prstGeom prst="roundRect">
            <a:avLst>
              <a:gd name="adj" fmla="val 5634"/>
            </a:avLst>
          </a:prstGeom>
          <a:solidFill>
            <a:srgbClr val="F7FAFC"/>
          </a:solidFill>
          <a:ln w="9525">
            <a:solidFill>
              <a:srgbClr val="D9E2EC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E3A382B-59FF-4B5C-AF48-D7E97A79890D}"/>
              </a:ext>
            </a:extLst>
          </p:cNvPr>
          <p:cNvSpPr>
            <a:spLocks noGrp="1"/>
          </p:cNvSpPr>
          <p:nvPr/>
        </p:nvSpPr>
        <p:spPr>
          <a:xfrm>
            <a:off x="8982075" y="2628900"/>
            <a:ext cx="333375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7654"/>
          </a:bodyPr>
          <a:lstStyle/>
          <a:p>
            <a:pPr algn="l">
              <a:defRPr sz="2025" b="1">
                <a:solidFill>
                  <a:srgbClr val="D863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8634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428B62A-7201-4A8A-B82C-A9A1299C6F08}"/>
              </a:ext>
            </a:extLst>
          </p:cNvPr>
          <p:cNvSpPr>
            <a:spLocks noGrp="1"/>
          </p:cNvSpPr>
          <p:nvPr/>
        </p:nvSpPr>
        <p:spPr>
          <a:xfrm>
            <a:off x="8991600" y="3114675"/>
            <a:ext cx="1733550" cy="4191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925"/>
          </a:bodyPr>
          <a:lstStyle/>
          <a:p>
            <a:pPr algn="ctr"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Logs de integração e k6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589E68F1-F797-4524-96B4-E595FD72C796}"/>
              </a:ext>
            </a:extLst>
          </p:cNvPr>
          <p:cNvSpPr>
            <a:spLocks noGrp="1"/>
          </p:cNvSpPr>
          <p:nvPr/>
        </p:nvSpPr>
        <p:spPr>
          <a:xfrm>
            <a:off x="1485900" y="4638675"/>
            <a:ext cx="92202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Distinguir tempo de resposta da API e tempo de conclusão da transferência</a:t>
            </a:r>
          </a:p>
        </p:txBody>
      </p:sp>
    </p:spTree>
    <p:extLst>
      <p:ext uri="{BB962C8B-B14F-4D97-AF65-F5344CB8AC3E}">
        <p14:creationId xmlns:p14="http://schemas.microsoft.com/office/powerpoint/2010/main" val="12032819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02C18944-AA49-490B-A1AD-2AAA36F9692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6E326E-C0AC-4D39-8A2C-81776ED36904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BB1F451-5F3E-4664-923C-F4606E6854B8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B5BE05D-4D8C-4E99-9738-BE935EB6FCDA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E1A4F03-D78B-4552-966E-3FBEADDE365F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1, base reproduzível e contratos protegidos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AC99038-E0C9-461A-9BF4-A143DF412E0F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3B97342-1737-4C33-962A-BEF6A6D968BF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B69025F-E365-4E65-9DCE-53B5A41368D5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0C39AA3-FE47-462D-93CD-B5767B5023BC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37C2CA5-B1F5-4840-A951-8972A6731D62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02D269F-F9EA-4A70-8587-478F9D9C0FC1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E124EE7-D37F-4089-8BF8-785AD686C7D5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BB4E2F2-3782-4ED9-A3FD-3D251EDDA00B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FE1503-C8A6-44D1-838C-0132FAFEDF8B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C1E9257C-8CB1-45B9-A8A5-B93A4EADA70A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993C50FD-610C-4C64-86EC-5EDD650E7A96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9765042-D293-4F2E-A429-3986B2D09C8D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03233CFF-E425-4EAD-BFD0-EF1A566426C2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79D70DE-BDE7-4AB4-A319-9E58CCE203D5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12/09/2026 — 11/10/2026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B91079F8-E463-4238-BD25-466850AFE191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eliminar diferenças entre desenvolvimento, containers e CI.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Padronizar Node.js, lockfiles e instalação com npm ci.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Delimitar módulos e validar configurações de segurança.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baseline arquitetural, imagens padronizadas e checks críticos bloqueantes.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C9AEC08-4BE7-477C-A923-CDF979B3D0A6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EE962CBA-A354-4C08-8B9C-AAC1A681EE34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1F2C37BF-B62F-4E7D-B154-40DC97333968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2221"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baseline arquitetural, imagens padronizadas e checks críticos bloqueantes.</a:t>
            </a:r>
          </a:p>
        </p:txBody>
      </p:sp>
    </p:spTree>
    <p:extLst>
      <p:ext uri="{BB962C8B-B14F-4D97-AF65-F5344CB8AC3E}">
        <p14:creationId xmlns:p14="http://schemas.microsoft.com/office/powerpoint/2010/main" val="10247790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4828F1CE-CFE2-4345-9249-19C3AD2D95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D2310E34-1AE2-45BB-9DA3-2C7F4C4C9C47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A21B232-53E0-400F-9373-B4F23EA56D1C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6A067ED-152F-4FD2-8712-D88E47F0A4AC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A8DA494-1FD3-4F47-8E78-4A6540F81E83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2, consistência entre banco, fila e processamento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8B10EF8F-4AC3-4B29-BA9B-4C7C0A6AF363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E242FB9A-52D5-4124-81C3-258F4332151D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0AD43E8-31C4-499C-8295-170BEF5EB45D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0171592-7D40-45E8-A6F8-90502F8F540F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B28252E-FBC6-4325-AC67-431FFE5B7E4A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E57B7EE-2F07-46F7-B4DE-A78CD804D077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6D8F33AA-31BC-4167-ACFB-3F0E40E56672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563D981-AC33-4346-A345-E99F532F4BB4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21626B80-6B70-4FF5-87A2-AE1F57FBBF9B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01065EE3-762C-480C-AE45-1F9BDB851AFE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A752441-AF06-4E26-901F-B5F488C3F9B3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42E79DD-8896-4A1D-80D0-775A0D993661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82B1468E-C82F-4DE6-A2E3-68DC23E5E88B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14E43CC-9A57-46BD-9A6A-34F243FB38B8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12/10/2026 — 11/11/2026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F2496BD-EB5D-41D7-8C7F-2514F00E1F1E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evitar operações pendentes sem publicação e efeitos duplicados.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Adotar Transactional Outbox, relay e confirmações de publicação.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Fortalecer idempotência concorrente e precisão monetária.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Limitar retentativas e encaminhar falhas persistentes para DLQ.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migrações, Worker corrigido e testes de recuperação.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07036C5D-C8CF-42B9-96EC-4BBF55A2AF28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A6C016A9-1698-4B03-9EFB-595478B89324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FFDBB96-D005-440D-87C3-9FA0FC035FB2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migrações, Worker corrigido e testes de recuperação.</a:t>
            </a:r>
          </a:p>
        </p:txBody>
      </p:sp>
    </p:spTree>
    <p:extLst>
      <p:ext uri="{BB962C8B-B14F-4D97-AF65-F5344CB8AC3E}">
        <p14:creationId xmlns:p14="http://schemas.microsoft.com/office/powerpoint/2010/main" val="21316462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21C65983-2E87-4C19-B6F6-25A7B605C5E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C067314-6EC8-4C2E-98B3-C57BB6586B1F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F200F1B-1895-4A74-8E84-1E9F8800B8F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E39CE33-5AE0-4E71-88BE-F75BF68A1616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710BE0DA-D117-4319-999F-3887CF371410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3, desempenho e confiabilidade mensuráveis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D1B65B4-1770-4DCA-B4D2-3B108064BD8A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5EE8ECA-6112-41ED-830D-E21A3AE7D2D8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2870045-922D-4AC5-B52C-5AC852C95BDA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28C5001-6343-44C7-9C28-1D5CBF8AA2D3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0FBF559C-7A47-4CE9-B06E-91232E66CEC8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7F095CC-390C-4879-BBBC-B66FB2863797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A8C1B09-D96B-49C4-BA24-AF39DF13F1F0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7C2723C-387E-4AF9-ACC5-33DB1697B11F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E8F0406A-E079-425B-9576-8B68E68610AC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740E695B-F9C9-4F56-AF14-09C32CAD67CC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A14964E-34EB-4BBF-91A4-31920A7768D9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0562B02E-FED3-4C10-B4DE-AE252993CC41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1FD8E05A-8889-471F-9D0D-0010366632B8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19573680-BBE8-4400-960F-FF3A64A81868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12/11/2026 — 11/12/2026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395EA48E-217D-4702-9901-BE0D11A914AA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medir a jornada completa e corrigir gargalos comprovados.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Correlacionar logs, traces e métricas entre API, fila e Worker.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Evoluir o extrato para cursor e índices compostos.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Definir orçamento de conexões e testar backup com restauração.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SLOs, dashboards, benchmarks e evidências de recuperação.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5787E07-7285-4E8D-977B-9A2C5D417758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7D93ED14-8492-4509-BF63-82D16D4261B8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83D39C91-8CB7-4313-A48D-4B59A0652442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SLOs, dashboards, benchmarks e evidências de recuperação.</a:t>
            </a:r>
          </a:p>
        </p:txBody>
      </p:sp>
    </p:spTree>
    <p:extLst>
      <p:ext uri="{BB962C8B-B14F-4D97-AF65-F5344CB8AC3E}">
        <p14:creationId xmlns:p14="http://schemas.microsoft.com/office/powerpoint/2010/main" val="308650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E6A679D8-A0B1-4F8F-BAAF-D40EB3AA44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21708EFD-DD86-4FF6-B2B0-1608738EEAA8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66ABF77-BF88-4BD0-BA92-CA4E86043177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6ADB6D2-D7DB-4E23-AE07-B609C22561F7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76800B-024F-4E13-8AE4-4B30541705E1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4, múltiplas réplicas e entrega contínua real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C6E95BB5-E26E-44F4-85F9-418165CC6875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F82F8F7-7B79-4D35-827E-A840E1238A00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8E786F3-B238-4CC1-BA3C-FD3CF0D2A88A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EE78EF3-ABFD-4035-8288-7F76A09A8058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9F0E902F-92B7-4497-8C58-502B299A1024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FCD9D73F-80C6-41E4-9832-22B87BDA45C8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2D97952-7F26-47EB-B40E-46EB82373831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5A590F33-11FE-49F9-989D-E1ACC3C791F3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56B2E902-D05C-4563-BD4F-F887ABB8F011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17882E3A-DBFC-465C-B548-7E9FD58066E5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EAE74012-32A6-40C2-AA0F-3B7CA8449D1E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3BA5EA9-4A63-429A-A5F5-DE19B6B2F1B0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34B20D2D-7F56-4394-9E4E-838B80372037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9276FF3A-B61A-4075-845F-6781E756C6F3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12/12/2026 — 11/01/2027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D31C8236-7080-4F03-BBCE-805192C5149C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remover a dependência de um único processo e host.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Separar deployments de API, Worker e componentes de publicação.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Configurar réplicas, probes e desligamento gracioso.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Distribuir notificações Socket.IO entre instâncias.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homologação multi-host, registry, deploy e rollback automatizados.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3D33F6A7-DF38-4ACC-97A0-50D4CA6B8913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50CFF4D2-96E4-49AD-9404-C32BCA7A3353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A3FF0585-F890-4042-AE97-B8087ACF1295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homologação multi-host, registry, deploy e rollback automatizados.</a:t>
            </a:r>
          </a:p>
        </p:txBody>
      </p:sp>
    </p:spTree>
    <p:extLst>
      <p:ext uri="{BB962C8B-B14F-4D97-AF65-F5344CB8AC3E}">
        <p14:creationId xmlns:p14="http://schemas.microsoft.com/office/powerpoint/2010/main" val="704331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F0FAAABA-7A49-4437-B0EE-67BF70AA646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68454A44-01EE-4A68-83AF-EF18EF7F30B3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ED56288-4E7B-4F98-B21A-F4322639363E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17B0895-6575-4188-A898-F71D7DFD1E53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084E398-CF9F-4809-87D2-EF9A9E79191A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5, redundância dos componentes com estado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C8A77D4-CF62-40B0-8E0C-FA5AE3A79E48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574A4CA-EFC5-4870-B9E7-79DE393EEBE9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AA6BAB10-F484-4616-B26C-8BB79BFECCDC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5C0CAA3-7AC4-4792-A622-E2927C1156AA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88C30258-6C45-446C-912C-463C506CB669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30E55CB-1C13-4952-A15B-B5F63B2BEF2A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FDE59DB-CB0C-4586-A955-10B169E74A9E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63BA8CCA-6D59-46A9-82BA-2D90CBF11FBE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F20CE9C5-F0DA-49EC-BC94-2343F9EC5683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352BFC9-20E1-46ED-A49B-5CAFB61AC6A0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A79AEBB6-58D4-4C9A-80AF-9A0C3E7DE6B8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40D50B51-6F13-4D58-82E6-5F9166AFFF65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D4BBB78-07D3-4113-AF89-685A01B79963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E81310CC-3519-4448-AD0E-2767B0AABE1C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12/01/2027 — 11/02/2027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6D4BAC70-4D4E-441D-848B-E4452525CCA8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remover pontos únicos de falha de banco e mensageria.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Adotar PostgreSQL redundante com failover controlado.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Configurar RabbitMQ com três nós e quorum queues.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Tornar o transporte de sockets redundante e proteger segredos.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infraestrutura versionada e procedimentos de failover validados.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9BAA1CE2-C981-474D-847C-2143E75546FB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BA291D9-487F-4561-9C65-3D284ABD1A8E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C228E97E-5F68-4A9B-BDB3-4BE32CC52C8F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infraestrutura versionada e procedimentos de failover validados.</a:t>
            </a:r>
          </a:p>
        </p:txBody>
      </p:sp>
    </p:spTree>
    <p:extLst>
      <p:ext uri="{BB962C8B-B14F-4D97-AF65-F5344CB8AC3E}">
        <p14:creationId xmlns:p14="http://schemas.microsoft.com/office/powerpoint/2010/main" val="121428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 23">
            <a:extLst>
              <a:ext uri="{FF2B5EF4-FFF2-40B4-BE49-F238E27FC236}">
                <a16:creationId xmlns:a16="http://schemas.microsoft.com/office/drawing/2014/main" id="{E2B92A99-B6E1-496B-88FE-B786B101E5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3335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4EDBB76-0C25-42AB-AF62-5DF924BD774E}"/>
              </a:ext>
            </a:extLst>
          </p:cNvPr>
          <p:cNvSpPr>
            <a:spLocks noGrp="1"/>
          </p:cNvSpPr>
          <p:nvPr/>
        </p:nvSpPr>
        <p:spPr>
          <a:xfrm>
            <a:off x="685800" y="285750"/>
            <a:ext cx="666750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9487"/>
          </a:bodyPr>
          <a:lstStyle/>
          <a:p>
            <a:pPr algn="l">
              <a:defRPr sz="9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ROADMAP DOS PRÓXIMOS 6 MESES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3013131C-77DC-4380-80D9-F0CF4A1144A3}"/>
              </a:ext>
            </a:extLst>
          </p:cNvPr>
          <p:cNvSpPr>
            <a:spLocks noGrp="1"/>
          </p:cNvSpPr>
          <p:nvPr/>
        </p:nvSpPr>
        <p:spPr>
          <a:xfrm>
            <a:off x="11049000" y="6191250"/>
            <a:ext cx="4572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0DDC888-9FF6-4A0A-90BD-23E274B64BD2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9525"/>
          </a:xfrm>
          <a:prstGeom prst="rect">
            <a:avLst/>
          </a:prstGeom>
          <a:solidFill>
            <a:srgbClr val="D9E2EC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0B5BFC5-9007-4DCD-9E1F-5816936CE654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62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Mês 6, prontidão operacional comprovada por testes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F208B43-7E64-4F90-B258-B479930D3D5B}"/>
              </a:ext>
            </a:extLst>
          </p:cNvPr>
          <p:cNvSpPr>
            <a:spLocks noGrp="1"/>
          </p:cNvSpPr>
          <p:nvPr/>
        </p:nvSpPr>
        <p:spPr>
          <a:xfrm>
            <a:off x="8763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D5A0E45B-1AFA-45CF-BE50-9E80F36B0028}"/>
              </a:ext>
            </a:extLst>
          </p:cNvPr>
          <p:cNvSpPr>
            <a:spLocks noGrp="1"/>
          </p:cNvSpPr>
          <p:nvPr/>
        </p:nvSpPr>
        <p:spPr>
          <a:xfrm>
            <a:off x="8763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0BAB0758-43E5-46EC-B216-47A0397FC24D}"/>
              </a:ext>
            </a:extLst>
          </p:cNvPr>
          <p:cNvSpPr>
            <a:spLocks noGrp="1"/>
          </p:cNvSpPr>
          <p:nvPr/>
        </p:nvSpPr>
        <p:spPr>
          <a:xfrm>
            <a:off x="26765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D0C32FB-6B2F-44DF-B267-DB2DF7FA21E6}"/>
              </a:ext>
            </a:extLst>
          </p:cNvPr>
          <p:cNvSpPr>
            <a:spLocks noGrp="1"/>
          </p:cNvSpPr>
          <p:nvPr/>
        </p:nvSpPr>
        <p:spPr>
          <a:xfrm>
            <a:off x="26765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CE365BB4-8B93-49DF-9C27-D6E37DA55444}"/>
              </a:ext>
            </a:extLst>
          </p:cNvPr>
          <p:cNvSpPr>
            <a:spLocks noGrp="1"/>
          </p:cNvSpPr>
          <p:nvPr/>
        </p:nvSpPr>
        <p:spPr>
          <a:xfrm>
            <a:off x="447675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4934AFA-A809-4A48-8770-EECF47CE982A}"/>
              </a:ext>
            </a:extLst>
          </p:cNvPr>
          <p:cNvSpPr>
            <a:spLocks noGrp="1"/>
          </p:cNvSpPr>
          <p:nvPr/>
        </p:nvSpPr>
        <p:spPr>
          <a:xfrm>
            <a:off x="447675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F6C449F6-59D4-4967-A3A0-A52BBEA46256}"/>
              </a:ext>
            </a:extLst>
          </p:cNvPr>
          <p:cNvSpPr>
            <a:spLocks noGrp="1"/>
          </p:cNvSpPr>
          <p:nvPr/>
        </p:nvSpPr>
        <p:spPr>
          <a:xfrm>
            <a:off x="627697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32121AC-A1E6-48B0-8A03-6D90EA334CD0}"/>
              </a:ext>
            </a:extLst>
          </p:cNvPr>
          <p:cNvSpPr>
            <a:spLocks noGrp="1"/>
          </p:cNvSpPr>
          <p:nvPr/>
        </p:nvSpPr>
        <p:spPr>
          <a:xfrm>
            <a:off x="627697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4573441D-A859-448F-9BA9-A19515EDE22A}"/>
              </a:ext>
            </a:extLst>
          </p:cNvPr>
          <p:cNvSpPr>
            <a:spLocks noGrp="1"/>
          </p:cNvSpPr>
          <p:nvPr/>
        </p:nvSpPr>
        <p:spPr>
          <a:xfrm>
            <a:off x="8077200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D9E2EC"/>
          </a:solidFill>
          <a:ln w="9525">
            <a:solidFill>
              <a:srgbClr val="D9E2EC"/>
            </a:solidFill>
          </a:ln>
        </p:spPr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2B332310-6367-47D1-8881-C01F567E5EE8}"/>
              </a:ext>
            </a:extLst>
          </p:cNvPr>
          <p:cNvSpPr>
            <a:spLocks noGrp="1"/>
          </p:cNvSpPr>
          <p:nvPr/>
        </p:nvSpPr>
        <p:spPr>
          <a:xfrm>
            <a:off x="8077200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8982226C-73A6-42FD-9BF3-1D6CE7633D73}"/>
              </a:ext>
            </a:extLst>
          </p:cNvPr>
          <p:cNvSpPr>
            <a:spLocks noGrp="1"/>
          </p:cNvSpPr>
          <p:nvPr/>
        </p:nvSpPr>
        <p:spPr>
          <a:xfrm>
            <a:off x="9877425" y="5524500"/>
            <a:ext cx="1733550" cy="114300"/>
          </a:xfrm>
          <a:prstGeom prst="roundRect">
            <a:avLst>
              <a:gd name="adj" fmla="val 50000"/>
            </a:avLst>
          </a:prstGeom>
          <a:solidFill>
            <a:srgbClr val="007C83"/>
          </a:solidFill>
          <a:ln w="9525">
            <a:solidFill>
              <a:srgbClr val="007C83"/>
            </a:solidFill>
          </a:ln>
        </p:spPr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593669B6-0DC0-4427-9451-4009FBE45392}"/>
              </a:ext>
            </a:extLst>
          </p:cNvPr>
          <p:cNvSpPr>
            <a:spLocks noGrp="1"/>
          </p:cNvSpPr>
          <p:nvPr/>
        </p:nvSpPr>
        <p:spPr>
          <a:xfrm>
            <a:off x="9877425" y="5734050"/>
            <a:ext cx="1733550" cy="209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6111"/>
          </a:bodyPr>
          <a:lstStyle/>
          <a:p>
            <a:pPr algn="ctr">
              <a:defRPr sz="90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8B735F1-61F9-4AEE-8B82-6589E3529802}"/>
              </a:ext>
            </a:extLst>
          </p:cNvPr>
          <p:cNvSpPr>
            <a:spLocks noGrp="1"/>
          </p:cNvSpPr>
          <p:nvPr/>
        </p:nvSpPr>
        <p:spPr>
          <a:xfrm>
            <a:off x="9163050" y="1447800"/>
            <a:ext cx="1962150" cy="361950"/>
          </a:xfrm>
          <a:prstGeom prst="roundRect">
            <a:avLst>
              <a:gd name="adj" fmla="val 21053"/>
            </a:avLst>
          </a:prstGeom>
          <a:solidFill>
            <a:srgbClr val="D8634A"/>
          </a:solidFill>
          <a:ln w="9525">
            <a:solidFill>
              <a:srgbClr val="D8634A"/>
            </a:solidFill>
          </a:ln>
        </p:spPr>
      </p:sp>
      <p:sp>
        <p:nvSpPr>
          <p:cNvPr id="19" name="Retângulo 18">
            <a:extLst>
              <a:ext uri="{FF2B5EF4-FFF2-40B4-BE49-F238E27FC236}">
                <a16:creationId xmlns:a16="http://schemas.microsoft.com/office/drawing/2014/main" id="{6540DDED-05EF-473B-B5FD-C741668DF3FA}"/>
              </a:ext>
            </a:extLst>
          </p:cNvPr>
          <p:cNvSpPr>
            <a:spLocks noGrp="1"/>
          </p:cNvSpPr>
          <p:nvPr/>
        </p:nvSpPr>
        <p:spPr>
          <a:xfrm>
            <a:off x="9277350" y="1485900"/>
            <a:ext cx="173355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12/02/2027 — 11/03/2027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2605E36C-D112-462D-9889-872DE1567ACF}"/>
              </a:ext>
            </a:extLst>
          </p:cNvPr>
          <p:cNvSpPr>
            <a:spLocks noGrp="1"/>
          </p:cNvSpPr>
          <p:nvPr/>
        </p:nvSpPr>
        <p:spPr>
          <a:xfrm>
            <a:off x="914400" y="1809750"/>
            <a:ext cx="7715250" cy="3048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Objetivo: demonstrar recuperação, capacidade e estabilidade.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Executar testes controlados de falha, failover e recuperação de desastre.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Ajustar autoscaling aos limites do PostgreSQL e à idade da fila.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Avaliar SLOs e orçamento de erro em uma janela de 30 dias.</a:t>
            </a:r>
          </a:p>
          <a:p>
            <a:pPr marL="254000" indent="-127000">
              <a:spcAft>
                <a:spcPts val="900"/>
              </a:spcAft>
              <a:buChar char="•"/>
              <a:defRPr sz="1725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243B53"/>
                </a:solidFill>
                <a:latin typeface="Aptos"/>
                <a:ea typeface="Aptos"/>
                <a:cs typeface="Aptos"/>
              </a:rPr>
              <a:t>Entregar relatório operacional e decisão de prontidão.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F44CC3C8-ADBD-4AC2-875B-9D3D6064B358}"/>
              </a:ext>
            </a:extLst>
          </p:cNvPr>
          <p:cNvSpPr>
            <a:spLocks noGrp="1"/>
          </p:cNvSpPr>
          <p:nvPr/>
        </p:nvSpPr>
        <p:spPr>
          <a:xfrm>
            <a:off x="9163050" y="2114550"/>
            <a:ext cx="1952625" cy="2095500"/>
          </a:xfrm>
          <a:prstGeom prst="roundRect">
            <a:avLst>
              <a:gd name="adj" fmla="val 3902"/>
            </a:avLst>
          </a:prstGeom>
          <a:solidFill>
            <a:srgbClr val="E8F5F4"/>
          </a:solidFill>
          <a:ln w="9525">
            <a:solidFill>
              <a:srgbClr val="D9E2EC"/>
            </a:solidFill>
          </a:ln>
        </p:spPr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D0D0867B-A7EC-47F3-9516-39913FEF8ED1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15049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196"/>
          </a:bodyPr>
          <a:lstStyle/>
          <a:p>
            <a:pPr algn="ctr">
              <a:defRPr sz="1275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Entrega</a:t>
            </a: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EE7EA931-937B-411A-905E-DC43E8CF637A}"/>
              </a:ext>
            </a:extLst>
          </p:cNvPr>
          <p:cNvSpPr>
            <a:spLocks noGrp="1"/>
          </p:cNvSpPr>
          <p:nvPr/>
        </p:nvSpPr>
        <p:spPr>
          <a:xfrm>
            <a:off x="9391650" y="2809875"/>
            <a:ext cx="1504950" cy="1028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relatório operacional e decisão de prontidão.</a:t>
            </a:r>
          </a:p>
        </p:txBody>
      </p:sp>
    </p:spTree>
    <p:extLst>
      <p:ext uri="{BB962C8B-B14F-4D97-AF65-F5344CB8AC3E}">
        <p14:creationId xmlns:p14="http://schemas.microsoft.com/office/powerpoint/2010/main" val="844993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C97E7D1-6055-4ABB-BD7E-55DA52BF52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66700" cy="6858000"/>
          </a:xfrm>
          <a:prstGeom prst="rect">
            <a:avLst/>
          </a:prstGeom>
          <a:solidFill>
            <a:srgbClr val="007C83"/>
          </a:solidFill>
          <a:ln w="0">
            <a:noFill/>
          </a:ln>
        </p:spPr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37A4ACB-C0F8-4DE8-A309-5B518D299684}"/>
              </a:ext>
            </a:extLst>
          </p:cNvPr>
          <p:cNvSpPr>
            <a:spLocks noGrp="1"/>
          </p:cNvSpPr>
          <p:nvPr/>
        </p:nvSpPr>
        <p:spPr>
          <a:xfrm>
            <a:off x="857250" y="99060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185"/>
          </a:bodyPr>
          <a:lstStyle/>
          <a:p>
            <a:pPr algn="l">
              <a:defRPr sz="1350" b="1">
                <a:solidFill>
                  <a:srgbClr val="7FE3D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FE3DE"/>
                </a:solidFill>
                <a:latin typeface="Aptos"/>
                <a:ea typeface="Aptos"/>
                <a:cs typeface="Aptos"/>
              </a:rPr>
              <a:t>PULSEPAY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15CAB3B-DEFF-4A94-AB92-8D6C08B965F3}"/>
              </a:ext>
            </a:extLst>
          </p:cNvPr>
          <p:cNvSpPr>
            <a:spLocks noGrp="1"/>
          </p:cNvSpPr>
          <p:nvPr/>
        </p:nvSpPr>
        <p:spPr>
          <a:xfrm>
            <a:off x="857250" y="1485900"/>
            <a:ext cx="8191500" cy="1619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pt-BR" sz="37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OBRIGADO!!!</a:t>
            </a:r>
            <a:endParaRPr sz="3750" b="1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B568722-B9DA-41C4-8FDC-C45D186C689C}"/>
              </a:ext>
            </a:extLst>
          </p:cNvPr>
          <p:cNvSpPr>
            <a:spLocks noGrp="1"/>
          </p:cNvSpPr>
          <p:nvPr/>
        </p:nvSpPr>
        <p:spPr>
          <a:xfrm>
            <a:off x="857250" y="3390900"/>
            <a:ext cx="1238250" cy="57150"/>
          </a:xfrm>
          <a:prstGeom prst="rect">
            <a:avLst/>
          </a:prstGeom>
          <a:solidFill>
            <a:srgbClr val="D8634A"/>
          </a:solidFill>
          <a:ln w="0">
            <a:noFill/>
          </a:ln>
        </p:spPr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8BB3194-97C2-436F-A2DC-2C162BDAEAE8}"/>
              </a:ext>
            </a:extLst>
          </p:cNvPr>
          <p:cNvSpPr>
            <a:spLocks noGrp="1"/>
          </p:cNvSpPr>
          <p:nvPr/>
        </p:nvSpPr>
        <p:spPr>
          <a:xfrm>
            <a:off x="857250" y="3733800"/>
            <a:ext cx="5715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 u="sng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Projeto</a:t>
            </a:r>
            <a:r>
              <a:rPr sz="1650" b="0" u="sng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de Software com DevOps</a:t>
            </a:r>
          </a:p>
          <a:p>
            <a:pPr algn="l">
              <a:defRPr sz="1650" b="0">
                <a:solidFill>
                  <a:srgbClr val="D9E2EC"/>
                </a:solidFill>
                <a:latin typeface="Aptos"/>
                <a:ea typeface="Aptos"/>
                <a:cs typeface="Aptos"/>
              </a:defRPr>
            </a:pPr>
            <a:r>
              <a:rPr sz="1650" b="0" u="sng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Pós-graduação</a:t>
            </a:r>
            <a:r>
              <a:rPr sz="1650" b="0" u="sng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u="sng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em</a:t>
            </a:r>
            <a:r>
              <a:rPr sz="1650" b="0" u="sng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0" u="sng" dirty="0" err="1">
                <a:solidFill>
                  <a:srgbClr val="D9E2EC"/>
                </a:solidFill>
                <a:latin typeface="Aptos"/>
                <a:ea typeface="Aptos"/>
                <a:cs typeface="Aptos"/>
              </a:rPr>
              <a:t>Engenharia</a:t>
            </a:r>
            <a:r>
              <a:rPr sz="1650" b="0" u="sng" dirty="0">
                <a:solidFill>
                  <a:srgbClr val="D9E2EC"/>
                </a:solidFill>
                <a:latin typeface="Aptos"/>
                <a:ea typeface="Aptos"/>
                <a:cs typeface="Aptos"/>
              </a:rPr>
              <a:t> de Software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C62A651-B487-4072-B69C-995273C027E5}"/>
              </a:ext>
            </a:extLst>
          </p:cNvPr>
          <p:cNvSpPr>
            <a:spLocks noGrp="1"/>
          </p:cNvSpPr>
          <p:nvPr/>
        </p:nvSpPr>
        <p:spPr>
          <a:xfrm>
            <a:off x="857250" y="5505450"/>
            <a:ext cx="704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4167" lnSpcReduction="1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Victor Sabino  ·  Kayan Kayser  ·  Mário Gonçalves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E6F6D9C-25C7-447C-AFD3-33B8D3C7752A}"/>
              </a:ext>
            </a:extLst>
          </p:cNvPr>
          <p:cNvSpPr>
            <a:spLocks noGrp="1"/>
          </p:cNvSpPr>
          <p:nvPr/>
        </p:nvSpPr>
        <p:spPr>
          <a:xfrm>
            <a:off x="857250" y="5905500"/>
            <a:ext cx="1905000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61905" lnSpcReduction="10000"/>
          </a:bodyPr>
          <a:lstStyle/>
          <a:p>
            <a:pPr algn="l">
              <a:defRPr sz="1050" b="0">
                <a:solidFill>
                  <a:srgbClr val="9FB3C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9FB3C8"/>
                </a:solidFill>
                <a:latin typeface="Aptos"/>
                <a:ea typeface="Aptos"/>
                <a:cs typeface="Aptos"/>
              </a:rPr>
              <a:t>12/09/2026</a:t>
            </a:r>
          </a:p>
        </p:txBody>
      </p:sp>
    </p:spTree>
    <p:extLst>
      <p:ext uri="{BB962C8B-B14F-4D97-AF65-F5344CB8AC3E}">
        <p14:creationId xmlns:p14="http://schemas.microsoft.com/office/powerpoint/2010/main" val="39143680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3351</Words>
  <Application>Microsoft Office PowerPoint</Application>
  <DocSecurity>0</DocSecurity>
  <PresentationFormat>Widescreen</PresentationFormat>
  <Paragraphs>301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4" baseType="lpstr">
      <vt:lpstr>Aptos</vt:lpstr>
      <vt:lpstr>Calibri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Mario Monteiro</cp:lastModifiedBy>
  <cp:revision>1</cp:revision>
  <dcterms:created xsi:type="dcterms:W3CDTF">2026-09-12T13:05:44Z</dcterms:created>
  <dcterms:modified xsi:type="dcterms:W3CDTF">2026-09-12T13:19:59Z</dcterms:modified>
</cp:coreProperties>
</file>